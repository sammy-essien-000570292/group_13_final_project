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1"/>
  </p:sldMasterIdLst>
  <p:notesMasterIdLst>
    <p:notesMasterId r:id="rId18"/>
  </p:notesMasterIdLst>
  <p:sldIdLst>
    <p:sldId id="256" r:id="rId2"/>
    <p:sldId id="268" r:id="rId3"/>
    <p:sldId id="258" r:id="rId4"/>
    <p:sldId id="259" r:id="rId5"/>
    <p:sldId id="260" r:id="rId6"/>
    <p:sldId id="261" r:id="rId7"/>
    <p:sldId id="262" r:id="rId8"/>
    <p:sldId id="263" r:id="rId9"/>
    <p:sldId id="264" r:id="rId10"/>
    <p:sldId id="265" r:id="rId11"/>
    <p:sldId id="271" r:id="rId12"/>
    <p:sldId id="274" r:id="rId13"/>
    <p:sldId id="276" r:id="rId14"/>
    <p:sldId id="275" r:id="rId15"/>
    <p:sldId id="269" r:id="rId16"/>
    <p:sldId id="267" r:id="rId17"/>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Volume</c:v>
                </c:pt>
              </c:strCache>
            </c:strRef>
          </c:tx>
          <c:spPr>
            <a:solidFill>
              <a:srgbClr val="C0504D"/>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2019 W1–W15</c:v>
                </c:pt>
                <c:pt idx="1">
                  <c:v>2020 W1–W15</c:v>
                </c:pt>
              </c:strCache>
            </c:strRef>
          </c:cat>
          <c:val>
            <c:numRef>
              <c:f>Sheet1!$B$2:$B$3</c:f>
              <c:numCache>
                <c:formatCode>General</c:formatCode>
                <c:ptCount val="2"/>
                <c:pt idx="0">
                  <c:v>13.122816</c:v>
                </c:pt>
                <c:pt idx="1">
                  <c:v>14.619016999999999</c:v>
                </c:pt>
              </c:numCache>
            </c:numRef>
          </c:val>
          <c:extLst>
            <c:ext xmlns:c16="http://schemas.microsoft.com/office/drawing/2014/chart" uri="{C3380CC4-5D6E-409C-BE32-E72D297353CC}">
              <c16:uniqueId val="{00000000-D178-469E-B913-05AA8772B32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16"/>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ptos"/>
              </a:defRPr>
            </a:pPr>
            <a:endParaRPr lang="en-US"/>
          </a:p>
        </c:txPr>
        <c:crossAx val="2094734554"/>
        <c:crosses val="autoZero"/>
        <c:crossBetween val="between"/>
        <c:majorUnit val="4"/>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a:pPr>
            <a:r>
              <a:rPr lang="en-US" dirty="0"/>
              <a:t>Total parcel volume</a:t>
            </a:r>
          </a:p>
        </c:rich>
      </c:tx>
      <c:overlay val="0"/>
    </c:title>
    <c:autoTitleDeleted val="0"/>
    <c:plotArea>
      <c:layout/>
      <c:barChart>
        <c:barDir val="col"/>
        <c:grouping val="clustered"/>
        <c:varyColors val="0"/>
        <c:ser>
          <c:idx val="0"/>
          <c:order val="0"/>
          <c:tx>
            <c:strRef>
              <c:f>Sheet1!$B$1</c:f>
              <c:strCache>
                <c:ptCount val="1"/>
                <c:pt idx="0">
                  <c:v>Total volume</c:v>
                </c:pt>
              </c:strCache>
            </c:strRef>
          </c:tx>
          <c:spPr>
            <a:solidFill>
              <a:srgbClr val="C0504D"/>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2018</c:v>
                </c:pt>
                <c:pt idx="1">
                  <c:v>2019</c:v>
                </c:pt>
                <c:pt idx="2">
                  <c:v>2020</c:v>
                </c:pt>
                <c:pt idx="3">
                  <c:v>2021</c:v>
                </c:pt>
              </c:strCache>
            </c:strRef>
          </c:cat>
          <c:val>
            <c:numRef>
              <c:f>Sheet1!$B$2:$B$5</c:f>
              <c:numCache>
                <c:formatCode>General</c:formatCode>
                <c:ptCount val="4"/>
                <c:pt idx="0">
                  <c:v>49.099477999999998</c:v>
                </c:pt>
                <c:pt idx="1">
                  <c:v>52.823113999999997</c:v>
                </c:pt>
                <c:pt idx="2">
                  <c:v>73.47569</c:v>
                </c:pt>
                <c:pt idx="3">
                  <c:v>48.679667999999999</c:v>
                </c:pt>
              </c:numCache>
            </c:numRef>
          </c:val>
          <c:extLst>
            <c:ext xmlns:c16="http://schemas.microsoft.com/office/drawing/2014/chart" uri="{C3380CC4-5D6E-409C-BE32-E72D297353CC}">
              <c16:uniqueId val="{00000000-4EAF-4328-B6F9-FD36736476D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title>
          <c:tx>
            <c:rich>
              <a:bodyPr/>
              <a:lstStyle/>
              <a:p>
                <a:pPr>
                  <a:defRPr/>
                </a:pPr>
                <a:r>
                  <a:rPr lang="en-US" dirty="0"/>
                  <a:t>Year</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80"/>
          <c:min val="0"/>
        </c:scaling>
        <c:delete val="0"/>
        <c:axPos val="l"/>
        <c:majorGridlines>
          <c:spPr>
            <a:ln w="12700" cap="flat">
              <a:solidFill>
                <a:srgbClr val="888888"/>
              </a:solidFill>
              <a:prstDash val="solid"/>
              <a:round/>
            </a:ln>
          </c:spPr>
        </c:majorGridlines>
        <c:title>
          <c:tx>
            <c:rich>
              <a:bodyPr/>
              <a:lstStyle/>
              <a:p>
                <a:pPr>
                  <a:defRPr/>
                </a:pPr>
                <a:r>
                  <a:rPr lang="en-US" dirty="0"/>
                  <a:t>Parcel volume (m)</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ptos"/>
              </a:defRPr>
            </a:pPr>
            <a:endParaRPr lang="en-US"/>
          </a:p>
        </c:txPr>
        <c:crossAx val="2094734554"/>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stacked"/>
        <c:varyColors val="1"/>
        <c:ser>
          <c:idx val="0"/>
          <c:order val="0"/>
          <c:tx>
            <c:strRef>
              <c:f>Sheet1!$B$1</c:f>
              <c:strCache>
                <c:ptCount val="1"/>
                <c:pt idx="0">
                  <c:v>Declining</c:v>
                </c:pt>
              </c:strCache>
            </c:strRef>
          </c:tx>
          <c:invertIfNegative val="1"/>
          <c:cat>
            <c:strRef>
              <c:f>Sheet1!$A$2:$A$5</c:f>
              <c:strCache>
                <c:ptCount val="4"/>
                <c:pt idx="0">
                  <c:v>Enterprise</c:v>
                </c:pt>
                <c:pt idx="1">
                  <c:v>Large</c:v>
                </c:pt>
                <c:pt idx="2">
                  <c:v>Medium</c:v>
                </c:pt>
                <c:pt idx="3">
                  <c:v>Small</c:v>
                </c:pt>
              </c:strCache>
            </c:strRef>
          </c:cat>
          <c:val>
            <c:numRef>
              <c:f>Sheet1!$B$2:$B$5</c:f>
              <c:numCache>
                <c:formatCode>General</c:formatCode>
                <c:ptCount val="4"/>
                <c:pt idx="0">
                  <c:v>3</c:v>
                </c:pt>
                <c:pt idx="1">
                  <c:v>2</c:v>
                </c:pt>
                <c:pt idx="2">
                  <c:v>66</c:v>
                </c:pt>
                <c:pt idx="3">
                  <c:v>299</c:v>
                </c:pt>
              </c:numCache>
            </c:numRef>
          </c:val>
          <c:extLst>
            <c:ext xmlns:c16="http://schemas.microsoft.com/office/drawing/2014/chart" uri="{C3380CC4-5D6E-409C-BE32-E72D297353CC}">
              <c16:uniqueId val="{00000000-115C-4EE9-9655-E4B6AF0F77E0}"/>
            </c:ext>
          </c:extLst>
        </c:ser>
        <c:ser>
          <c:idx val="1"/>
          <c:order val="1"/>
          <c:tx>
            <c:strRef>
              <c:f>Sheet1!$C$1</c:f>
              <c:strCache>
                <c:ptCount val="1"/>
                <c:pt idx="0">
                  <c:v>High Growth</c:v>
                </c:pt>
              </c:strCache>
            </c:strRef>
          </c:tx>
          <c:invertIfNegative val="1"/>
          <c:cat>
            <c:strRef>
              <c:f>Sheet1!$A$2:$A$5</c:f>
              <c:strCache>
                <c:ptCount val="4"/>
                <c:pt idx="0">
                  <c:v>Enterprise</c:v>
                </c:pt>
                <c:pt idx="1">
                  <c:v>Large</c:v>
                </c:pt>
                <c:pt idx="2">
                  <c:v>Medium</c:v>
                </c:pt>
                <c:pt idx="3">
                  <c:v>Small</c:v>
                </c:pt>
              </c:strCache>
            </c:strRef>
          </c:cat>
          <c:val>
            <c:numRef>
              <c:f>Sheet1!$C$2:$C$5</c:f>
              <c:numCache>
                <c:formatCode>General</c:formatCode>
                <c:ptCount val="4"/>
                <c:pt idx="0">
                  <c:v>7</c:v>
                </c:pt>
                <c:pt idx="1">
                  <c:v>9</c:v>
                </c:pt>
                <c:pt idx="2">
                  <c:v>78</c:v>
                </c:pt>
                <c:pt idx="3">
                  <c:v>441</c:v>
                </c:pt>
              </c:numCache>
            </c:numRef>
          </c:val>
          <c:extLst>
            <c:ext xmlns:c16="http://schemas.microsoft.com/office/drawing/2014/chart" uri="{C3380CC4-5D6E-409C-BE32-E72D297353CC}">
              <c16:uniqueId val="{00000001-115C-4EE9-9655-E4B6AF0F77E0}"/>
            </c:ext>
          </c:extLst>
        </c:ser>
        <c:ser>
          <c:idx val="2"/>
          <c:order val="2"/>
          <c:tx>
            <c:strRef>
              <c:f>Sheet1!$D$1</c:f>
              <c:strCache>
                <c:ptCount val="1"/>
                <c:pt idx="0">
                  <c:v>Stable</c:v>
                </c:pt>
              </c:strCache>
            </c:strRef>
          </c:tx>
          <c:invertIfNegative val="1"/>
          <c:cat>
            <c:strRef>
              <c:f>Sheet1!$A$2:$A$5</c:f>
              <c:strCache>
                <c:ptCount val="4"/>
                <c:pt idx="0">
                  <c:v>Enterprise</c:v>
                </c:pt>
                <c:pt idx="1">
                  <c:v>Large</c:v>
                </c:pt>
                <c:pt idx="2">
                  <c:v>Medium</c:v>
                </c:pt>
                <c:pt idx="3">
                  <c:v>Small</c:v>
                </c:pt>
              </c:strCache>
            </c:strRef>
          </c:cat>
          <c:val>
            <c:numRef>
              <c:f>Sheet1!$D$2:$D$5</c:f>
              <c:numCache>
                <c:formatCode>General</c:formatCode>
                <c:ptCount val="4"/>
                <c:pt idx="0">
                  <c:v>2</c:v>
                </c:pt>
                <c:pt idx="1">
                  <c:v>4</c:v>
                </c:pt>
                <c:pt idx="2">
                  <c:v>29</c:v>
                </c:pt>
                <c:pt idx="3">
                  <c:v>95</c:v>
                </c:pt>
              </c:numCache>
            </c:numRef>
          </c:val>
          <c:extLst>
            <c:ext xmlns:c16="http://schemas.microsoft.com/office/drawing/2014/chart" uri="{C3380CC4-5D6E-409C-BE32-E72D297353CC}">
              <c16:uniqueId val="{00000002-115C-4EE9-9655-E4B6AF0F77E0}"/>
            </c:ext>
          </c:extLst>
        </c:ser>
        <c:ser>
          <c:idx val="3"/>
          <c:order val="3"/>
          <c:tx>
            <c:strRef>
              <c:f>Sheet1!$E$1</c:f>
              <c:strCache>
                <c:ptCount val="1"/>
                <c:pt idx="0">
                  <c:v>Lost</c:v>
                </c:pt>
              </c:strCache>
            </c:strRef>
          </c:tx>
          <c:invertIfNegative val="1"/>
          <c:cat>
            <c:strRef>
              <c:f>Sheet1!$A$2:$A$5</c:f>
              <c:strCache>
                <c:ptCount val="4"/>
                <c:pt idx="0">
                  <c:v>Enterprise</c:v>
                </c:pt>
                <c:pt idx="1">
                  <c:v>Large</c:v>
                </c:pt>
                <c:pt idx="2">
                  <c:v>Medium</c:v>
                </c:pt>
                <c:pt idx="3">
                  <c:v>Small</c:v>
                </c:pt>
              </c:strCache>
            </c:strRef>
          </c:cat>
          <c:val>
            <c:numRef>
              <c:f>Sheet1!$E$2:$E$5</c:f>
              <c:numCache>
                <c:formatCode>General</c:formatCode>
                <c:ptCount val="4"/>
                <c:pt idx="0">
                  <c:v>0</c:v>
                </c:pt>
                <c:pt idx="1">
                  <c:v>0</c:v>
                </c:pt>
                <c:pt idx="2">
                  <c:v>1</c:v>
                </c:pt>
                <c:pt idx="3">
                  <c:v>25</c:v>
                </c:pt>
              </c:numCache>
            </c:numRef>
          </c:val>
          <c:extLst>
            <c:ext xmlns:c16="http://schemas.microsoft.com/office/drawing/2014/chart" uri="{C3380CC4-5D6E-409C-BE32-E72D297353CC}">
              <c16:uniqueId val="{00000003-115C-4EE9-9655-E4B6AF0F77E0}"/>
            </c:ext>
          </c:extLst>
        </c:ser>
        <c:dLbls>
          <c:showLegendKey val="0"/>
          <c:showVal val="0"/>
          <c:showCatName val="0"/>
          <c:showSerName val="0"/>
          <c:showPercent val="0"/>
          <c:showBubbleSize val="0"/>
        </c:dLbls>
        <c:gapWidth val="150"/>
        <c:overlap val="10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2019 Volume</c:v>
                </c:pt>
              </c:strCache>
            </c:strRef>
          </c:tx>
          <c:invertIfNegative val="1"/>
          <c:cat>
            <c:strRef>
              <c:f>Sheet1!$A$2:$A$5</c:f>
              <c:strCache>
                <c:ptCount val="4"/>
                <c:pt idx="0">
                  <c:v>Enterprise</c:v>
                </c:pt>
                <c:pt idx="1">
                  <c:v>Large</c:v>
                </c:pt>
                <c:pt idx="2">
                  <c:v>Medium</c:v>
                </c:pt>
                <c:pt idx="3">
                  <c:v>Small</c:v>
                </c:pt>
              </c:strCache>
            </c:strRef>
          </c:cat>
          <c:val>
            <c:numRef>
              <c:f>Sheet1!$B$2:$B$5</c:f>
              <c:numCache>
                <c:formatCode>General</c:formatCode>
                <c:ptCount val="4"/>
                <c:pt idx="0">
                  <c:v>38910324</c:v>
                </c:pt>
                <c:pt idx="1">
                  <c:v>4191621</c:v>
                </c:pt>
                <c:pt idx="2">
                  <c:v>7027575</c:v>
                </c:pt>
                <c:pt idx="3">
                  <c:v>2693594</c:v>
                </c:pt>
              </c:numCache>
            </c:numRef>
          </c:val>
          <c:extLst>
            <c:ext xmlns:c16="http://schemas.microsoft.com/office/drawing/2014/chart" uri="{C3380CC4-5D6E-409C-BE32-E72D297353CC}">
              <c16:uniqueId val="{00000000-5A3E-4544-9BCB-91937F80B96D}"/>
            </c:ext>
          </c:extLst>
        </c:ser>
        <c:ser>
          <c:idx val="1"/>
          <c:order val="1"/>
          <c:tx>
            <c:strRef>
              <c:f>Sheet1!$C$1</c:f>
              <c:strCache>
                <c:ptCount val="1"/>
                <c:pt idx="0">
                  <c:v>2020 Volume</c:v>
                </c:pt>
              </c:strCache>
            </c:strRef>
          </c:tx>
          <c:invertIfNegative val="1"/>
          <c:cat>
            <c:strRef>
              <c:f>Sheet1!$A$2:$A$5</c:f>
              <c:strCache>
                <c:ptCount val="4"/>
                <c:pt idx="0">
                  <c:v>Enterprise</c:v>
                </c:pt>
                <c:pt idx="1">
                  <c:v>Large</c:v>
                </c:pt>
                <c:pt idx="2">
                  <c:v>Medium</c:v>
                </c:pt>
                <c:pt idx="3">
                  <c:v>Small</c:v>
                </c:pt>
              </c:strCache>
            </c:strRef>
          </c:cat>
          <c:val>
            <c:numRef>
              <c:f>Sheet1!$C$2:$C$5</c:f>
              <c:numCache>
                <c:formatCode>General</c:formatCode>
                <c:ptCount val="4"/>
                <c:pt idx="0">
                  <c:v>53794064</c:v>
                </c:pt>
                <c:pt idx="1">
                  <c:v>5625310</c:v>
                </c:pt>
                <c:pt idx="2">
                  <c:v>9965816</c:v>
                </c:pt>
                <c:pt idx="3">
                  <c:v>4090500</c:v>
                </c:pt>
              </c:numCache>
            </c:numRef>
          </c:val>
          <c:extLst>
            <c:ext xmlns:c16="http://schemas.microsoft.com/office/drawing/2014/chart" uri="{C3380CC4-5D6E-409C-BE32-E72D297353CC}">
              <c16:uniqueId val="{00000001-5A3E-4544-9BCB-91937F80B96D}"/>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1015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presentation explains how COVID-19 changed ABC Company's parcel business. The story moves from the baseline, to the timing of the impact, to peak season, then to customer segment behavior and business implications.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four columns: customer ID, year, week, and volume. It is strong for shipment-volume analysis. Because revenue is not directly provided, the deck treats parcel volume as a revenue proxy and avoids unsupported claims about actual dollars.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pre-COVID volume increased from 13.1M parcels in early 2019 to 14.6M in early 2020, which equals 11.4% growth. That is the threshold used to separate normal growth from likely COVID-driven growth.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annual result. Parcel volume rose from 52.8M in 2019 to 73.5M in 2020. The decline in 2021 should be framed as normalization rather than necessarily weakness, because 2020 was exceptional.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12 is used as the COVID observation starting point. The line chart shows that the 2020 line pulls away from 2019 immediately after the onset. Week 16 is especially strong, with volumes more than double the same week in 2019.</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Peak season increased from 15.4M to 19.4M parcels. This means the business had to handle about 4.1M more parcels during its most operationally sensitive window.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looks at customer count by size group, not total volume. The customer base changed in composition, with more customers showing medium-size behavior in 2020 and some falling into micro/other.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customers represent a small number of accounts but dominate parcel volume. The 2020 uplift appears across segments, which supports the interpretation that this was a structural market shock rather than a single-customer anomaly.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customer-level view. High growth is strongest in the Large and Enterprise segments. However, a substantial share of Medium and Small customers declined, so the business impact was positive overall but uneven across customers.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emphasizing the integrated story: the annual spike identifies the scale, the weekly chart identifies the timing, peak season shows operational impact, and customer status shows where to target retention and growth.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6AD6EE87-EBD5-4F12-A48A-63ACA297AC8F}" type="datetimeFigureOut">
              <a:rPr lang="en-US" smtClean="0"/>
              <a:t>4/23/2026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411966532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28012092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5A61015F-7CC6-4D0A-9D87-873EA4C304CC}" type="datetimeFigureOut">
              <a:rPr lang="en-US" smtClean="0"/>
              <a:t>4/23/2026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252128632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4/23/2026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11242793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smtClean="0"/>
              <a:t>4/23/2026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52031452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EF4D4C-5367-4C26-9E2B-D8088D7FCA81}" type="datetimeFigureOut">
              <a:rPr lang="en-US" smtClean="0"/>
              <a:t>4/23/2026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245838363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4/23/2026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6087487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05C68B11-C5A8-448C-8CE9-B1A273C79CFC}" type="datetimeFigureOut">
              <a:rPr lang="en-US" smtClean="0"/>
              <a:t>4/23/2026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399626802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smtClean="0"/>
              <a:t>4/23/2026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smtClean="0"/>
              <a:t>‹#›</a:t>
            </a:fld>
            <a:endParaRPr lang="en-US" dirty="0"/>
          </a:p>
        </p:txBody>
      </p:sp>
    </p:spTree>
    <p:extLst>
      <p:ext uri="{BB962C8B-B14F-4D97-AF65-F5344CB8AC3E}">
        <p14:creationId xmlns:p14="http://schemas.microsoft.com/office/powerpoint/2010/main" val="127908495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1181809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A4AFB99-0EAB-4182-AFF8-E214C82A68F6}" type="datetimeFigureOut">
              <a:rPr lang="en-US" smtClean="0"/>
              <a:t>4/23/2026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224430693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639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90298CD5-6C1E-4009-B41F-6DF62E31D3BE}" type="datetimeFigureOut">
              <a:rPr lang="en-US" smtClean="0"/>
              <a:pPr/>
              <a:t>4/23/2026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4FAB73BC-B049-4115-A692-8D63A059BFB8}"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787202814"/>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305" y="-45440"/>
            <a:ext cx="12191695" cy="6858000"/>
          </a:xfrm>
          <a:prstGeom prst="rect">
            <a:avLst/>
          </a:prstGeom>
          <a:solidFill>
            <a:srgbClr val="0B1F3A"/>
          </a:solidFill>
          <a:ln w="12700">
            <a:solidFill>
              <a:srgbClr val="FFFFFF">
                <a:alpha val="0"/>
              </a:srgbClr>
            </a:solidFill>
            <a:prstDash val="solid"/>
          </a:ln>
        </p:spPr>
        <p:txBody>
          <a:bodyPr/>
          <a:lstStyle/>
          <a:p>
            <a:endParaRPr lang="en-US" dirty="0"/>
          </a:p>
        </p:txBody>
      </p:sp>
      <p:sp>
        <p:nvSpPr>
          <p:cNvPr id="3" name="Shape 1"/>
          <p:cNvSpPr/>
          <p:nvPr/>
        </p:nvSpPr>
        <p:spPr>
          <a:xfrm>
            <a:off x="8001000" y="0"/>
            <a:ext cx="4187952" cy="6382512"/>
          </a:xfrm>
          <a:prstGeom prst="rect">
            <a:avLst/>
          </a:prstGeom>
          <a:solidFill>
            <a:srgbClr val="0F2D52"/>
          </a:solidFill>
          <a:ln w="12700">
            <a:solidFill>
              <a:srgbClr val="FFFFFF">
                <a:alpha val="0"/>
              </a:srgbClr>
            </a:solidFill>
            <a:prstDash val="solid"/>
          </a:ln>
        </p:spPr>
        <p:txBody>
          <a:bodyPr/>
          <a:lstStyle/>
          <a:p>
            <a:endParaRPr lang="en-US"/>
          </a:p>
        </p:txBody>
      </p:sp>
      <p:sp>
        <p:nvSpPr>
          <p:cNvPr id="4" name="Shape 2"/>
          <p:cNvSpPr/>
          <p:nvPr/>
        </p:nvSpPr>
        <p:spPr>
          <a:xfrm>
            <a:off x="0" y="6382512"/>
            <a:ext cx="12191695" cy="475488"/>
          </a:xfrm>
          <a:prstGeom prst="rect">
            <a:avLst/>
          </a:prstGeom>
          <a:solidFill>
            <a:srgbClr val="00A6A6"/>
          </a:solidFill>
          <a:ln w="12700">
            <a:solidFill>
              <a:srgbClr val="FFFFFF">
                <a:alpha val="0"/>
              </a:srgbClr>
            </a:solidFill>
            <a:prstDash val="solid"/>
          </a:ln>
        </p:spPr>
        <p:txBody>
          <a:bodyPr/>
          <a:lstStyle/>
          <a:p>
            <a:endParaRPr lang="en-US"/>
          </a:p>
        </p:txBody>
      </p:sp>
      <p:sp>
        <p:nvSpPr>
          <p:cNvPr id="5" name="Text 3"/>
          <p:cNvSpPr/>
          <p:nvPr/>
        </p:nvSpPr>
        <p:spPr>
          <a:xfrm>
            <a:off x="731520" y="1051560"/>
            <a:ext cx="7040880" cy="1508760"/>
          </a:xfrm>
          <a:prstGeom prst="rect">
            <a:avLst/>
          </a:prstGeom>
          <a:noFill/>
          <a:ln/>
        </p:spPr>
        <p:txBody>
          <a:bodyPr wrap="square" lIns="508" tIns="508" rIns="508" bIns="508" rtlCol="0" anchor="t">
            <a:normAutofit/>
          </a:bodyPr>
          <a:lstStyle/>
          <a:p>
            <a:pPr marL="0" indent="0" algn="l">
              <a:buNone/>
            </a:pPr>
            <a:r>
              <a:rPr lang="en-US" sz="4300" b="1" dirty="0">
                <a:solidFill>
                  <a:srgbClr val="FFFFFF"/>
                </a:solidFill>
                <a:latin typeface="Aptos Display" pitchFamily="34" charset="0"/>
                <a:ea typeface="Aptos Display" pitchFamily="34" charset="-122"/>
                <a:cs typeface="Aptos Display" pitchFamily="34" charset="-120"/>
              </a:rPr>
              <a:t>Impact of COVID-19 on ABC Company Parcel Business</a:t>
            </a:r>
            <a:endParaRPr lang="en-US" sz="4300" dirty="0"/>
          </a:p>
        </p:txBody>
      </p:sp>
      <p:sp>
        <p:nvSpPr>
          <p:cNvPr id="6" name="Text 4"/>
          <p:cNvSpPr/>
          <p:nvPr/>
        </p:nvSpPr>
        <p:spPr>
          <a:xfrm>
            <a:off x="768096" y="2788920"/>
            <a:ext cx="6583680" cy="685800"/>
          </a:xfrm>
          <a:prstGeom prst="rect">
            <a:avLst/>
          </a:prstGeom>
          <a:noFill/>
          <a:ln/>
        </p:spPr>
        <p:txBody>
          <a:bodyPr wrap="square" lIns="508" tIns="508" rIns="508" bIns="508" rtlCol="0" anchor="t">
            <a:normAutofit/>
          </a:bodyPr>
          <a:lstStyle/>
          <a:p>
            <a:pPr marL="0" indent="0" algn="l">
              <a:buNone/>
            </a:pPr>
            <a:r>
              <a:rPr lang="en-US" sz="1800" dirty="0">
                <a:solidFill>
                  <a:srgbClr val="DCEAF7"/>
                </a:solidFill>
                <a:latin typeface="Aptos" pitchFamily="34" charset="0"/>
                <a:ea typeface="Aptos" pitchFamily="34" charset="-122"/>
                <a:cs typeface="Aptos" pitchFamily="34" charset="-120"/>
              </a:rPr>
              <a:t>Step-by-step analysis of parcel volume, customer behavior, peak season performance, and business impact</a:t>
            </a:r>
            <a:endParaRPr lang="en-US" sz="1800" dirty="0"/>
          </a:p>
        </p:txBody>
      </p:sp>
      <p:sp>
        <p:nvSpPr>
          <p:cNvPr id="7" name="Text 5"/>
          <p:cNvSpPr/>
          <p:nvPr/>
        </p:nvSpPr>
        <p:spPr>
          <a:xfrm>
            <a:off x="768096" y="5998464"/>
            <a:ext cx="4754880" cy="228600"/>
          </a:xfrm>
          <a:prstGeom prst="rect">
            <a:avLst/>
          </a:prstGeom>
          <a:noFill/>
          <a:ln/>
        </p:spPr>
        <p:txBody>
          <a:bodyPr wrap="square" lIns="508" tIns="508" rIns="508" bIns="508" rtlCol="0" anchor="t">
            <a:normAutofit/>
          </a:bodyPr>
          <a:lstStyle/>
          <a:p>
            <a:pPr marL="0" indent="0" algn="l">
              <a:buNone/>
            </a:pPr>
            <a:endParaRPr lang="en-US" sz="1150" dirty="0"/>
          </a:p>
        </p:txBody>
      </p:sp>
      <p:sp>
        <p:nvSpPr>
          <p:cNvPr id="8" name="Text 6"/>
          <p:cNvSpPr/>
          <p:nvPr/>
        </p:nvSpPr>
        <p:spPr>
          <a:xfrm>
            <a:off x="8183880" y="914400"/>
            <a:ext cx="2834640" cy="396850"/>
          </a:xfrm>
          <a:prstGeom prst="rect">
            <a:avLst/>
          </a:prstGeom>
          <a:noFill/>
          <a:ln/>
        </p:spPr>
        <p:txBody>
          <a:bodyPr wrap="square" lIns="127" tIns="127" rIns="127" bIns="127" rtlCol="0" anchor="t">
            <a:normAutofit/>
          </a:bodyPr>
          <a:lstStyle/>
          <a:p>
            <a:pPr marL="0" indent="0" algn="l">
              <a:buNone/>
            </a:pPr>
            <a:r>
              <a:rPr lang="en-US" sz="2232" b="1" dirty="0">
                <a:solidFill>
                  <a:srgbClr val="00A6A6"/>
                </a:solidFill>
                <a:latin typeface="Aptos Display" pitchFamily="34" charset="0"/>
                <a:ea typeface="Aptos Display" pitchFamily="34" charset="-122"/>
                <a:cs typeface="Aptos Display" pitchFamily="34" charset="-120"/>
              </a:rPr>
              <a:t>190,719</a:t>
            </a:r>
            <a:endParaRPr lang="en-US" sz="2232" dirty="0"/>
          </a:p>
        </p:txBody>
      </p:sp>
      <p:sp>
        <p:nvSpPr>
          <p:cNvPr id="9" name="Text 7"/>
          <p:cNvSpPr/>
          <p:nvPr/>
        </p:nvSpPr>
        <p:spPr>
          <a:xfrm>
            <a:off x="8183880" y="1345265"/>
            <a:ext cx="2834640" cy="272125"/>
          </a:xfrm>
          <a:prstGeom prst="rect">
            <a:avLst/>
          </a:prstGeom>
          <a:noFill/>
          <a:ln/>
        </p:spPr>
        <p:txBody>
          <a:bodyPr wrap="square" lIns="127" tIns="127" rIns="127" bIns="127" rtlCol="0" anchor="t">
            <a:normAutofit/>
          </a:bodyPr>
          <a:lstStyle/>
          <a:p>
            <a:pPr marL="0" indent="0" algn="l">
              <a:buNone/>
            </a:pPr>
            <a:r>
              <a:rPr lang="en-US" sz="1080" b="1" dirty="0">
                <a:solidFill>
                  <a:srgbClr val="0B1F3A"/>
                </a:solidFill>
                <a:latin typeface="Aptos" pitchFamily="34" charset="0"/>
                <a:ea typeface="Aptos" pitchFamily="34" charset="-122"/>
                <a:cs typeface="Aptos" pitchFamily="34" charset="-120"/>
              </a:rPr>
              <a:t>Total records</a:t>
            </a:r>
            <a:endParaRPr lang="en-US" sz="1080" dirty="0"/>
          </a:p>
        </p:txBody>
      </p:sp>
      <p:sp>
        <p:nvSpPr>
          <p:cNvPr id="10" name="Text 8"/>
          <p:cNvSpPr/>
          <p:nvPr/>
        </p:nvSpPr>
        <p:spPr>
          <a:xfrm>
            <a:off x="8183880" y="1662745"/>
            <a:ext cx="2834640" cy="340157"/>
          </a:xfrm>
          <a:prstGeom prst="rect">
            <a:avLst/>
          </a:prstGeom>
          <a:noFill/>
          <a:ln/>
        </p:spPr>
        <p:txBody>
          <a:bodyPr wrap="square" lIns="127" tIns="127" rIns="127" bIns="127" rtlCol="0" anchor="t">
            <a:normAutofit/>
          </a:bodyPr>
          <a:lstStyle/>
          <a:p>
            <a:pPr marL="0" indent="0" algn="l">
              <a:buNone/>
            </a:pPr>
            <a:r>
              <a:rPr lang="en-US" sz="870" dirty="0">
                <a:solidFill>
                  <a:srgbClr val="5B6770"/>
                </a:solidFill>
                <a:latin typeface="Aptos" pitchFamily="34" charset="0"/>
                <a:ea typeface="Aptos" pitchFamily="34" charset="-122"/>
                <a:cs typeface="Aptos" pitchFamily="34" charset="-120"/>
              </a:rPr>
              <a:t>Weekly customer shipment rows</a:t>
            </a:r>
            <a:endParaRPr lang="en-US" sz="870" dirty="0"/>
          </a:p>
        </p:txBody>
      </p:sp>
      <p:sp>
        <p:nvSpPr>
          <p:cNvPr id="11" name="Text 9"/>
          <p:cNvSpPr/>
          <p:nvPr/>
        </p:nvSpPr>
        <p:spPr>
          <a:xfrm>
            <a:off x="8183880" y="2331720"/>
            <a:ext cx="2834640" cy="396850"/>
          </a:xfrm>
          <a:prstGeom prst="rect">
            <a:avLst/>
          </a:prstGeom>
          <a:noFill/>
          <a:ln/>
        </p:spPr>
        <p:txBody>
          <a:bodyPr wrap="square" lIns="127" tIns="127" rIns="127" bIns="127" rtlCol="0" anchor="t">
            <a:normAutofit/>
          </a:bodyPr>
          <a:lstStyle/>
          <a:p>
            <a:pPr marL="0" indent="0" algn="l">
              <a:buNone/>
            </a:pPr>
            <a:r>
              <a:rPr lang="en-US" sz="2232" b="1" dirty="0">
                <a:solidFill>
                  <a:srgbClr val="F28C28"/>
                </a:solidFill>
                <a:latin typeface="Aptos Display" pitchFamily="34" charset="0"/>
                <a:ea typeface="Aptos Display" pitchFamily="34" charset="-122"/>
                <a:cs typeface="Aptos Display" pitchFamily="34" charset="-120"/>
              </a:rPr>
              <a:t>1,061</a:t>
            </a:r>
            <a:endParaRPr lang="en-US" sz="2232" dirty="0"/>
          </a:p>
        </p:txBody>
      </p:sp>
      <p:sp>
        <p:nvSpPr>
          <p:cNvPr id="12" name="Text 10"/>
          <p:cNvSpPr/>
          <p:nvPr/>
        </p:nvSpPr>
        <p:spPr>
          <a:xfrm>
            <a:off x="8183880" y="2762585"/>
            <a:ext cx="2834640" cy="272125"/>
          </a:xfrm>
          <a:prstGeom prst="rect">
            <a:avLst/>
          </a:prstGeom>
          <a:noFill/>
          <a:ln/>
        </p:spPr>
        <p:txBody>
          <a:bodyPr wrap="square" lIns="127" tIns="127" rIns="127" bIns="127" rtlCol="0" anchor="t">
            <a:normAutofit/>
          </a:bodyPr>
          <a:lstStyle/>
          <a:p>
            <a:pPr marL="0" indent="0" algn="l">
              <a:buNone/>
            </a:pPr>
            <a:r>
              <a:rPr lang="en-US" sz="1080" b="1" dirty="0">
                <a:solidFill>
                  <a:srgbClr val="0B1F3A"/>
                </a:solidFill>
                <a:latin typeface="Aptos" pitchFamily="34" charset="0"/>
                <a:ea typeface="Aptos" pitchFamily="34" charset="-122"/>
                <a:cs typeface="Aptos" pitchFamily="34" charset="-120"/>
              </a:rPr>
              <a:t>Customers analyzed</a:t>
            </a:r>
            <a:endParaRPr lang="en-US" sz="1080" dirty="0"/>
          </a:p>
        </p:txBody>
      </p:sp>
      <p:sp>
        <p:nvSpPr>
          <p:cNvPr id="13" name="Text 11"/>
          <p:cNvSpPr/>
          <p:nvPr/>
        </p:nvSpPr>
        <p:spPr>
          <a:xfrm>
            <a:off x="8183880" y="3080065"/>
            <a:ext cx="2834640" cy="340157"/>
          </a:xfrm>
          <a:prstGeom prst="rect">
            <a:avLst/>
          </a:prstGeom>
          <a:noFill/>
          <a:ln/>
        </p:spPr>
        <p:txBody>
          <a:bodyPr wrap="square" lIns="127" tIns="127" rIns="127" bIns="127" rtlCol="0" anchor="t">
            <a:normAutofit/>
          </a:bodyPr>
          <a:lstStyle/>
          <a:p>
            <a:pPr marL="0" indent="0" algn="l">
              <a:buNone/>
            </a:pPr>
            <a:r>
              <a:rPr lang="en-US" sz="870" dirty="0">
                <a:solidFill>
                  <a:srgbClr val="5B6770"/>
                </a:solidFill>
                <a:latin typeface="Aptos" pitchFamily="34" charset="0"/>
                <a:ea typeface="Aptos" pitchFamily="34" charset="-122"/>
                <a:cs typeface="Aptos" pitchFamily="34" charset="-120"/>
              </a:rPr>
              <a:t>Unique FakeCustomerID values</a:t>
            </a:r>
            <a:endParaRPr lang="en-US" sz="870" dirty="0"/>
          </a:p>
        </p:txBody>
      </p:sp>
      <p:sp>
        <p:nvSpPr>
          <p:cNvPr id="14" name="Text 12"/>
          <p:cNvSpPr/>
          <p:nvPr/>
        </p:nvSpPr>
        <p:spPr>
          <a:xfrm>
            <a:off x="8183880" y="3749040"/>
            <a:ext cx="2834640" cy="396850"/>
          </a:xfrm>
          <a:prstGeom prst="rect">
            <a:avLst/>
          </a:prstGeom>
          <a:noFill/>
          <a:ln/>
        </p:spPr>
        <p:txBody>
          <a:bodyPr wrap="square" lIns="127" tIns="127" rIns="127" bIns="127" rtlCol="0" anchor="t">
            <a:normAutofit/>
          </a:bodyPr>
          <a:lstStyle/>
          <a:p>
            <a:pPr marL="0" indent="0" algn="l">
              <a:buNone/>
            </a:pPr>
            <a:r>
              <a:rPr lang="en-US" sz="2232" b="1" dirty="0">
                <a:solidFill>
                  <a:srgbClr val="DCEAF7"/>
                </a:solidFill>
                <a:latin typeface="Aptos Display" pitchFamily="34" charset="0"/>
                <a:ea typeface="Aptos Display" pitchFamily="34" charset="-122"/>
                <a:cs typeface="Aptos Display" pitchFamily="34" charset="-120"/>
              </a:rPr>
              <a:t>2018–2021</a:t>
            </a:r>
            <a:endParaRPr lang="en-US" sz="2232" dirty="0"/>
          </a:p>
        </p:txBody>
      </p:sp>
      <p:sp>
        <p:nvSpPr>
          <p:cNvPr id="15" name="Text 13"/>
          <p:cNvSpPr/>
          <p:nvPr/>
        </p:nvSpPr>
        <p:spPr>
          <a:xfrm>
            <a:off x="8183880" y="4179905"/>
            <a:ext cx="2834640" cy="272125"/>
          </a:xfrm>
          <a:prstGeom prst="rect">
            <a:avLst/>
          </a:prstGeom>
          <a:noFill/>
          <a:ln/>
        </p:spPr>
        <p:txBody>
          <a:bodyPr wrap="square" lIns="127" tIns="127" rIns="127" bIns="127" rtlCol="0" anchor="t">
            <a:normAutofit/>
          </a:bodyPr>
          <a:lstStyle/>
          <a:p>
            <a:pPr marL="0" indent="0" algn="l">
              <a:buNone/>
            </a:pPr>
            <a:r>
              <a:rPr lang="en-US" sz="1080" b="1" dirty="0">
                <a:solidFill>
                  <a:srgbClr val="0B1F3A"/>
                </a:solidFill>
                <a:latin typeface="Aptos" pitchFamily="34" charset="0"/>
                <a:ea typeface="Aptos" pitchFamily="34" charset="-122"/>
                <a:cs typeface="Aptos" pitchFamily="34" charset="-120"/>
              </a:rPr>
              <a:t>Years covered</a:t>
            </a:r>
            <a:endParaRPr lang="en-US" sz="1080" dirty="0"/>
          </a:p>
        </p:txBody>
      </p:sp>
      <p:sp>
        <p:nvSpPr>
          <p:cNvPr id="16" name="Text 14"/>
          <p:cNvSpPr/>
          <p:nvPr/>
        </p:nvSpPr>
        <p:spPr>
          <a:xfrm>
            <a:off x="8183880" y="4497385"/>
            <a:ext cx="2834640" cy="340157"/>
          </a:xfrm>
          <a:prstGeom prst="rect">
            <a:avLst/>
          </a:prstGeom>
          <a:noFill/>
          <a:ln/>
        </p:spPr>
        <p:txBody>
          <a:bodyPr wrap="square" lIns="127" tIns="127" rIns="127" bIns="127" rtlCol="0" anchor="t">
            <a:normAutofit/>
          </a:bodyPr>
          <a:lstStyle/>
          <a:p>
            <a:pPr marL="0" indent="0" algn="l">
              <a:buNone/>
            </a:pPr>
            <a:r>
              <a:rPr lang="en-US" sz="870" dirty="0">
                <a:solidFill>
                  <a:srgbClr val="5B6770"/>
                </a:solidFill>
                <a:latin typeface="Aptos" pitchFamily="34" charset="0"/>
                <a:ea typeface="Aptos" pitchFamily="34" charset="-122"/>
                <a:cs typeface="Aptos" pitchFamily="34" charset="-120"/>
              </a:rPr>
              <a:t>Pre-COVID, COVID, and normalization period</a:t>
            </a:r>
            <a:endParaRPr lang="en-US" sz="870" dirty="0"/>
          </a:p>
        </p:txBody>
      </p:sp>
      <p:sp>
        <p:nvSpPr>
          <p:cNvPr id="17" name="TextBox 16">
            <a:extLst>
              <a:ext uri="{FF2B5EF4-FFF2-40B4-BE49-F238E27FC236}">
                <a16:creationId xmlns:a16="http://schemas.microsoft.com/office/drawing/2014/main" id="{92A4615F-A609-2441-E1F0-CC1586168BD3}"/>
              </a:ext>
            </a:extLst>
          </p:cNvPr>
          <p:cNvSpPr txBox="1"/>
          <p:nvPr/>
        </p:nvSpPr>
        <p:spPr>
          <a:xfrm>
            <a:off x="656875" y="4304644"/>
            <a:ext cx="6518366" cy="1477328"/>
          </a:xfrm>
          <a:prstGeom prst="rect">
            <a:avLst/>
          </a:prstGeom>
          <a:noFill/>
        </p:spPr>
        <p:txBody>
          <a:bodyPr wrap="square" rtlCol="0">
            <a:spAutoFit/>
          </a:bodyPr>
          <a:lstStyle/>
          <a:p>
            <a:r>
              <a:rPr lang="en-US" b="1" dirty="0">
                <a:solidFill>
                  <a:schemeClr val="bg1"/>
                </a:solidFill>
              </a:rPr>
              <a:t>A PROJECT WORK BY </a:t>
            </a:r>
          </a:p>
          <a:p>
            <a:endParaRPr lang="en-US" b="1" dirty="0">
              <a:solidFill>
                <a:schemeClr val="bg1"/>
              </a:solidFill>
            </a:endParaRPr>
          </a:p>
          <a:p>
            <a:r>
              <a:rPr lang="en-US" b="1" dirty="0">
                <a:solidFill>
                  <a:schemeClr val="bg1"/>
                </a:solidFill>
              </a:rPr>
              <a:t>SAMUEL ESSIEN</a:t>
            </a:r>
          </a:p>
          <a:p>
            <a:r>
              <a:rPr lang="en-US" b="1" dirty="0">
                <a:solidFill>
                  <a:schemeClr val="bg1"/>
                </a:solidFill>
              </a:rPr>
              <a:t>NNAEMKEA CHARLES ADIBE </a:t>
            </a:r>
          </a:p>
          <a:p>
            <a:endParaRPr lang="en-US"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6F5CD2-E742-79E3-4487-486283ED4409}"/>
              </a:ext>
            </a:extLst>
          </p:cNvPr>
          <p:cNvSpPr>
            <a:spLocks noGrp="1"/>
          </p:cNvSpPr>
          <p:nvPr>
            <p:ph type="title"/>
          </p:nvPr>
        </p:nvSpPr>
        <p:spPr/>
        <p:txBody>
          <a:bodyPr/>
          <a:lstStyle/>
          <a:p>
            <a:r>
              <a:rPr lang="en-US" dirty="0"/>
              <a:t>Objective</a:t>
            </a:r>
          </a:p>
        </p:txBody>
      </p:sp>
      <p:sp>
        <p:nvSpPr>
          <p:cNvPr id="4" name="Content Placeholder 3">
            <a:extLst>
              <a:ext uri="{FF2B5EF4-FFF2-40B4-BE49-F238E27FC236}">
                <a16:creationId xmlns:a16="http://schemas.microsoft.com/office/drawing/2014/main" id="{4A45C834-35A2-C126-9EEC-EDB9B6741419}"/>
              </a:ext>
            </a:extLst>
          </p:cNvPr>
          <p:cNvSpPr>
            <a:spLocks noGrp="1"/>
          </p:cNvSpPr>
          <p:nvPr>
            <p:ph idx="1"/>
          </p:nvPr>
        </p:nvSpPr>
        <p:spPr/>
        <p:txBody>
          <a:bodyPr>
            <a:normAutofit lnSpcReduction="10000"/>
          </a:bodyPr>
          <a:lstStyle/>
          <a:p>
            <a:pPr marL="0" indent="0">
              <a:buNone/>
            </a:pPr>
            <a:r>
              <a:rPr lang="en-US" dirty="0"/>
              <a:t>This analysis examines the impact of COVID-19 on ABC Company’s parcel delivery business.</a:t>
            </a:r>
          </a:p>
          <a:p>
            <a:endParaRPr lang="en-US" dirty="0"/>
          </a:p>
          <a:p>
            <a:pPr marL="0" indent="0">
              <a:buNone/>
            </a:pPr>
            <a:r>
              <a:rPr lang="en-US" dirty="0"/>
              <a:t>We aim to:</a:t>
            </a:r>
          </a:p>
          <a:p>
            <a:endParaRPr lang="en-US" dirty="0"/>
          </a:p>
          <a:p>
            <a:r>
              <a:rPr lang="en-US" dirty="0"/>
              <a:t> Evaluate changes in parcel volumes before and during COVID-19</a:t>
            </a:r>
          </a:p>
          <a:p>
            <a:r>
              <a:rPr lang="en-US" dirty="0"/>
              <a:t>Identify when the impact began</a:t>
            </a:r>
          </a:p>
          <a:p>
            <a:r>
              <a:rPr lang="en-US" dirty="0"/>
              <a:t>Analyze peak season performance</a:t>
            </a:r>
          </a:p>
          <a:p>
            <a:r>
              <a:rPr lang="en-US" dirty="0"/>
              <a:t>Identity how revenue was impacted</a:t>
            </a:r>
          </a:p>
          <a:p>
            <a:r>
              <a:rPr lang="en-US" dirty="0"/>
              <a:t>Assess customer growth and behavior across customer segments.</a:t>
            </a:r>
          </a:p>
          <a:p>
            <a:endParaRPr lang="en-US" dirty="0"/>
          </a:p>
        </p:txBody>
      </p:sp>
    </p:spTree>
    <p:extLst>
      <p:ext uri="{BB962C8B-B14F-4D97-AF65-F5344CB8AC3E}">
        <p14:creationId xmlns:p14="http://schemas.microsoft.com/office/powerpoint/2010/main" val="3710104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23649"/>
            <a:ext cx="12191695" cy="6858000"/>
          </a:xfrm>
          <a:prstGeom prst="rect">
            <a:avLst/>
          </a:prstGeom>
          <a:solidFill>
            <a:srgbClr val="F6F8FB"/>
          </a:solidFill>
          <a:ln w="12700">
            <a:solidFill>
              <a:srgbClr val="FFFFFF">
                <a:alpha val="0"/>
              </a:srgbClr>
            </a:solidFill>
            <a:prstDash val="solid"/>
          </a:ln>
        </p:spPr>
        <p:txBody>
          <a:bodyPr/>
          <a:lstStyle/>
          <a:p>
            <a:endParaRPr lang="en-US"/>
          </a:p>
        </p:txBody>
      </p:sp>
      <p:sp>
        <p:nvSpPr>
          <p:cNvPr id="3" name="Shape 1"/>
          <p:cNvSpPr/>
          <p:nvPr/>
        </p:nvSpPr>
        <p:spPr>
          <a:xfrm>
            <a:off x="0" y="0"/>
            <a:ext cx="12191695" cy="137160"/>
          </a:xfrm>
          <a:prstGeom prst="rect">
            <a:avLst/>
          </a:prstGeom>
          <a:solidFill>
            <a:srgbClr val="0B1F3A"/>
          </a:solidFill>
          <a:ln w="12700">
            <a:solidFill>
              <a:srgbClr val="FFFFFF">
                <a:alpha val="0"/>
              </a:srgbClr>
            </a:solidFill>
            <a:prstDash val="solid"/>
          </a:ln>
        </p:spPr>
        <p:txBody>
          <a:bodyPr/>
          <a:lstStyle/>
          <a:p>
            <a:endParaRPr lang="en-US"/>
          </a:p>
        </p:txBody>
      </p:sp>
      <p:sp>
        <p:nvSpPr>
          <p:cNvPr id="4" name="Text 2"/>
          <p:cNvSpPr/>
          <p:nvPr/>
        </p:nvSpPr>
        <p:spPr>
          <a:xfrm>
            <a:off x="502920" y="411480"/>
            <a:ext cx="960120" cy="301752"/>
          </a:xfrm>
          <a:prstGeom prst="roundRect">
            <a:avLst/>
          </a:prstGeom>
          <a:solidFill>
            <a:srgbClr val="00A6A6"/>
          </a:solidFill>
          <a:ln>
            <a:solidFill>
              <a:srgbClr val="00A6A6"/>
            </a:solidFill>
          </a:ln>
        </p:spPr>
        <p:txBody>
          <a:bodyPr wrap="square" lIns="254" tIns="254" rIns="254" bIns="25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STEP 1</a:t>
            </a:r>
            <a:endParaRPr lang="en-US" sz="1100" dirty="0"/>
          </a:p>
        </p:txBody>
      </p:sp>
      <p:sp>
        <p:nvSpPr>
          <p:cNvPr id="5" name="Text 3"/>
          <p:cNvSpPr/>
          <p:nvPr/>
        </p:nvSpPr>
        <p:spPr>
          <a:xfrm>
            <a:off x="502920" y="786384"/>
            <a:ext cx="8778240" cy="438912"/>
          </a:xfrm>
          <a:prstGeom prst="rect">
            <a:avLst/>
          </a:prstGeom>
          <a:noFill/>
          <a:ln/>
        </p:spPr>
        <p:txBody>
          <a:bodyPr wrap="square" lIns="508" tIns="508" rIns="508" bIns="508" rtlCol="0" anchor="t">
            <a:normAutofit lnSpcReduction="10000"/>
          </a:bodyPr>
          <a:lstStyle/>
          <a:p>
            <a:pPr marL="0" indent="0" algn="l">
              <a:buNone/>
            </a:pPr>
            <a:r>
              <a:rPr lang="en-US" sz="2900" b="1" dirty="0">
                <a:solidFill>
                  <a:srgbClr val="0B1F3A"/>
                </a:solidFill>
                <a:latin typeface="Aptos Display" pitchFamily="34" charset="0"/>
                <a:ea typeface="Aptos Display" pitchFamily="34" charset="-122"/>
                <a:cs typeface="Aptos Display" pitchFamily="34" charset="-120"/>
              </a:rPr>
              <a:t>Dataset overview and analytical scope</a:t>
            </a:r>
            <a:endParaRPr lang="en-US" sz="2900" dirty="0"/>
          </a:p>
        </p:txBody>
      </p:sp>
      <p:sp>
        <p:nvSpPr>
          <p:cNvPr id="6" name="Text 4"/>
          <p:cNvSpPr/>
          <p:nvPr/>
        </p:nvSpPr>
        <p:spPr>
          <a:xfrm>
            <a:off x="521208" y="1243584"/>
            <a:ext cx="8138160" cy="320040"/>
          </a:xfrm>
          <a:prstGeom prst="rect">
            <a:avLst/>
          </a:prstGeom>
          <a:noFill/>
          <a:ln/>
        </p:spPr>
        <p:txBody>
          <a:bodyPr wrap="square" lIns="508" tIns="508" rIns="508" bIns="508" rtlCol="0" anchor="t">
            <a:normAutofit/>
          </a:bodyPr>
          <a:lstStyle/>
          <a:p>
            <a:pPr marL="0" indent="0" algn="l">
              <a:buNone/>
            </a:pPr>
            <a:r>
              <a:rPr lang="en-US" sz="1350" dirty="0">
                <a:solidFill>
                  <a:srgbClr val="5B6770"/>
                </a:solidFill>
                <a:latin typeface="Aptos" pitchFamily="34" charset="0"/>
                <a:ea typeface="Aptos" pitchFamily="34" charset="-122"/>
                <a:cs typeface="Aptos" pitchFamily="34" charset="-120"/>
              </a:rPr>
              <a:t>Weekly parcel shipments by customer, year, week, and volume.</a:t>
            </a:r>
            <a:endParaRPr lang="en-US" sz="1350" dirty="0"/>
          </a:p>
        </p:txBody>
      </p:sp>
      <p:sp>
        <p:nvSpPr>
          <p:cNvPr id="7" name="Text 5"/>
          <p:cNvSpPr/>
          <p:nvPr/>
        </p:nvSpPr>
        <p:spPr>
          <a:xfrm>
            <a:off x="502920" y="6510528"/>
            <a:ext cx="5303520" cy="201168"/>
          </a:xfrm>
          <a:prstGeom prst="rect">
            <a:avLst/>
          </a:prstGeom>
          <a:noFill/>
          <a:ln/>
        </p:spPr>
        <p:txBody>
          <a:bodyPr wrap="square" lIns="508" tIns="508" rIns="508" bIns="508" rtlCol="0" anchor="t">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Impact of COVID-19 on ABC Company Parcel Business</a:t>
            </a:r>
            <a:endParaRPr lang="en-US" sz="850" dirty="0"/>
          </a:p>
        </p:txBody>
      </p:sp>
      <p:sp>
        <p:nvSpPr>
          <p:cNvPr id="8" name="Text 6"/>
          <p:cNvSpPr/>
          <p:nvPr/>
        </p:nvSpPr>
        <p:spPr>
          <a:xfrm>
            <a:off x="11384280" y="6510528"/>
            <a:ext cx="320040" cy="201168"/>
          </a:xfrm>
          <a:prstGeom prst="rect">
            <a:avLst/>
          </a:prstGeom>
          <a:noFill/>
          <a:ln/>
        </p:spPr>
        <p:txBody>
          <a:bodyPr wrap="square" lIns="508" tIns="508" rIns="508" bIns="508" rtlCol="0" anchor="t">
            <a:normAutofit/>
          </a:bodyPr>
          <a:lstStyle/>
          <a:p>
            <a:pPr marL="0" indent="0" algn="r">
              <a:buNone/>
            </a:pPr>
            <a:r>
              <a:rPr lang="en-US" sz="850" dirty="0">
                <a:solidFill>
                  <a:srgbClr val="6B7280"/>
                </a:solidFill>
                <a:latin typeface="Aptos" pitchFamily="34" charset="0"/>
                <a:ea typeface="Aptos" pitchFamily="34" charset="-122"/>
                <a:cs typeface="Aptos" pitchFamily="34" charset="-120"/>
              </a:rPr>
              <a:t>3</a:t>
            </a:r>
            <a:endParaRPr lang="en-US" sz="850" dirty="0"/>
          </a:p>
        </p:txBody>
      </p:sp>
      <p:sp>
        <p:nvSpPr>
          <p:cNvPr id="9" name="Text 7"/>
          <p:cNvSpPr/>
          <p:nvPr/>
        </p:nvSpPr>
        <p:spPr>
          <a:xfrm>
            <a:off x="640080" y="1737360"/>
            <a:ext cx="2057400" cy="384048"/>
          </a:xfrm>
          <a:prstGeom prst="rect">
            <a:avLst/>
          </a:prstGeom>
          <a:noFill/>
          <a:ln/>
        </p:spPr>
        <p:txBody>
          <a:bodyPr wrap="square" lIns="127" tIns="127" rIns="127" bIns="127" rtlCol="0" anchor="t">
            <a:normAutofit/>
          </a:bodyPr>
          <a:lstStyle/>
          <a:p>
            <a:pPr marL="0" indent="0" algn="l">
              <a:buNone/>
            </a:pPr>
            <a:r>
              <a:rPr lang="en-US" sz="2160" b="1" dirty="0">
                <a:solidFill>
                  <a:srgbClr val="145DA0"/>
                </a:solidFill>
                <a:latin typeface="Aptos Display" pitchFamily="34" charset="0"/>
                <a:ea typeface="Aptos Display" pitchFamily="34" charset="-122"/>
                <a:cs typeface="Aptos Display" pitchFamily="34" charset="-120"/>
              </a:rPr>
              <a:t>190,719</a:t>
            </a:r>
            <a:endParaRPr lang="en-US" sz="2160" dirty="0"/>
          </a:p>
        </p:txBody>
      </p:sp>
      <p:sp>
        <p:nvSpPr>
          <p:cNvPr id="10" name="Text 8"/>
          <p:cNvSpPr/>
          <p:nvPr/>
        </p:nvSpPr>
        <p:spPr>
          <a:xfrm>
            <a:off x="640080" y="2154326"/>
            <a:ext cx="2057400" cy="263347"/>
          </a:xfrm>
          <a:prstGeom prst="rect">
            <a:avLst/>
          </a:prstGeom>
          <a:noFill/>
          <a:ln/>
        </p:spPr>
        <p:txBody>
          <a:bodyPr wrap="square" lIns="127" tIns="127" rIns="127" bIns="127" rtlCol="0" anchor="t">
            <a:normAutofit/>
          </a:bodyPr>
          <a:lstStyle/>
          <a:p>
            <a:pPr marL="0" indent="0" algn="l">
              <a:buNone/>
            </a:pPr>
            <a:r>
              <a:rPr lang="en-US" sz="1080" b="1" dirty="0">
                <a:solidFill>
                  <a:srgbClr val="0B1F3A"/>
                </a:solidFill>
                <a:latin typeface="Aptos" pitchFamily="34" charset="0"/>
                <a:ea typeface="Aptos" pitchFamily="34" charset="-122"/>
                <a:cs typeface="Aptos" pitchFamily="34" charset="-120"/>
              </a:rPr>
              <a:t>Rows</a:t>
            </a:r>
            <a:endParaRPr lang="en-US" sz="1080" dirty="0"/>
          </a:p>
        </p:txBody>
      </p:sp>
      <p:sp>
        <p:nvSpPr>
          <p:cNvPr id="11" name="Text 9"/>
          <p:cNvSpPr/>
          <p:nvPr/>
        </p:nvSpPr>
        <p:spPr>
          <a:xfrm>
            <a:off x="640080" y="2461565"/>
            <a:ext cx="2057400" cy="329184"/>
          </a:xfrm>
          <a:prstGeom prst="rect">
            <a:avLst/>
          </a:prstGeom>
          <a:noFill/>
          <a:ln/>
        </p:spPr>
        <p:txBody>
          <a:bodyPr wrap="square" lIns="127" tIns="127" rIns="127" bIns="127" rtlCol="0" anchor="t">
            <a:normAutofit/>
          </a:bodyPr>
          <a:lstStyle/>
          <a:p>
            <a:pPr marL="0" indent="0" algn="l">
              <a:buNone/>
            </a:pPr>
            <a:r>
              <a:rPr lang="en-US" sz="870" dirty="0">
                <a:solidFill>
                  <a:srgbClr val="5B6770"/>
                </a:solidFill>
                <a:latin typeface="Aptos" pitchFamily="34" charset="0"/>
                <a:ea typeface="Aptos" pitchFamily="34" charset="-122"/>
                <a:cs typeface="Aptos" pitchFamily="34" charset="-120"/>
              </a:rPr>
              <a:t>Granular weekly records</a:t>
            </a:r>
            <a:endParaRPr lang="en-US" sz="870" dirty="0"/>
          </a:p>
        </p:txBody>
      </p:sp>
      <p:sp>
        <p:nvSpPr>
          <p:cNvPr id="12" name="Text 10"/>
          <p:cNvSpPr/>
          <p:nvPr/>
        </p:nvSpPr>
        <p:spPr>
          <a:xfrm>
            <a:off x="2971800" y="1737360"/>
            <a:ext cx="2057400" cy="384048"/>
          </a:xfrm>
          <a:prstGeom prst="rect">
            <a:avLst/>
          </a:prstGeom>
          <a:noFill/>
          <a:ln/>
        </p:spPr>
        <p:txBody>
          <a:bodyPr wrap="square" lIns="127" tIns="127" rIns="127" bIns="127" rtlCol="0" anchor="t">
            <a:normAutofit/>
          </a:bodyPr>
          <a:lstStyle/>
          <a:p>
            <a:pPr marL="0" indent="0" algn="l">
              <a:buNone/>
            </a:pPr>
            <a:r>
              <a:rPr lang="en-US" sz="2160" b="1" dirty="0">
                <a:solidFill>
                  <a:srgbClr val="00A6A6"/>
                </a:solidFill>
                <a:latin typeface="Aptos Display" pitchFamily="34" charset="0"/>
                <a:ea typeface="Aptos Display" pitchFamily="34" charset="-122"/>
                <a:cs typeface="Aptos Display" pitchFamily="34" charset="-120"/>
              </a:rPr>
              <a:t>1,061</a:t>
            </a:r>
            <a:endParaRPr lang="en-US" sz="2160" dirty="0"/>
          </a:p>
        </p:txBody>
      </p:sp>
      <p:sp>
        <p:nvSpPr>
          <p:cNvPr id="13" name="Text 11"/>
          <p:cNvSpPr/>
          <p:nvPr/>
        </p:nvSpPr>
        <p:spPr>
          <a:xfrm>
            <a:off x="2971800" y="2154326"/>
            <a:ext cx="2057400" cy="263347"/>
          </a:xfrm>
          <a:prstGeom prst="rect">
            <a:avLst/>
          </a:prstGeom>
          <a:noFill/>
          <a:ln/>
        </p:spPr>
        <p:txBody>
          <a:bodyPr wrap="square" lIns="127" tIns="127" rIns="127" bIns="127" rtlCol="0" anchor="t">
            <a:normAutofit/>
          </a:bodyPr>
          <a:lstStyle/>
          <a:p>
            <a:pPr marL="0" indent="0" algn="l">
              <a:buNone/>
            </a:pPr>
            <a:r>
              <a:rPr lang="en-US" sz="1080" b="1" dirty="0">
                <a:solidFill>
                  <a:srgbClr val="0B1F3A"/>
                </a:solidFill>
                <a:latin typeface="Aptos" pitchFamily="34" charset="0"/>
                <a:ea typeface="Aptos" pitchFamily="34" charset="-122"/>
                <a:cs typeface="Aptos" pitchFamily="34" charset="-120"/>
              </a:rPr>
              <a:t>Unique customers</a:t>
            </a:r>
            <a:endParaRPr lang="en-US" sz="1080" dirty="0"/>
          </a:p>
        </p:txBody>
      </p:sp>
      <p:sp>
        <p:nvSpPr>
          <p:cNvPr id="14" name="Text 12"/>
          <p:cNvSpPr/>
          <p:nvPr/>
        </p:nvSpPr>
        <p:spPr>
          <a:xfrm>
            <a:off x="2971800" y="2461565"/>
            <a:ext cx="2057400" cy="329184"/>
          </a:xfrm>
          <a:prstGeom prst="rect">
            <a:avLst/>
          </a:prstGeom>
          <a:noFill/>
          <a:ln/>
        </p:spPr>
        <p:txBody>
          <a:bodyPr wrap="square" lIns="127" tIns="127" rIns="127" bIns="127" rtlCol="0" anchor="t">
            <a:normAutofit/>
          </a:bodyPr>
          <a:lstStyle/>
          <a:p>
            <a:pPr marL="0" indent="0" algn="l">
              <a:buNone/>
            </a:pPr>
            <a:r>
              <a:rPr lang="en-US" sz="870" dirty="0">
                <a:solidFill>
                  <a:srgbClr val="5B6770"/>
                </a:solidFill>
                <a:latin typeface="Aptos" pitchFamily="34" charset="0"/>
                <a:ea typeface="Aptos" pitchFamily="34" charset="-122"/>
                <a:cs typeface="Aptos" pitchFamily="34" charset="-120"/>
              </a:rPr>
              <a:t>Customer-level tracking</a:t>
            </a:r>
            <a:endParaRPr lang="en-US" sz="870" dirty="0"/>
          </a:p>
        </p:txBody>
      </p:sp>
      <p:sp>
        <p:nvSpPr>
          <p:cNvPr id="15" name="Text 13"/>
          <p:cNvSpPr/>
          <p:nvPr/>
        </p:nvSpPr>
        <p:spPr>
          <a:xfrm>
            <a:off x="5303520" y="1737360"/>
            <a:ext cx="2057400" cy="384048"/>
          </a:xfrm>
          <a:prstGeom prst="rect">
            <a:avLst/>
          </a:prstGeom>
          <a:noFill/>
          <a:ln/>
        </p:spPr>
        <p:txBody>
          <a:bodyPr wrap="square" lIns="127" tIns="127" rIns="127" bIns="127" rtlCol="0" anchor="t">
            <a:normAutofit/>
          </a:bodyPr>
          <a:lstStyle/>
          <a:p>
            <a:pPr marL="0" indent="0" algn="l">
              <a:buNone/>
            </a:pPr>
            <a:r>
              <a:rPr lang="en-US" sz="2160" b="1" dirty="0">
                <a:solidFill>
                  <a:srgbClr val="F28C28"/>
                </a:solidFill>
                <a:latin typeface="Aptos Display" pitchFamily="34" charset="0"/>
                <a:ea typeface="Aptos Display" pitchFamily="34" charset="-122"/>
                <a:cs typeface="Aptos Display" pitchFamily="34" charset="-120"/>
              </a:rPr>
              <a:t>2018–2021</a:t>
            </a:r>
            <a:endParaRPr lang="en-US" sz="2160" dirty="0"/>
          </a:p>
        </p:txBody>
      </p:sp>
      <p:sp>
        <p:nvSpPr>
          <p:cNvPr id="16" name="Text 14"/>
          <p:cNvSpPr/>
          <p:nvPr/>
        </p:nvSpPr>
        <p:spPr>
          <a:xfrm>
            <a:off x="5303520" y="2154326"/>
            <a:ext cx="2057400" cy="263347"/>
          </a:xfrm>
          <a:prstGeom prst="rect">
            <a:avLst/>
          </a:prstGeom>
          <a:noFill/>
          <a:ln/>
        </p:spPr>
        <p:txBody>
          <a:bodyPr wrap="square" lIns="127" tIns="127" rIns="127" bIns="127" rtlCol="0" anchor="t">
            <a:normAutofit/>
          </a:bodyPr>
          <a:lstStyle/>
          <a:p>
            <a:pPr marL="0" indent="0" algn="l">
              <a:buNone/>
            </a:pPr>
            <a:r>
              <a:rPr lang="en-US" sz="1080" b="1" dirty="0">
                <a:solidFill>
                  <a:srgbClr val="0B1F3A"/>
                </a:solidFill>
                <a:latin typeface="Aptos" pitchFamily="34" charset="0"/>
                <a:ea typeface="Aptos" pitchFamily="34" charset="-122"/>
                <a:cs typeface="Aptos" pitchFamily="34" charset="-120"/>
              </a:rPr>
              <a:t>Time coverage</a:t>
            </a:r>
            <a:endParaRPr lang="en-US" sz="1080" dirty="0"/>
          </a:p>
        </p:txBody>
      </p:sp>
      <p:sp>
        <p:nvSpPr>
          <p:cNvPr id="17" name="Text 15"/>
          <p:cNvSpPr/>
          <p:nvPr/>
        </p:nvSpPr>
        <p:spPr>
          <a:xfrm>
            <a:off x="5303520" y="2461565"/>
            <a:ext cx="2057400" cy="329184"/>
          </a:xfrm>
          <a:prstGeom prst="rect">
            <a:avLst/>
          </a:prstGeom>
          <a:noFill/>
          <a:ln/>
        </p:spPr>
        <p:txBody>
          <a:bodyPr wrap="square" lIns="127" tIns="127" rIns="127" bIns="127" rtlCol="0" anchor="t">
            <a:normAutofit/>
          </a:bodyPr>
          <a:lstStyle/>
          <a:p>
            <a:pPr marL="0" indent="0" algn="l">
              <a:buNone/>
            </a:pPr>
            <a:r>
              <a:rPr lang="en-US" sz="870" dirty="0">
                <a:solidFill>
                  <a:srgbClr val="5B6770"/>
                </a:solidFill>
                <a:latin typeface="Aptos" pitchFamily="34" charset="0"/>
                <a:ea typeface="Aptos" pitchFamily="34" charset="-122"/>
                <a:cs typeface="Aptos" pitchFamily="34" charset="-120"/>
              </a:rPr>
              <a:t>Before, during, after COVID</a:t>
            </a:r>
            <a:endParaRPr lang="en-US" sz="870" dirty="0"/>
          </a:p>
        </p:txBody>
      </p:sp>
      <p:sp>
        <p:nvSpPr>
          <p:cNvPr id="18" name="Text 16"/>
          <p:cNvSpPr/>
          <p:nvPr/>
        </p:nvSpPr>
        <p:spPr>
          <a:xfrm>
            <a:off x="7635240" y="1737360"/>
            <a:ext cx="2057400" cy="384048"/>
          </a:xfrm>
          <a:prstGeom prst="rect">
            <a:avLst/>
          </a:prstGeom>
          <a:noFill/>
          <a:ln/>
        </p:spPr>
        <p:txBody>
          <a:bodyPr wrap="square" lIns="127" tIns="127" rIns="127" bIns="127" rtlCol="0" anchor="t">
            <a:normAutofit/>
          </a:bodyPr>
          <a:lstStyle/>
          <a:p>
            <a:pPr marL="0" indent="0" algn="l">
              <a:buNone/>
            </a:pPr>
            <a:r>
              <a:rPr lang="en-US" sz="2160" b="1" dirty="0">
                <a:solidFill>
                  <a:srgbClr val="1F4E79"/>
                </a:solidFill>
                <a:latin typeface="Aptos Display" pitchFamily="34" charset="0"/>
                <a:ea typeface="Aptos Display" pitchFamily="34" charset="-122"/>
                <a:cs typeface="Aptos Display" pitchFamily="34" charset="-120"/>
              </a:rPr>
              <a:t>640,590</a:t>
            </a:r>
            <a:endParaRPr lang="en-US" sz="2160" dirty="0"/>
          </a:p>
        </p:txBody>
      </p:sp>
      <p:sp>
        <p:nvSpPr>
          <p:cNvPr id="19" name="Text 17"/>
          <p:cNvSpPr/>
          <p:nvPr/>
        </p:nvSpPr>
        <p:spPr>
          <a:xfrm>
            <a:off x="7635240" y="2154326"/>
            <a:ext cx="2057400" cy="263347"/>
          </a:xfrm>
          <a:prstGeom prst="rect">
            <a:avLst/>
          </a:prstGeom>
          <a:noFill/>
          <a:ln/>
        </p:spPr>
        <p:txBody>
          <a:bodyPr wrap="square" lIns="127" tIns="127" rIns="127" bIns="127" rtlCol="0" anchor="t">
            <a:normAutofit/>
          </a:bodyPr>
          <a:lstStyle/>
          <a:p>
            <a:pPr marL="0" indent="0" algn="l">
              <a:buNone/>
            </a:pPr>
            <a:r>
              <a:rPr lang="en-US" sz="1080" b="1" dirty="0">
                <a:solidFill>
                  <a:srgbClr val="0B1F3A"/>
                </a:solidFill>
                <a:latin typeface="Aptos" pitchFamily="34" charset="0"/>
                <a:ea typeface="Aptos" pitchFamily="34" charset="-122"/>
                <a:cs typeface="Aptos" pitchFamily="34" charset="-120"/>
              </a:rPr>
              <a:t>Max weekly volume</a:t>
            </a:r>
            <a:endParaRPr lang="en-US" sz="1080" dirty="0"/>
          </a:p>
        </p:txBody>
      </p:sp>
      <p:sp>
        <p:nvSpPr>
          <p:cNvPr id="20" name="Text 18"/>
          <p:cNvSpPr/>
          <p:nvPr/>
        </p:nvSpPr>
        <p:spPr>
          <a:xfrm>
            <a:off x="7635240" y="2461565"/>
            <a:ext cx="2057400" cy="329184"/>
          </a:xfrm>
          <a:prstGeom prst="rect">
            <a:avLst/>
          </a:prstGeom>
          <a:noFill/>
          <a:ln/>
        </p:spPr>
        <p:txBody>
          <a:bodyPr wrap="square" lIns="127" tIns="127" rIns="127" bIns="127" rtlCol="0" anchor="t">
            <a:normAutofit/>
          </a:bodyPr>
          <a:lstStyle/>
          <a:p>
            <a:pPr marL="0" indent="0" algn="l">
              <a:buNone/>
            </a:pPr>
            <a:r>
              <a:rPr lang="en-US" sz="870" dirty="0">
                <a:solidFill>
                  <a:srgbClr val="5B6770"/>
                </a:solidFill>
                <a:latin typeface="Aptos" pitchFamily="34" charset="0"/>
                <a:ea typeface="Aptos" pitchFamily="34" charset="-122"/>
                <a:cs typeface="Aptos" pitchFamily="34" charset="-120"/>
              </a:rPr>
              <a:t>Largest row volume</a:t>
            </a:r>
            <a:endParaRPr lang="en-US" sz="870" dirty="0"/>
          </a:p>
        </p:txBody>
      </p:sp>
      <p:sp>
        <p:nvSpPr>
          <p:cNvPr id="21" name="Shape 19"/>
          <p:cNvSpPr/>
          <p:nvPr/>
        </p:nvSpPr>
        <p:spPr>
          <a:xfrm>
            <a:off x="777240" y="3429000"/>
            <a:ext cx="10607040" cy="1234440"/>
          </a:xfrm>
          <a:prstGeom prst="roundRect">
            <a:avLst/>
          </a:prstGeom>
          <a:solidFill>
            <a:srgbClr val="FFFFFF"/>
          </a:solidFill>
          <a:ln w="12700">
            <a:solidFill>
              <a:srgbClr val="D6DEE8"/>
            </a:solidFill>
            <a:prstDash val="solid"/>
          </a:ln>
        </p:spPr>
        <p:txBody>
          <a:bodyPr/>
          <a:lstStyle/>
          <a:p>
            <a:endParaRPr lang="en-US" dirty="0"/>
          </a:p>
        </p:txBody>
      </p:sp>
      <p:sp>
        <p:nvSpPr>
          <p:cNvPr id="22" name="Text 20"/>
          <p:cNvSpPr/>
          <p:nvPr/>
        </p:nvSpPr>
        <p:spPr>
          <a:xfrm>
            <a:off x="1005840" y="3639312"/>
            <a:ext cx="2286000" cy="256032"/>
          </a:xfrm>
          <a:prstGeom prst="rect">
            <a:avLst/>
          </a:prstGeom>
          <a:noFill/>
          <a:ln/>
        </p:spPr>
        <p:txBody>
          <a:bodyPr wrap="square" lIns="508" tIns="508" rIns="508" bIns="508" rtlCol="0" anchor="t">
            <a:normAutofit/>
          </a:bodyPr>
          <a:lstStyle/>
          <a:p>
            <a:pPr marL="0" indent="0" algn="l">
              <a:buNone/>
            </a:pPr>
            <a:r>
              <a:rPr lang="en-US" sz="1400" b="1" dirty="0">
                <a:solidFill>
                  <a:srgbClr val="0B1F3A"/>
                </a:solidFill>
                <a:latin typeface="Aptos" pitchFamily="34" charset="0"/>
                <a:ea typeface="Aptos" pitchFamily="34" charset="-122"/>
                <a:cs typeface="Aptos" pitchFamily="34" charset="-120"/>
              </a:rPr>
              <a:t>Fields used in this analysis</a:t>
            </a:r>
            <a:endParaRPr lang="en-US" sz="1400" dirty="0"/>
          </a:p>
        </p:txBody>
      </p:sp>
      <p:sp>
        <p:nvSpPr>
          <p:cNvPr id="23" name="Text 21"/>
          <p:cNvSpPr/>
          <p:nvPr/>
        </p:nvSpPr>
        <p:spPr>
          <a:xfrm>
            <a:off x="3474720" y="3593592"/>
            <a:ext cx="1417320" cy="384048"/>
          </a:xfrm>
          <a:prstGeom prst="roundRect">
            <a:avLst/>
          </a:prstGeom>
          <a:solidFill>
            <a:srgbClr val="145DA0"/>
          </a:solidFill>
          <a:ln>
            <a:solidFill>
              <a:srgbClr val="145DA0"/>
            </a:solidFill>
          </a:ln>
        </p:spPr>
        <p:txBody>
          <a:bodyPr wrap="square" lIns="254" tIns="254" rIns="254" bIns="25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FakeCustomerID</a:t>
            </a:r>
            <a:endParaRPr lang="en-US" sz="1100" dirty="0"/>
          </a:p>
        </p:txBody>
      </p:sp>
      <p:sp>
        <p:nvSpPr>
          <p:cNvPr id="24" name="Text 22"/>
          <p:cNvSpPr/>
          <p:nvPr/>
        </p:nvSpPr>
        <p:spPr>
          <a:xfrm>
            <a:off x="5257800" y="3593592"/>
            <a:ext cx="1417320" cy="384048"/>
          </a:xfrm>
          <a:prstGeom prst="roundRect">
            <a:avLst/>
          </a:prstGeom>
          <a:solidFill>
            <a:srgbClr val="145DA0"/>
          </a:solidFill>
          <a:ln>
            <a:solidFill>
              <a:srgbClr val="145DA0"/>
            </a:solidFill>
          </a:ln>
        </p:spPr>
        <p:txBody>
          <a:bodyPr wrap="square" lIns="254" tIns="254" rIns="254" bIns="25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THE_YEAR</a:t>
            </a:r>
            <a:endParaRPr lang="en-US" sz="1100" dirty="0"/>
          </a:p>
        </p:txBody>
      </p:sp>
      <p:sp>
        <p:nvSpPr>
          <p:cNvPr id="25" name="Text 23"/>
          <p:cNvSpPr/>
          <p:nvPr/>
        </p:nvSpPr>
        <p:spPr>
          <a:xfrm>
            <a:off x="7040880" y="3593592"/>
            <a:ext cx="1417320" cy="384048"/>
          </a:xfrm>
          <a:prstGeom prst="roundRect">
            <a:avLst/>
          </a:prstGeom>
          <a:solidFill>
            <a:srgbClr val="145DA0"/>
          </a:solidFill>
          <a:ln>
            <a:solidFill>
              <a:srgbClr val="145DA0"/>
            </a:solidFill>
          </a:ln>
        </p:spPr>
        <p:txBody>
          <a:bodyPr wrap="square" lIns="254" tIns="254" rIns="254" bIns="25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THE_WEEK</a:t>
            </a:r>
            <a:endParaRPr lang="en-US" sz="1100" dirty="0"/>
          </a:p>
        </p:txBody>
      </p:sp>
      <p:sp>
        <p:nvSpPr>
          <p:cNvPr id="26" name="Text 24"/>
          <p:cNvSpPr/>
          <p:nvPr/>
        </p:nvSpPr>
        <p:spPr>
          <a:xfrm>
            <a:off x="8823960" y="3593592"/>
            <a:ext cx="1417320" cy="384048"/>
          </a:xfrm>
          <a:prstGeom prst="roundRect">
            <a:avLst/>
          </a:prstGeom>
          <a:solidFill>
            <a:srgbClr val="F28C28"/>
          </a:solidFill>
          <a:ln>
            <a:solidFill>
              <a:srgbClr val="F28C28"/>
            </a:solidFill>
          </a:ln>
        </p:spPr>
        <p:txBody>
          <a:bodyPr wrap="square" lIns="254" tIns="254" rIns="254" bIns="25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VOLUME</a:t>
            </a:r>
            <a:endParaRPr lang="en-US" sz="1100" dirty="0"/>
          </a:p>
        </p:txBody>
      </p:sp>
      <p:sp>
        <p:nvSpPr>
          <p:cNvPr id="27" name="Text 25"/>
          <p:cNvSpPr/>
          <p:nvPr/>
        </p:nvSpPr>
        <p:spPr>
          <a:xfrm>
            <a:off x="1005840" y="4160520"/>
            <a:ext cx="9692640" cy="256032"/>
          </a:xfrm>
          <a:prstGeom prst="rect">
            <a:avLst/>
          </a:prstGeom>
          <a:noFill/>
          <a:ln/>
        </p:spPr>
        <p:txBody>
          <a:bodyPr wrap="square" lIns="508" tIns="508" rIns="508" bIns="508" rtlCol="0" anchor="t">
            <a:normAutofit/>
          </a:bodyPr>
          <a:lstStyle/>
          <a:p>
            <a:pPr marL="0" indent="0" algn="l">
              <a:buNone/>
            </a:pPr>
            <a:r>
              <a:rPr lang="en-US" sz="1250" dirty="0">
                <a:solidFill>
                  <a:srgbClr val="5B6770"/>
                </a:solidFill>
                <a:latin typeface="Aptos" pitchFamily="34" charset="0"/>
                <a:ea typeface="Aptos" pitchFamily="34" charset="-122"/>
                <a:cs typeface="Aptos" pitchFamily="34" charset="-120"/>
              </a:rPr>
              <a:t>Analysis period split: Pre-COVID baseline, COVID observation period, peak season, and post-2020 normalization.</a:t>
            </a:r>
            <a:endParaRPr lang="en-US" sz="1250" dirty="0"/>
          </a:p>
        </p:txBody>
      </p:sp>
      <p:sp>
        <p:nvSpPr>
          <p:cNvPr id="28" name="Text 26"/>
          <p:cNvSpPr/>
          <p:nvPr/>
        </p:nvSpPr>
        <p:spPr>
          <a:xfrm>
            <a:off x="676656" y="5879592"/>
            <a:ext cx="10789920" cy="402336"/>
          </a:xfrm>
          <a:prstGeom prst="roundRect">
            <a:avLst/>
          </a:prstGeom>
          <a:solidFill>
            <a:srgbClr val="EAF4FF"/>
          </a:solidFill>
          <a:ln>
            <a:solidFill>
              <a:srgbClr val="C9DDF4"/>
            </a:solidFill>
          </a:ln>
        </p:spPr>
        <p:txBody>
          <a:bodyPr wrap="square" lIns="1016" tIns="1016" rIns="1016" bIns="1016" rtlCol="0" anchor="ctr">
            <a:normAutofit/>
          </a:bodyPr>
          <a:lstStyle/>
          <a:p>
            <a:pPr marL="0" indent="0">
              <a:buNone/>
            </a:pPr>
            <a:r>
              <a:rPr lang="en-US" sz="1250" b="1" dirty="0">
                <a:solidFill>
                  <a:srgbClr val="0B1F3A"/>
                </a:solidFill>
                <a:latin typeface="Aptos" pitchFamily="34" charset="0"/>
                <a:ea typeface="Aptos" pitchFamily="34" charset="-122"/>
                <a:cs typeface="Aptos" pitchFamily="34" charset="-120"/>
              </a:rPr>
              <a:t>Key takeaway: The dataset supports robust trend and segmentation analysis, but it does not include a direct revenue column.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B"/>
          </a:solidFill>
          <a:ln w="12700">
            <a:solidFill>
              <a:srgbClr val="FFFFFF">
                <a:alpha val="0"/>
              </a:srgbClr>
            </a:solidFill>
            <a:prstDash val="solid"/>
          </a:ln>
        </p:spPr>
        <p:txBody>
          <a:bodyPr/>
          <a:lstStyle/>
          <a:p>
            <a:endParaRPr lang="en-US"/>
          </a:p>
        </p:txBody>
      </p:sp>
      <p:sp>
        <p:nvSpPr>
          <p:cNvPr id="3" name="Shape 1"/>
          <p:cNvSpPr/>
          <p:nvPr/>
        </p:nvSpPr>
        <p:spPr>
          <a:xfrm>
            <a:off x="0" y="0"/>
            <a:ext cx="12191695" cy="137160"/>
          </a:xfrm>
          <a:prstGeom prst="rect">
            <a:avLst/>
          </a:prstGeom>
          <a:solidFill>
            <a:srgbClr val="0B1F3A"/>
          </a:solidFill>
          <a:ln w="12700">
            <a:solidFill>
              <a:srgbClr val="FFFFFF">
                <a:alpha val="0"/>
              </a:srgbClr>
            </a:solidFill>
            <a:prstDash val="solid"/>
          </a:ln>
        </p:spPr>
        <p:txBody>
          <a:bodyPr/>
          <a:lstStyle/>
          <a:p>
            <a:endParaRPr lang="en-US"/>
          </a:p>
        </p:txBody>
      </p:sp>
      <p:sp>
        <p:nvSpPr>
          <p:cNvPr id="4" name="Text 2"/>
          <p:cNvSpPr/>
          <p:nvPr/>
        </p:nvSpPr>
        <p:spPr>
          <a:xfrm>
            <a:off x="502920" y="411480"/>
            <a:ext cx="960120" cy="301752"/>
          </a:xfrm>
          <a:prstGeom prst="roundRect">
            <a:avLst/>
          </a:prstGeom>
          <a:solidFill>
            <a:srgbClr val="00A6A6"/>
          </a:solidFill>
          <a:ln>
            <a:solidFill>
              <a:srgbClr val="00A6A6"/>
            </a:solidFill>
          </a:ln>
        </p:spPr>
        <p:txBody>
          <a:bodyPr wrap="square" lIns="254" tIns="254" rIns="254" bIns="25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STEP 2</a:t>
            </a:r>
            <a:endParaRPr lang="en-US" sz="1100" dirty="0"/>
          </a:p>
        </p:txBody>
      </p:sp>
      <p:sp>
        <p:nvSpPr>
          <p:cNvPr id="5" name="Text 3"/>
          <p:cNvSpPr/>
          <p:nvPr/>
        </p:nvSpPr>
        <p:spPr>
          <a:xfrm>
            <a:off x="502920" y="786384"/>
            <a:ext cx="8778240" cy="438912"/>
          </a:xfrm>
          <a:prstGeom prst="rect">
            <a:avLst/>
          </a:prstGeom>
          <a:noFill/>
          <a:ln/>
        </p:spPr>
        <p:txBody>
          <a:bodyPr wrap="square" lIns="508" tIns="508" rIns="508" bIns="508" rtlCol="0" anchor="t">
            <a:normAutofit lnSpcReduction="10000"/>
          </a:bodyPr>
          <a:lstStyle/>
          <a:p>
            <a:pPr marL="0" indent="0" algn="l">
              <a:buNone/>
            </a:pPr>
            <a:r>
              <a:rPr lang="en-US" sz="2900" b="1" dirty="0">
                <a:solidFill>
                  <a:srgbClr val="0B1F3A"/>
                </a:solidFill>
                <a:latin typeface="Aptos Display" pitchFamily="34" charset="0"/>
                <a:ea typeface="Aptos Display" pitchFamily="34" charset="-122"/>
                <a:cs typeface="Aptos Display" pitchFamily="34" charset="-120"/>
              </a:rPr>
              <a:t>Build the normal-growth baseline: ISGR = 11.4%</a:t>
            </a:r>
            <a:endParaRPr lang="en-US" sz="2900" dirty="0"/>
          </a:p>
        </p:txBody>
      </p:sp>
      <p:sp>
        <p:nvSpPr>
          <p:cNvPr id="6" name="Text 4"/>
          <p:cNvSpPr/>
          <p:nvPr/>
        </p:nvSpPr>
        <p:spPr>
          <a:xfrm>
            <a:off x="521208" y="1243584"/>
            <a:ext cx="8138160" cy="320040"/>
          </a:xfrm>
          <a:prstGeom prst="rect">
            <a:avLst/>
          </a:prstGeom>
          <a:noFill/>
          <a:ln/>
        </p:spPr>
        <p:txBody>
          <a:bodyPr wrap="square" lIns="508" tIns="508" rIns="508" bIns="508" rtlCol="0" anchor="t">
            <a:normAutofit/>
          </a:bodyPr>
          <a:lstStyle/>
          <a:p>
            <a:pPr marL="0" indent="0" algn="l">
              <a:buNone/>
            </a:pPr>
            <a:r>
              <a:rPr lang="en-US" sz="1350" dirty="0">
                <a:solidFill>
                  <a:srgbClr val="5B6770"/>
                </a:solidFill>
                <a:latin typeface="Aptos" pitchFamily="34" charset="0"/>
                <a:ea typeface="Aptos" pitchFamily="34" charset="-122"/>
                <a:cs typeface="Aptos" pitchFamily="34" charset="-120"/>
              </a:rPr>
              <a:t>Early 2019 vs early 2020 is used as the pre-COVID benchmark.</a:t>
            </a:r>
            <a:endParaRPr lang="en-US" sz="1350" dirty="0"/>
          </a:p>
        </p:txBody>
      </p:sp>
      <p:sp>
        <p:nvSpPr>
          <p:cNvPr id="7" name="Text 5"/>
          <p:cNvSpPr/>
          <p:nvPr/>
        </p:nvSpPr>
        <p:spPr>
          <a:xfrm>
            <a:off x="502920" y="6510528"/>
            <a:ext cx="5303520" cy="201168"/>
          </a:xfrm>
          <a:prstGeom prst="rect">
            <a:avLst/>
          </a:prstGeom>
          <a:noFill/>
          <a:ln/>
        </p:spPr>
        <p:txBody>
          <a:bodyPr wrap="square" lIns="508" tIns="508" rIns="508" bIns="508" rtlCol="0" anchor="t">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Impact of COVID-19 on ABC Company Parcel Business</a:t>
            </a:r>
            <a:endParaRPr lang="en-US" sz="850" dirty="0"/>
          </a:p>
        </p:txBody>
      </p:sp>
      <p:sp>
        <p:nvSpPr>
          <p:cNvPr id="8" name="Text 6"/>
          <p:cNvSpPr/>
          <p:nvPr/>
        </p:nvSpPr>
        <p:spPr>
          <a:xfrm>
            <a:off x="11384280" y="6510528"/>
            <a:ext cx="320040" cy="201168"/>
          </a:xfrm>
          <a:prstGeom prst="rect">
            <a:avLst/>
          </a:prstGeom>
          <a:noFill/>
          <a:ln/>
        </p:spPr>
        <p:txBody>
          <a:bodyPr wrap="square" lIns="508" tIns="508" rIns="508" bIns="508" rtlCol="0" anchor="t">
            <a:normAutofit/>
          </a:bodyPr>
          <a:lstStyle/>
          <a:p>
            <a:pPr marL="0" indent="0" algn="r">
              <a:buNone/>
            </a:pPr>
            <a:r>
              <a:rPr lang="en-US" sz="850" dirty="0">
                <a:solidFill>
                  <a:srgbClr val="6B7280"/>
                </a:solidFill>
                <a:latin typeface="Aptos" pitchFamily="34" charset="0"/>
                <a:ea typeface="Aptos" pitchFamily="34" charset="-122"/>
                <a:cs typeface="Aptos" pitchFamily="34" charset="-120"/>
              </a:rPr>
              <a:t>4</a:t>
            </a:r>
            <a:endParaRPr lang="en-US" sz="850" dirty="0"/>
          </a:p>
        </p:txBody>
      </p:sp>
      <p:graphicFrame>
        <p:nvGraphicFramePr>
          <p:cNvPr id="9" name="Chart 0"/>
          <p:cNvGraphicFramePr/>
          <p:nvPr/>
        </p:nvGraphicFramePr>
        <p:xfrm>
          <a:off x="749808" y="1920240"/>
          <a:ext cx="566928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p:nvPr/>
        </p:nvSpPr>
        <p:spPr>
          <a:xfrm>
            <a:off x="6995160" y="1920240"/>
            <a:ext cx="3566160" cy="432054"/>
          </a:xfrm>
          <a:prstGeom prst="rect">
            <a:avLst/>
          </a:prstGeom>
          <a:noFill/>
          <a:ln/>
        </p:spPr>
        <p:txBody>
          <a:bodyPr wrap="square" lIns="127" tIns="127" rIns="127" bIns="127" rtlCol="0" anchor="t">
            <a:normAutofit/>
          </a:bodyPr>
          <a:lstStyle/>
          <a:p>
            <a:pPr marL="0" indent="0" algn="l">
              <a:buNone/>
            </a:pPr>
            <a:r>
              <a:rPr lang="en-US" sz="2430" b="1" dirty="0">
                <a:solidFill>
                  <a:srgbClr val="F28C28"/>
                </a:solidFill>
                <a:latin typeface="Aptos Display" pitchFamily="34" charset="0"/>
                <a:ea typeface="Aptos Display" pitchFamily="34" charset="-122"/>
                <a:cs typeface="Aptos Display" pitchFamily="34" charset="-120"/>
              </a:rPr>
              <a:t>11.4%</a:t>
            </a:r>
            <a:endParaRPr lang="en-US" sz="2430" dirty="0"/>
          </a:p>
        </p:txBody>
      </p:sp>
      <p:sp>
        <p:nvSpPr>
          <p:cNvPr id="11" name="Text 8"/>
          <p:cNvSpPr/>
          <p:nvPr/>
        </p:nvSpPr>
        <p:spPr>
          <a:xfrm>
            <a:off x="6995160" y="2389327"/>
            <a:ext cx="3566160" cy="296266"/>
          </a:xfrm>
          <a:prstGeom prst="rect">
            <a:avLst/>
          </a:prstGeom>
          <a:noFill/>
          <a:ln/>
        </p:spPr>
        <p:txBody>
          <a:bodyPr wrap="square" lIns="127" tIns="127" rIns="127" bIns="127" rtlCol="0" anchor="t">
            <a:normAutofit/>
          </a:bodyPr>
          <a:lstStyle/>
          <a:p>
            <a:pPr marL="0" indent="0" algn="l">
              <a:buNone/>
            </a:pPr>
            <a:r>
              <a:rPr lang="en-US" sz="1080" b="1" dirty="0">
                <a:solidFill>
                  <a:srgbClr val="0B1F3A"/>
                </a:solidFill>
                <a:latin typeface="Aptos" pitchFamily="34" charset="0"/>
                <a:ea typeface="Aptos" pitchFamily="34" charset="-122"/>
                <a:cs typeface="Aptos" pitchFamily="34" charset="-120"/>
              </a:rPr>
              <a:t>Baseline growth rate</a:t>
            </a:r>
            <a:endParaRPr lang="en-US" sz="1080" dirty="0"/>
          </a:p>
        </p:txBody>
      </p:sp>
      <p:sp>
        <p:nvSpPr>
          <p:cNvPr id="12" name="Text 9"/>
          <p:cNvSpPr/>
          <p:nvPr/>
        </p:nvSpPr>
        <p:spPr>
          <a:xfrm>
            <a:off x="6995160" y="2734970"/>
            <a:ext cx="3566160" cy="370332"/>
          </a:xfrm>
          <a:prstGeom prst="rect">
            <a:avLst/>
          </a:prstGeom>
          <a:noFill/>
          <a:ln/>
        </p:spPr>
        <p:txBody>
          <a:bodyPr wrap="square" lIns="127" tIns="127" rIns="127" bIns="127" rtlCol="0" anchor="t">
            <a:normAutofit/>
          </a:bodyPr>
          <a:lstStyle/>
          <a:p>
            <a:pPr marL="0" indent="0" algn="l">
              <a:buNone/>
            </a:pPr>
            <a:r>
              <a:rPr lang="en-US" sz="870" dirty="0">
                <a:solidFill>
                  <a:srgbClr val="5B6770"/>
                </a:solidFill>
                <a:latin typeface="Aptos" pitchFamily="34" charset="0"/>
                <a:ea typeface="Aptos" pitchFamily="34" charset="-122"/>
                <a:cs typeface="Aptos" pitchFamily="34" charset="-120"/>
              </a:rPr>
              <a:t>Industry Standard Growth Rate</a:t>
            </a:r>
            <a:endParaRPr lang="en-US" sz="870" dirty="0"/>
          </a:p>
        </p:txBody>
      </p:sp>
      <p:sp>
        <p:nvSpPr>
          <p:cNvPr id="13" name="Text 10"/>
          <p:cNvSpPr/>
          <p:nvPr/>
        </p:nvSpPr>
        <p:spPr>
          <a:xfrm>
            <a:off x="7086600" y="3520440"/>
            <a:ext cx="3474720" cy="292608"/>
          </a:xfrm>
          <a:prstGeom prst="rect">
            <a:avLst/>
          </a:prstGeom>
          <a:noFill/>
          <a:ln/>
        </p:spPr>
        <p:txBody>
          <a:bodyPr wrap="square" lIns="508" tIns="508" rIns="508" bIns="508" rtlCol="0" anchor="t">
            <a:normAutofit/>
          </a:bodyPr>
          <a:lstStyle/>
          <a:p>
            <a:pPr marL="0" indent="0" algn="l">
              <a:buNone/>
            </a:pPr>
            <a:r>
              <a:rPr lang="en-US" sz="1600" b="1" dirty="0">
                <a:solidFill>
                  <a:srgbClr val="0B1F3A"/>
                </a:solidFill>
                <a:latin typeface="Aptos" pitchFamily="34" charset="0"/>
                <a:ea typeface="Aptos" pitchFamily="34" charset="-122"/>
                <a:cs typeface="Aptos" pitchFamily="34" charset="-120"/>
              </a:rPr>
              <a:t>Why this matters</a:t>
            </a:r>
            <a:endParaRPr lang="en-US" sz="1600" dirty="0"/>
          </a:p>
        </p:txBody>
      </p:sp>
      <p:sp>
        <p:nvSpPr>
          <p:cNvPr id="14" name="Text 11"/>
          <p:cNvSpPr/>
          <p:nvPr/>
        </p:nvSpPr>
        <p:spPr>
          <a:xfrm>
            <a:off x="7086600" y="3886200"/>
            <a:ext cx="3429000" cy="896112"/>
          </a:xfrm>
          <a:prstGeom prst="rect">
            <a:avLst/>
          </a:prstGeom>
          <a:noFill/>
          <a:ln/>
        </p:spPr>
        <p:txBody>
          <a:bodyPr wrap="square" lIns="508" tIns="508" rIns="508" bIns="508" rtlCol="0" anchor="t">
            <a:normAutofit/>
          </a:bodyPr>
          <a:lstStyle/>
          <a:p>
            <a:pPr marL="0" indent="0" algn="l">
              <a:buNone/>
            </a:pPr>
            <a:r>
              <a:rPr lang="en-US" sz="1400" dirty="0">
                <a:solidFill>
                  <a:srgbClr val="5B6770"/>
                </a:solidFill>
                <a:latin typeface="Aptos" pitchFamily="34" charset="0"/>
                <a:ea typeface="Aptos" pitchFamily="34" charset="-122"/>
                <a:cs typeface="Aptos" pitchFamily="34" charset="-120"/>
              </a:rPr>
              <a:t>Any customer or segment growing above 11.4% during COVID is treated as likely having pandemic-driven demand beyond normal business expansion.</a:t>
            </a:r>
            <a:endParaRPr lang="en-US" sz="1400" dirty="0"/>
          </a:p>
        </p:txBody>
      </p:sp>
      <p:sp>
        <p:nvSpPr>
          <p:cNvPr id="15" name="Text 12"/>
          <p:cNvSpPr/>
          <p:nvPr/>
        </p:nvSpPr>
        <p:spPr>
          <a:xfrm>
            <a:off x="676656" y="5879592"/>
            <a:ext cx="10789920" cy="402336"/>
          </a:xfrm>
          <a:prstGeom prst="roundRect">
            <a:avLst/>
          </a:prstGeom>
          <a:solidFill>
            <a:srgbClr val="EAF4FF"/>
          </a:solidFill>
          <a:ln>
            <a:solidFill>
              <a:srgbClr val="C9DDF4"/>
            </a:solidFill>
          </a:ln>
        </p:spPr>
        <p:txBody>
          <a:bodyPr wrap="square" lIns="1016" tIns="1016" rIns="1016" bIns="1016" rtlCol="0" anchor="ctr">
            <a:normAutofit/>
          </a:bodyPr>
          <a:lstStyle/>
          <a:p>
            <a:pPr marL="0" indent="0">
              <a:buNone/>
            </a:pPr>
            <a:r>
              <a:rPr lang="en-US" sz="1250" b="1" dirty="0">
                <a:solidFill>
                  <a:srgbClr val="0B1F3A"/>
                </a:solidFill>
                <a:latin typeface="Aptos" pitchFamily="34" charset="0"/>
                <a:ea typeface="Aptos" pitchFamily="34" charset="-122"/>
                <a:cs typeface="Aptos" pitchFamily="34" charset="-120"/>
              </a:rPr>
              <a:t>Key takeaway: The baseline prevents over-attributing normal business growth to COVID.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7883"/>
            <a:ext cx="12191695" cy="6858000"/>
          </a:xfrm>
          <a:prstGeom prst="rect">
            <a:avLst/>
          </a:prstGeom>
          <a:solidFill>
            <a:srgbClr val="F6F8FB"/>
          </a:solidFill>
          <a:ln w="12700">
            <a:solidFill>
              <a:srgbClr val="FFFFFF">
                <a:alpha val="0"/>
              </a:srgbClr>
            </a:solidFill>
            <a:prstDash val="solid"/>
          </a:ln>
        </p:spPr>
        <p:txBody>
          <a:bodyPr/>
          <a:lstStyle/>
          <a:p>
            <a:endParaRPr lang="en-US"/>
          </a:p>
        </p:txBody>
      </p:sp>
      <p:sp>
        <p:nvSpPr>
          <p:cNvPr id="3" name="Shape 1"/>
          <p:cNvSpPr/>
          <p:nvPr/>
        </p:nvSpPr>
        <p:spPr>
          <a:xfrm>
            <a:off x="0" y="0"/>
            <a:ext cx="12191695" cy="137160"/>
          </a:xfrm>
          <a:prstGeom prst="rect">
            <a:avLst/>
          </a:prstGeom>
          <a:solidFill>
            <a:srgbClr val="0B1F3A"/>
          </a:solidFill>
          <a:ln w="12700">
            <a:solidFill>
              <a:srgbClr val="FFFFFF">
                <a:alpha val="0"/>
              </a:srgbClr>
            </a:solidFill>
            <a:prstDash val="solid"/>
          </a:ln>
        </p:spPr>
        <p:txBody>
          <a:bodyPr/>
          <a:lstStyle/>
          <a:p>
            <a:endParaRPr lang="en-US"/>
          </a:p>
        </p:txBody>
      </p:sp>
      <p:sp>
        <p:nvSpPr>
          <p:cNvPr id="4" name="Text 2"/>
          <p:cNvSpPr/>
          <p:nvPr/>
        </p:nvSpPr>
        <p:spPr>
          <a:xfrm>
            <a:off x="502920" y="411480"/>
            <a:ext cx="960120" cy="301752"/>
          </a:xfrm>
          <a:prstGeom prst="roundRect">
            <a:avLst/>
          </a:prstGeom>
          <a:solidFill>
            <a:srgbClr val="00A6A6"/>
          </a:solidFill>
          <a:ln>
            <a:solidFill>
              <a:srgbClr val="00A6A6"/>
            </a:solidFill>
          </a:ln>
        </p:spPr>
        <p:txBody>
          <a:bodyPr wrap="square" lIns="254" tIns="254" rIns="254" bIns="25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STEP 3</a:t>
            </a:r>
            <a:endParaRPr lang="en-US" sz="1100" dirty="0"/>
          </a:p>
        </p:txBody>
      </p:sp>
      <p:sp>
        <p:nvSpPr>
          <p:cNvPr id="5" name="Text 3"/>
          <p:cNvSpPr/>
          <p:nvPr/>
        </p:nvSpPr>
        <p:spPr>
          <a:xfrm>
            <a:off x="502920" y="786384"/>
            <a:ext cx="8778240" cy="438912"/>
          </a:xfrm>
          <a:prstGeom prst="rect">
            <a:avLst/>
          </a:prstGeom>
          <a:noFill/>
          <a:ln/>
        </p:spPr>
        <p:txBody>
          <a:bodyPr wrap="square" lIns="508" tIns="508" rIns="508" bIns="508" rtlCol="0" anchor="t">
            <a:normAutofit lnSpcReduction="10000"/>
          </a:bodyPr>
          <a:lstStyle/>
          <a:p>
            <a:pPr marL="0" indent="0" algn="l">
              <a:buNone/>
            </a:pPr>
            <a:r>
              <a:rPr lang="en-US" sz="2900" b="1" dirty="0">
                <a:solidFill>
                  <a:srgbClr val="0B1F3A"/>
                </a:solidFill>
                <a:latin typeface="Aptos Display" pitchFamily="34" charset="0"/>
                <a:ea typeface="Aptos Display" pitchFamily="34" charset="-122"/>
                <a:cs typeface="Aptos Display" pitchFamily="34" charset="-120"/>
              </a:rPr>
              <a:t>Annual parcel volume: 2020 is the major inflection point</a:t>
            </a:r>
            <a:endParaRPr lang="en-US" sz="2900" dirty="0"/>
          </a:p>
        </p:txBody>
      </p:sp>
      <p:sp>
        <p:nvSpPr>
          <p:cNvPr id="6" name="Text 4"/>
          <p:cNvSpPr/>
          <p:nvPr/>
        </p:nvSpPr>
        <p:spPr>
          <a:xfrm>
            <a:off x="521208" y="1243584"/>
            <a:ext cx="8138160" cy="320040"/>
          </a:xfrm>
          <a:prstGeom prst="rect">
            <a:avLst/>
          </a:prstGeom>
          <a:noFill/>
          <a:ln/>
        </p:spPr>
        <p:txBody>
          <a:bodyPr wrap="square" lIns="508" tIns="508" rIns="508" bIns="508" rtlCol="0" anchor="t">
            <a:normAutofit/>
          </a:bodyPr>
          <a:lstStyle/>
          <a:p>
            <a:pPr marL="0" indent="0" algn="l">
              <a:buNone/>
            </a:pPr>
            <a:r>
              <a:rPr lang="en-US" sz="1350" dirty="0">
                <a:solidFill>
                  <a:srgbClr val="5B6770"/>
                </a:solidFill>
                <a:latin typeface="Aptos" pitchFamily="34" charset="0"/>
                <a:ea typeface="Aptos" pitchFamily="34" charset="-122"/>
                <a:cs typeface="Aptos" pitchFamily="34" charset="-120"/>
              </a:rPr>
              <a:t>Volumes surged in 2020, then normalized in 2021.</a:t>
            </a:r>
            <a:endParaRPr lang="en-US" sz="1350" dirty="0"/>
          </a:p>
        </p:txBody>
      </p:sp>
      <p:sp>
        <p:nvSpPr>
          <p:cNvPr id="7" name="Text 5"/>
          <p:cNvSpPr/>
          <p:nvPr/>
        </p:nvSpPr>
        <p:spPr>
          <a:xfrm>
            <a:off x="502920" y="6510528"/>
            <a:ext cx="5303520" cy="201168"/>
          </a:xfrm>
          <a:prstGeom prst="rect">
            <a:avLst/>
          </a:prstGeom>
          <a:noFill/>
          <a:ln/>
        </p:spPr>
        <p:txBody>
          <a:bodyPr wrap="square" lIns="508" tIns="508" rIns="508" bIns="508" rtlCol="0" anchor="t">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Impact of COVID-19 on ABC Company Parcel Business</a:t>
            </a:r>
            <a:endParaRPr lang="en-US" sz="850" dirty="0"/>
          </a:p>
        </p:txBody>
      </p:sp>
      <p:sp>
        <p:nvSpPr>
          <p:cNvPr id="8" name="Text 6"/>
          <p:cNvSpPr/>
          <p:nvPr/>
        </p:nvSpPr>
        <p:spPr>
          <a:xfrm>
            <a:off x="11384280" y="6510528"/>
            <a:ext cx="320040" cy="201168"/>
          </a:xfrm>
          <a:prstGeom prst="rect">
            <a:avLst/>
          </a:prstGeom>
          <a:noFill/>
          <a:ln/>
        </p:spPr>
        <p:txBody>
          <a:bodyPr wrap="square" lIns="508" tIns="508" rIns="508" bIns="508" rtlCol="0" anchor="t">
            <a:normAutofit/>
          </a:bodyPr>
          <a:lstStyle/>
          <a:p>
            <a:pPr marL="0" indent="0" algn="r">
              <a:buNone/>
            </a:pPr>
            <a:r>
              <a:rPr lang="en-US" sz="850" dirty="0">
                <a:solidFill>
                  <a:srgbClr val="6B7280"/>
                </a:solidFill>
                <a:latin typeface="Aptos" pitchFamily="34" charset="0"/>
                <a:ea typeface="Aptos" pitchFamily="34" charset="-122"/>
                <a:cs typeface="Aptos" pitchFamily="34" charset="-120"/>
              </a:rPr>
              <a:t>5</a:t>
            </a:r>
            <a:endParaRPr lang="en-US" sz="850" dirty="0"/>
          </a:p>
        </p:txBody>
      </p:sp>
      <p:graphicFrame>
        <p:nvGraphicFramePr>
          <p:cNvPr id="9" name="Chart 0"/>
          <p:cNvGraphicFramePr/>
          <p:nvPr>
            <p:extLst>
              <p:ext uri="{D42A27DB-BD31-4B8C-83A1-F6EECF244321}">
                <p14:modId xmlns:p14="http://schemas.microsoft.com/office/powerpoint/2010/main" val="2996136288"/>
              </p:ext>
            </p:extLst>
          </p:nvPr>
        </p:nvGraphicFramePr>
        <p:xfrm>
          <a:off x="685800" y="1783080"/>
          <a:ext cx="658368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p:nvPr/>
        </p:nvSpPr>
        <p:spPr>
          <a:xfrm>
            <a:off x="7726680" y="1828800"/>
            <a:ext cx="3108960" cy="292608"/>
          </a:xfrm>
          <a:prstGeom prst="rect">
            <a:avLst/>
          </a:prstGeom>
          <a:noFill/>
          <a:ln/>
        </p:spPr>
        <p:txBody>
          <a:bodyPr wrap="square" lIns="508" tIns="508" rIns="508" bIns="508" rtlCol="0" anchor="t">
            <a:normAutofit/>
          </a:bodyPr>
          <a:lstStyle/>
          <a:p>
            <a:pPr marL="0" indent="0" algn="l">
              <a:buNone/>
            </a:pPr>
            <a:r>
              <a:rPr lang="en-US" sz="1600" b="1" dirty="0">
                <a:solidFill>
                  <a:srgbClr val="0B1F3A"/>
                </a:solidFill>
                <a:latin typeface="Aptos" pitchFamily="34" charset="0"/>
                <a:ea typeface="Aptos" pitchFamily="34" charset="-122"/>
                <a:cs typeface="Aptos" pitchFamily="34" charset="-120"/>
              </a:rPr>
              <a:t>Year-over-year change</a:t>
            </a:r>
            <a:endParaRPr lang="en-US" sz="1600" dirty="0"/>
          </a:p>
        </p:txBody>
      </p:sp>
      <p:sp>
        <p:nvSpPr>
          <p:cNvPr id="11" name="Text 8"/>
          <p:cNvSpPr/>
          <p:nvPr/>
        </p:nvSpPr>
        <p:spPr>
          <a:xfrm>
            <a:off x="7818120" y="2331720"/>
            <a:ext cx="1417320" cy="228600"/>
          </a:xfrm>
          <a:prstGeom prst="rect">
            <a:avLst/>
          </a:prstGeom>
          <a:noFill/>
          <a:ln/>
        </p:spPr>
        <p:txBody>
          <a:bodyPr wrap="square" lIns="508" tIns="508" rIns="508" bIns="508" rtlCol="0" anchor="t">
            <a:normAutofit/>
          </a:bodyPr>
          <a:lstStyle/>
          <a:p>
            <a:pPr marL="0" indent="0" algn="l">
              <a:buNone/>
            </a:pPr>
            <a:r>
              <a:rPr lang="en-US" sz="1220" dirty="0">
                <a:solidFill>
                  <a:srgbClr val="5B6770"/>
                </a:solidFill>
                <a:latin typeface="Aptos" pitchFamily="34" charset="0"/>
                <a:ea typeface="Aptos" pitchFamily="34" charset="-122"/>
                <a:cs typeface="Aptos" pitchFamily="34" charset="-120"/>
              </a:rPr>
              <a:t>2019 vs 2018</a:t>
            </a:r>
            <a:endParaRPr lang="en-US" sz="1220" dirty="0"/>
          </a:p>
        </p:txBody>
      </p:sp>
      <p:sp>
        <p:nvSpPr>
          <p:cNvPr id="12" name="Text 9"/>
          <p:cNvSpPr/>
          <p:nvPr/>
        </p:nvSpPr>
        <p:spPr>
          <a:xfrm>
            <a:off x="9555480" y="2267712"/>
            <a:ext cx="1143000" cy="320040"/>
          </a:xfrm>
          <a:prstGeom prst="rect">
            <a:avLst/>
          </a:prstGeom>
          <a:noFill/>
          <a:ln/>
        </p:spPr>
        <p:txBody>
          <a:bodyPr wrap="square" lIns="508" tIns="508" rIns="508" bIns="508" rtlCol="0" anchor="t">
            <a:normAutofit/>
          </a:bodyPr>
          <a:lstStyle/>
          <a:p>
            <a:pPr marL="0" indent="0" algn="r">
              <a:buNone/>
            </a:pPr>
            <a:r>
              <a:rPr lang="en-US" sz="2000" b="1" dirty="0">
                <a:solidFill>
                  <a:srgbClr val="00A6A6"/>
                </a:solidFill>
                <a:latin typeface="Aptos" pitchFamily="34" charset="0"/>
                <a:ea typeface="Aptos" pitchFamily="34" charset="-122"/>
                <a:cs typeface="Aptos" pitchFamily="34" charset="-120"/>
              </a:rPr>
              <a:t>+7.6%</a:t>
            </a:r>
            <a:endParaRPr lang="en-US" sz="2000" dirty="0"/>
          </a:p>
        </p:txBody>
      </p:sp>
      <p:sp>
        <p:nvSpPr>
          <p:cNvPr id="13" name="Text 10"/>
          <p:cNvSpPr/>
          <p:nvPr/>
        </p:nvSpPr>
        <p:spPr>
          <a:xfrm>
            <a:off x="7818120" y="3063240"/>
            <a:ext cx="1417320" cy="228600"/>
          </a:xfrm>
          <a:prstGeom prst="rect">
            <a:avLst/>
          </a:prstGeom>
          <a:noFill/>
          <a:ln/>
        </p:spPr>
        <p:txBody>
          <a:bodyPr wrap="square" lIns="508" tIns="508" rIns="508" bIns="508" rtlCol="0" anchor="t">
            <a:normAutofit/>
          </a:bodyPr>
          <a:lstStyle/>
          <a:p>
            <a:pPr marL="0" indent="0" algn="l">
              <a:buNone/>
            </a:pPr>
            <a:r>
              <a:rPr lang="en-US" sz="1220" dirty="0">
                <a:solidFill>
                  <a:srgbClr val="5B6770"/>
                </a:solidFill>
                <a:latin typeface="Aptos" pitchFamily="34" charset="0"/>
                <a:ea typeface="Aptos" pitchFamily="34" charset="-122"/>
                <a:cs typeface="Aptos" pitchFamily="34" charset="-120"/>
              </a:rPr>
              <a:t>2020 vs 2019</a:t>
            </a:r>
            <a:endParaRPr lang="en-US" sz="1220" dirty="0"/>
          </a:p>
        </p:txBody>
      </p:sp>
      <p:sp>
        <p:nvSpPr>
          <p:cNvPr id="14" name="Text 11"/>
          <p:cNvSpPr/>
          <p:nvPr/>
        </p:nvSpPr>
        <p:spPr>
          <a:xfrm>
            <a:off x="9555480" y="2999232"/>
            <a:ext cx="1143000" cy="320040"/>
          </a:xfrm>
          <a:prstGeom prst="rect">
            <a:avLst/>
          </a:prstGeom>
          <a:noFill/>
          <a:ln/>
        </p:spPr>
        <p:txBody>
          <a:bodyPr wrap="square" lIns="508" tIns="508" rIns="508" bIns="508" rtlCol="0" anchor="t">
            <a:normAutofit/>
          </a:bodyPr>
          <a:lstStyle/>
          <a:p>
            <a:pPr marL="0" indent="0" algn="r">
              <a:buNone/>
            </a:pPr>
            <a:r>
              <a:rPr lang="en-US" sz="2000" b="1" dirty="0">
                <a:solidFill>
                  <a:srgbClr val="F28C28"/>
                </a:solidFill>
                <a:latin typeface="Aptos" pitchFamily="34" charset="0"/>
                <a:ea typeface="Aptos" pitchFamily="34" charset="-122"/>
                <a:cs typeface="Aptos" pitchFamily="34" charset="-120"/>
              </a:rPr>
              <a:t>+39.1%</a:t>
            </a:r>
            <a:endParaRPr lang="en-US" sz="2000" dirty="0"/>
          </a:p>
        </p:txBody>
      </p:sp>
      <p:sp>
        <p:nvSpPr>
          <p:cNvPr id="15" name="Text 12"/>
          <p:cNvSpPr/>
          <p:nvPr/>
        </p:nvSpPr>
        <p:spPr>
          <a:xfrm>
            <a:off x="7818120" y="3794760"/>
            <a:ext cx="1417320" cy="228600"/>
          </a:xfrm>
          <a:prstGeom prst="rect">
            <a:avLst/>
          </a:prstGeom>
          <a:noFill/>
          <a:ln/>
        </p:spPr>
        <p:txBody>
          <a:bodyPr wrap="square" lIns="508" tIns="508" rIns="508" bIns="508" rtlCol="0" anchor="t">
            <a:normAutofit/>
          </a:bodyPr>
          <a:lstStyle/>
          <a:p>
            <a:pPr marL="0" indent="0" algn="l">
              <a:buNone/>
            </a:pPr>
            <a:r>
              <a:rPr lang="en-US" sz="1220" dirty="0">
                <a:solidFill>
                  <a:srgbClr val="5B6770"/>
                </a:solidFill>
                <a:latin typeface="Aptos" pitchFamily="34" charset="0"/>
                <a:ea typeface="Aptos" pitchFamily="34" charset="-122"/>
                <a:cs typeface="Aptos" pitchFamily="34" charset="-120"/>
              </a:rPr>
              <a:t>2021 vs 2020</a:t>
            </a:r>
            <a:endParaRPr lang="en-US" sz="1220" dirty="0"/>
          </a:p>
        </p:txBody>
      </p:sp>
      <p:sp>
        <p:nvSpPr>
          <p:cNvPr id="16" name="Text 13"/>
          <p:cNvSpPr/>
          <p:nvPr/>
        </p:nvSpPr>
        <p:spPr>
          <a:xfrm>
            <a:off x="9555480" y="3730752"/>
            <a:ext cx="1143000" cy="320040"/>
          </a:xfrm>
          <a:prstGeom prst="rect">
            <a:avLst/>
          </a:prstGeom>
          <a:noFill/>
          <a:ln/>
        </p:spPr>
        <p:txBody>
          <a:bodyPr wrap="square" lIns="508" tIns="508" rIns="508" bIns="508" rtlCol="0" anchor="t">
            <a:normAutofit/>
          </a:bodyPr>
          <a:lstStyle/>
          <a:p>
            <a:pPr marL="0" indent="0" algn="r">
              <a:buNone/>
            </a:pPr>
            <a:r>
              <a:rPr lang="en-US" sz="2000" b="1" dirty="0">
                <a:solidFill>
                  <a:srgbClr val="C0392B"/>
                </a:solidFill>
                <a:latin typeface="Aptos" pitchFamily="34" charset="0"/>
                <a:ea typeface="Aptos" pitchFamily="34" charset="-122"/>
                <a:cs typeface="Aptos" pitchFamily="34" charset="-120"/>
              </a:rPr>
              <a:t>−33.8%</a:t>
            </a:r>
            <a:endParaRPr lang="en-US" sz="2000" dirty="0"/>
          </a:p>
        </p:txBody>
      </p:sp>
      <p:sp>
        <p:nvSpPr>
          <p:cNvPr id="17" name="Text 14"/>
          <p:cNvSpPr/>
          <p:nvPr/>
        </p:nvSpPr>
        <p:spPr>
          <a:xfrm>
            <a:off x="7818120" y="4709160"/>
            <a:ext cx="2971800" cy="777240"/>
          </a:xfrm>
          <a:prstGeom prst="rect">
            <a:avLst/>
          </a:prstGeom>
          <a:noFill/>
          <a:ln/>
        </p:spPr>
        <p:txBody>
          <a:bodyPr wrap="square" lIns="508" tIns="508" rIns="508" bIns="508" rtlCol="0" anchor="t">
            <a:normAutofit fontScale="92500" lnSpcReduction="20000"/>
          </a:bodyPr>
          <a:lstStyle/>
          <a:p>
            <a:pPr marL="0" indent="0" algn="l">
              <a:buNone/>
            </a:pPr>
            <a:r>
              <a:rPr lang="en-US" sz="1250" dirty="0">
                <a:solidFill>
                  <a:srgbClr val="5B6770"/>
                </a:solidFill>
                <a:latin typeface="Aptos" pitchFamily="34" charset="0"/>
                <a:ea typeface="Aptos" pitchFamily="34" charset="-122"/>
                <a:cs typeface="Aptos" pitchFamily="34" charset="-120"/>
              </a:rPr>
              <a:t>Interpretation: 2020 shows a structural demand shock consistent with COVID-driven e-commerce and delivery demand. The 2021 decline suggests normalization after the peak.</a:t>
            </a:r>
            <a:endParaRPr lang="en-US" sz="1250" dirty="0"/>
          </a:p>
        </p:txBody>
      </p:sp>
      <p:sp>
        <p:nvSpPr>
          <p:cNvPr id="18" name="Text 15"/>
          <p:cNvSpPr/>
          <p:nvPr/>
        </p:nvSpPr>
        <p:spPr>
          <a:xfrm>
            <a:off x="676656" y="5879592"/>
            <a:ext cx="10789920" cy="402336"/>
          </a:xfrm>
          <a:prstGeom prst="roundRect">
            <a:avLst/>
          </a:prstGeom>
          <a:solidFill>
            <a:srgbClr val="EAF4FF"/>
          </a:solidFill>
          <a:ln>
            <a:solidFill>
              <a:srgbClr val="C9DDF4"/>
            </a:solidFill>
          </a:ln>
        </p:spPr>
        <p:txBody>
          <a:bodyPr wrap="square" lIns="1016" tIns="1016" rIns="1016" bIns="1016" rtlCol="0" anchor="ctr">
            <a:normAutofit/>
          </a:bodyPr>
          <a:lstStyle/>
          <a:p>
            <a:pPr marL="0" indent="0">
              <a:buNone/>
            </a:pPr>
            <a:r>
              <a:rPr lang="en-US" sz="1250" b="1" dirty="0">
                <a:solidFill>
                  <a:srgbClr val="0B1F3A"/>
                </a:solidFill>
                <a:latin typeface="Aptos" pitchFamily="34" charset="0"/>
                <a:ea typeface="Aptos" pitchFamily="34" charset="-122"/>
                <a:cs typeface="Aptos" pitchFamily="34" charset="-120"/>
              </a:rPr>
              <a:t>Key takeaway: 2020 volume was 73.5M parcels, up 39.1% from 2019.</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B"/>
          </a:solidFill>
          <a:ln w="12700">
            <a:solidFill>
              <a:srgbClr val="FFFFFF">
                <a:alpha val="0"/>
              </a:srgbClr>
            </a:solidFill>
            <a:prstDash val="solid"/>
          </a:ln>
        </p:spPr>
        <p:txBody>
          <a:bodyPr/>
          <a:lstStyle/>
          <a:p>
            <a:endParaRPr lang="en-US"/>
          </a:p>
        </p:txBody>
      </p:sp>
      <p:sp>
        <p:nvSpPr>
          <p:cNvPr id="3" name="Shape 1"/>
          <p:cNvSpPr/>
          <p:nvPr/>
        </p:nvSpPr>
        <p:spPr>
          <a:xfrm>
            <a:off x="0" y="0"/>
            <a:ext cx="12191695" cy="137160"/>
          </a:xfrm>
          <a:prstGeom prst="rect">
            <a:avLst/>
          </a:prstGeom>
          <a:solidFill>
            <a:srgbClr val="0B1F3A"/>
          </a:solidFill>
          <a:ln w="12700">
            <a:solidFill>
              <a:srgbClr val="FFFFFF">
                <a:alpha val="0"/>
              </a:srgbClr>
            </a:solidFill>
            <a:prstDash val="solid"/>
          </a:ln>
        </p:spPr>
        <p:txBody>
          <a:bodyPr/>
          <a:lstStyle/>
          <a:p>
            <a:endParaRPr lang="en-US"/>
          </a:p>
        </p:txBody>
      </p:sp>
      <p:sp>
        <p:nvSpPr>
          <p:cNvPr id="4" name="Text 2"/>
          <p:cNvSpPr/>
          <p:nvPr/>
        </p:nvSpPr>
        <p:spPr>
          <a:xfrm>
            <a:off x="502920" y="411480"/>
            <a:ext cx="960120" cy="301752"/>
          </a:xfrm>
          <a:prstGeom prst="roundRect">
            <a:avLst/>
          </a:prstGeom>
          <a:solidFill>
            <a:srgbClr val="00A6A6"/>
          </a:solidFill>
          <a:ln>
            <a:solidFill>
              <a:srgbClr val="00A6A6"/>
            </a:solidFill>
          </a:ln>
        </p:spPr>
        <p:txBody>
          <a:bodyPr wrap="square" lIns="254" tIns="254" rIns="254" bIns="25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STEP 4</a:t>
            </a:r>
            <a:endParaRPr lang="en-US" sz="1100" dirty="0"/>
          </a:p>
        </p:txBody>
      </p:sp>
      <p:sp>
        <p:nvSpPr>
          <p:cNvPr id="5" name="Text 3"/>
          <p:cNvSpPr/>
          <p:nvPr/>
        </p:nvSpPr>
        <p:spPr>
          <a:xfrm>
            <a:off x="502920" y="786384"/>
            <a:ext cx="8778240" cy="438912"/>
          </a:xfrm>
          <a:prstGeom prst="rect">
            <a:avLst/>
          </a:prstGeom>
          <a:noFill/>
          <a:ln/>
        </p:spPr>
        <p:txBody>
          <a:bodyPr wrap="square" lIns="508" tIns="508" rIns="508" bIns="508" rtlCol="0" anchor="t">
            <a:normAutofit lnSpcReduction="10000"/>
          </a:bodyPr>
          <a:lstStyle/>
          <a:p>
            <a:pPr marL="0" indent="0" algn="l">
              <a:buNone/>
            </a:pPr>
            <a:r>
              <a:rPr lang="en-US" sz="2900" b="1" dirty="0">
                <a:solidFill>
                  <a:srgbClr val="0B1F3A"/>
                </a:solidFill>
                <a:latin typeface="Aptos Display" pitchFamily="34" charset="0"/>
                <a:ea typeface="Aptos Display" pitchFamily="34" charset="-122"/>
                <a:cs typeface="Aptos Display" pitchFamily="34" charset="-120"/>
              </a:rPr>
              <a:t>Weekly trend: the COVID impact begins around Week 12</a:t>
            </a:r>
            <a:endParaRPr lang="en-US" sz="2900" dirty="0"/>
          </a:p>
        </p:txBody>
      </p:sp>
      <p:sp>
        <p:nvSpPr>
          <p:cNvPr id="6" name="Text 4"/>
          <p:cNvSpPr/>
          <p:nvPr/>
        </p:nvSpPr>
        <p:spPr>
          <a:xfrm>
            <a:off x="521208" y="1243584"/>
            <a:ext cx="8138160" cy="320040"/>
          </a:xfrm>
          <a:prstGeom prst="rect">
            <a:avLst/>
          </a:prstGeom>
          <a:noFill/>
          <a:ln/>
        </p:spPr>
        <p:txBody>
          <a:bodyPr wrap="square" lIns="508" tIns="508" rIns="508" bIns="508" rtlCol="0" anchor="t">
            <a:normAutofit/>
          </a:bodyPr>
          <a:lstStyle/>
          <a:p>
            <a:pPr marL="0" indent="0" algn="l">
              <a:buNone/>
            </a:pPr>
            <a:r>
              <a:rPr lang="en-US" sz="1350" dirty="0">
                <a:solidFill>
                  <a:srgbClr val="5B6770"/>
                </a:solidFill>
                <a:latin typeface="Aptos" pitchFamily="34" charset="0"/>
                <a:ea typeface="Aptos" pitchFamily="34" charset="-122"/>
                <a:cs typeface="Aptos" pitchFamily="34" charset="-120"/>
              </a:rPr>
              <a:t>The divergence between 2019 and 2020 becomes clear after the lockdown period.</a:t>
            </a:r>
            <a:endParaRPr lang="en-US" sz="1350" dirty="0"/>
          </a:p>
        </p:txBody>
      </p:sp>
      <p:sp>
        <p:nvSpPr>
          <p:cNvPr id="7" name="Text 5"/>
          <p:cNvSpPr/>
          <p:nvPr/>
        </p:nvSpPr>
        <p:spPr>
          <a:xfrm>
            <a:off x="502920" y="6510528"/>
            <a:ext cx="5303520" cy="201168"/>
          </a:xfrm>
          <a:prstGeom prst="rect">
            <a:avLst/>
          </a:prstGeom>
          <a:noFill/>
          <a:ln/>
        </p:spPr>
        <p:txBody>
          <a:bodyPr wrap="square" lIns="508" tIns="508" rIns="508" bIns="508" rtlCol="0" anchor="t">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Impact of COVID-19 on ABC Company Parcel Business</a:t>
            </a:r>
            <a:endParaRPr lang="en-US" sz="850" dirty="0"/>
          </a:p>
        </p:txBody>
      </p:sp>
      <p:sp>
        <p:nvSpPr>
          <p:cNvPr id="8" name="Text 6"/>
          <p:cNvSpPr/>
          <p:nvPr/>
        </p:nvSpPr>
        <p:spPr>
          <a:xfrm>
            <a:off x="11384280" y="6510528"/>
            <a:ext cx="320040" cy="201168"/>
          </a:xfrm>
          <a:prstGeom prst="rect">
            <a:avLst/>
          </a:prstGeom>
          <a:noFill/>
          <a:ln/>
        </p:spPr>
        <p:txBody>
          <a:bodyPr wrap="square" lIns="508" tIns="508" rIns="508" bIns="508" rtlCol="0" anchor="t">
            <a:normAutofit/>
          </a:bodyPr>
          <a:lstStyle/>
          <a:p>
            <a:pPr marL="0" indent="0" algn="r">
              <a:buNone/>
            </a:pPr>
            <a:r>
              <a:rPr lang="en-US" sz="850" dirty="0">
                <a:solidFill>
                  <a:srgbClr val="6B7280"/>
                </a:solidFill>
                <a:latin typeface="Aptos" pitchFamily="34" charset="0"/>
                <a:ea typeface="Aptos" pitchFamily="34" charset="-122"/>
                <a:cs typeface="Aptos" pitchFamily="34" charset="-120"/>
              </a:rPr>
              <a:t>6</a:t>
            </a:r>
            <a:endParaRPr lang="en-US" sz="850" dirty="0"/>
          </a:p>
        </p:txBody>
      </p:sp>
      <p:pic>
        <p:nvPicPr>
          <p:cNvPr id="9" name="Image 0" descr="/mnt/data/extracted_assets/cell20_out0.png"/>
          <p:cNvPicPr>
            <a:picLocks noChangeAspect="1"/>
          </p:cNvPicPr>
          <p:nvPr/>
        </p:nvPicPr>
        <p:blipFill>
          <a:blip r:embed="rId3"/>
          <a:stretch>
            <a:fillRect/>
          </a:stretch>
        </p:blipFill>
        <p:spPr>
          <a:xfrm>
            <a:off x="685800" y="2092719"/>
            <a:ext cx="6583680" cy="3266923"/>
          </a:xfrm>
          <a:prstGeom prst="rect">
            <a:avLst/>
          </a:prstGeom>
        </p:spPr>
      </p:pic>
      <p:sp>
        <p:nvSpPr>
          <p:cNvPr id="10" name="Text 7"/>
          <p:cNvSpPr/>
          <p:nvPr/>
        </p:nvSpPr>
        <p:spPr>
          <a:xfrm>
            <a:off x="7726680" y="1847088"/>
            <a:ext cx="3200400" cy="274320"/>
          </a:xfrm>
          <a:prstGeom prst="rect">
            <a:avLst/>
          </a:prstGeom>
          <a:noFill/>
          <a:ln/>
        </p:spPr>
        <p:txBody>
          <a:bodyPr wrap="square" lIns="508" tIns="508" rIns="508" bIns="508" rtlCol="0" anchor="t">
            <a:normAutofit/>
          </a:bodyPr>
          <a:lstStyle/>
          <a:p>
            <a:pPr marL="0" indent="0" algn="l">
              <a:buNone/>
            </a:pPr>
            <a:r>
              <a:rPr lang="en-US" sz="1600" b="1" dirty="0">
                <a:solidFill>
                  <a:srgbClr val="0B1F3A"/>
                </a:solidFill>
                <a:latin typeface="Aptos" pitchFamily="34" charset="0"/>
                <a:ea typeface="Aptos" pitchFamily="34" charset="-122"/>
                <a:cs typeface="Aptos" pitchFamily="34" charset="-120"/>
              </a:rPr>
              <a:t>Evidence around onset</a:t>
            </a:r>
            <a:endParaRPr lang="en-US" sz="1600" dirty="0"/>
          </a:p>
        </p:txBody>
      </p:sp>
      <p:sp>
        <p:nvSpPr>
          <p:cNvPr id="11" name="Text 8"/>
          <p:cNvSpPr/>
          <p:nvPr/>
        </p:nvSpPr>
        <p:spPr>
          <a:xfrm>
            <a:off x="7818120" y="2331720"/>
            <a:ext cx="594360" cy="301752"/>
          </a:xfrm>
          <a:prstGeom prst="roundRect">
            <a:avLst/>
          </a:prstGeom>
          <a:solidFill>
            <a:srgbClr val="00A6A6"/>
          </a:solidFill>
          <a:ln>
            <a:solidFill>
              <a:srgbClr val="00A6A6"/>
            </a:solidFill>
          </a:ln>
        </p:spPr>
        <p:txBody>
          <a:bodyPr wrap="square" lIns="254" tIns="254" rIns="254" bIns="25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W12</a:t>
            </a:r>
            <a:endParaRPr lang="en-US" sz="1100" dirty="0"/>
          </a:p>
        </p:txBody>
      </p:sp>
      <p:sp>
        <p:nvSpPr>
          <p:cNvPr id="12" name="Text 9"/>
          <p:cNvSpPr/>
          <p:nvPr/>
        </p:nvSpPr>
        <p:spPr>
          <a:xfrm>
            <a:off x="8549640" y="2295144"/>
            <a:ext cx="960120" cy="256032"/>
          </a:xfrm>
          <a:prstGeom prst="rect">
            <a:avLst/>
          </a:prstGeom>
          <a:noFill/>
          <a:ln/>
        </p:spPr>
        <p:txBody>
          <a:bodyPr wrap="square" lIns="508" tIns="508" rIns="508" bIns="508" rtlCol="0" anchor="t">
            <a:normAutofit/>
          </a:bodyPr>
          <a:lstStyle/>
          <a:p>
            <a:pPr marL="0" indent="0" algn="l">
              <a:buNone/>
            </a:pPr>
            <a:r>
              <a:rPr lang="en-US" sz="1650" b="1" dirty="0">
                <a:solidFill>
                  <a:srgbClr val="00A6A6"/>
                </a:solidFill>
                <a:latin typeface="Aptos" pitchFamily="34" charset="0"/>
                <a:ea typeface="Aptos" pitchFamily="34" charset="-122"/>
                <a:cs typeface="Aptos" pitchFamily="34" charset="-120"/>
              </a:rPr>
              <a:t>+11.9%</a:t>
            </a:r>
            <a:endParaRPr lang="en-US" sz="1650" dirty="0"/>
          </a:p>
        </p:txBody>
      </p:sp>
      <p:sp>
        <p:nvSpPr>
          <p:cNvPr id="13" name="Text 10"/>
          <p:cNvSpPr/>
          <p:nvPr/>
        </p:nvSpPr>
        <p:spPr>
          <a:xfrm>
            <a:off x="9646920" y="2350008"/>
            <a:ext cx="1554480" cy="228600"/>
          </a:xfrm>
          <a:prstGeom prst="rect">
            <a:avLst/>
          </a:prstGeom>
          <a:noFill/>
          <a:ln/>
        </p:spPr>
        <p:txBody>
          <a:bodyPr wrap="square" lIns="508" tIns="508" rIns="508" bIns="508" rtlCol="0" anchor="t">
            <a:normAutofit/>
          </a:bodyPr>
          <a:lstStyle/>
          <a:p>
            <a:pPr marL="0" indent="0" algn="l">
              <a:buNone/>
            </a:pPr>
            <a:r>
              <a:rPr lang="en-US" sz="1020" dirty="0">
                <a:solidFill>
                  <a:srgbClr val="5B6770"/>
                </a:solidFill>
                <a:latin typeface="Aptos" pitchFamily="34" charset="0"/>
                <a:ea typeface="Aptos" pitchFamily="34" charset="-122"/>
                <a:cs typeface="Aptos" pitchFamily="34" charset="-120"/>
              </a:rPr>
              <a:t>COVID onset marker</a:t>
            </a:r>
            <a:endParaRPr lang="en-US" sz="1020" dirty="0"/>
          </a:p>
        </p:txBody>
      </p:sp>
      <p:sp>
        <p:nvSpPr>
          <p:cNvPr id="14" name="Text 11"/>
          <p:cNvSpPr/>
          <p:nvPr/>
        </p:nvSpPr>
        <p:spPr>
          <a:xfrm>
            <a:off x="7818120" y="2990088"/>
            <a:ext cx="594360" cy="301752"/>
          </a:xfrm>
          <a:prstGeom prst="roundRect">
            <a:avLst/>
          </a:prstGeom>
          <a:solidFill>
            <a:srgbClr val="145DA0"/>
          </a:solidFill>
          <a:ln>
            <a:solidFill>
              <a:srgbClr val="145DA0"/>
            </a:solidFill>
          </a:ln>
        </p:spPr>
        <p:txBody>
          <a:bodyPr wrap="square" lIns="254" tIns="254" rIns="254" bIns="25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W14</a:t>
            </a:r>
            <a:endParaRPr lang="en-US" sz="1100" dirty="0"/>
          </a:p>
        </p:txBody>
      </p:sp>
      <p:sp>
        <p:nvSpPr>
          <p:cNvPr id="15" name="Text 12"/>
          <p:cNvSpPr/>
          <p:nvPr/>
        </p:nvSpPr>
        <p:spPr>
          <a:xfrm>
            <a:off x="8549640" y="2953512"/>
            <a:ext cx="960120" cy="256032"/>
          </a:xfrm>
          <a:prstGeom prst="rect">
            <a:avLst/>
          </a:prstGeom>
          <a:noFill/>
          <a:ln/>
        </p:spPr>
        <p:txBody>
          <a:bodyPr wrap="square" lIns="508" tIns="508" rIns="508" bIns="508" rtlCol="0" anchor="t">
            <a:normAutofit/>
          </a:bodyPr>
          <a:lstStyle/>
          <a:p>
            <a:pPr marL="0" indent="0" algn="l">
              <a:buNone/>
            </a:pPr>
            <a:r>
              <a:rPr lang="en-US" sz="1650" b="1" dirty="0">
                <a:solidFill>
                  <a:srgbClr val="F28C28"/>
                </a:solidFill>
                <a:latin typeface="Aptos" pitchFamily="34" charset="0"/>
                <a:ea typeface="Aptos" pitchFamily="34" charset="-122"/>
                <a:cs typeface="Aptos" pitchFamily="34" charset="-120"/>
              </a:rPr>
              <a:t>+64.6%</a:t>
            </a:r>
            <a:endParaRPr lang="en-US" sz="1650" dirty="0"/>
          </a:p>
        </p:txBody>
      </p:sp>
      <p:sp>
        <p:nvSpPr>
          <p:cNvPr id="16" name="Text 13"/>
          <p:cNvSpPr/>
          <p:nvPr/>
        </p:nvSpPr>
        <p:spPr>
          <a:xfrm>
            <a:off x="9646920" y="3008376"/>
            <a:ext cx="1554480" cy="228600"/>
          </a:xfrm>
          <a:prstGeom prst="rect">
            <a:avLst/>
          </a:prstGeom>
          <a:noFill/>
          <a:ln/>
        </p:spPr>
        <p:txBody>
          <a:bodyPr wrap="square" lIns="508" tIns="508" rIns="508" bIns="508" rtlCol="0" anchor="t">
            <a:normAutofit/>
          </a:bodyPr>
          <a:lstStyle/>
          <a:p>
            <a:pPr marL="0" indent="0" algn="l">
              <a:buNone/>
            </a:pPr>
            <a:r>
              <a:rPr lang="en-US" sz="1020" dirty="0">
                <a:solidFill>
                  <a:srgbClr val="5B6770"/>
                </a:solidFill>
                <a:latin typeface="Aptos" pitchFamily="34" charset="0"/>
                <a:ea typeface="Aptos" pitchFamily="34" charset="-122"/>
                <a:cs typeface="Aptos" pitchFamily="34" charset="-120"/>
              </a:rPr>
              <a:t>Sharp acceleration</a:t>
            </a:r>
            <a:endParaRPr lang="en-US" sz="1020" dirty="0"/>
          </a:p>
        </p:txBody>
      </p:sp>
      <p:sp>
        <p:nvSpPr>
          <p:cNvPr id="17" name="Text 14"/>
          <p:cNvSpPr/>
          <p:nvPr/>
        </p:nvSpPr>
        <p:spPr>
          <a:xfrm>
            <a:off x="7818120" y="3648456"/>
            <a:ext cx="594360" cy="301752"/>
          </a:xfrm>
          <a:prstGeom prst="roundRect">
            <a:avLst/>
          </a:prstGeom>
          <a:solidFill>
            <a:srgbClr val="145DA0"/>
          </a:solidFill>
          <a:ln>
            <a:solidFill>
              <a:srgbClr val="145DA0"/>
            </a:solidFill>
          </a:ln>
        </p:spPr>
        <p:txBody>
          <a:bodyPr wrap="square" lIns="254" tIns="254" rIns="254" bIns="25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W16</a:t>
            </a:r>
            <a:endParaRPr lang="en-US" sz="1100" dirty="0"/>
          </a:p>
        </p:txBody>
      </p:sp>
      <p:sp>
        <p:nvSpPr>
          <p:cNvPr id="18" name="Text 15"/>
          <p:cNvSpPr/>
          <p:nvPr/>
        </p:nvSpPr>
        <p:spPr>
          <a:xfrm>
            <a:off x="8549640" y="3611880"/>
            <a:ext cx="960120" cy="256032"/>
          </a:xfrm>
          <a:prstGeom prst="rect">
            <a:avLst/>
          </a:prstGeom>
          <a:noFill/>
          <a:ln/>
        </p:spPr>
        <p:txBody>
          <a:bodyPr wrap="square" lIns="508" tIns="508" rIns="508" bIns="508" rtlCol="0" anchor="t">
            <a:normAutofit/>
          </a:bodyPr>
          <a:lstStyle/>
          <a:p>
            <a:pPr marL="0" indent="0" algn="l">
              <a:buNone/>
            </a:pPr>
            <a:r>
              <a:rPr lang="en-US" sz="1650" b="1" dirty="0">
                <a:solidFill>
                  <a:srgbClr val="F28C28"/>
                </a:solidFill>
                <a:latin typeface="Aptos" pitchFamily="34" charset="0"/>
                <a:ea typeface="Aptos" pitchFamily="34" charset="-122"/>
                <a:cs typeface="Aptos" pitchFamily="34" charset="-120"/>
              </a:rPr>
              <a:t>+127.9%</a:t>
            </a:r>
            <a:endParaRPr lang="en-US" sz="1650" dirty="0"/>
          </a:p>
        </p:txBody>
      </p:sp>
      <p:sp>
        <p:nvSpPr>
          <p:cNvPr id="19" name="Text 16"/>
          <p:cNvSpPr/>
          <p:nvPr/>
        </p:nvSpPr>
        <p:spPr>
          <a:xfrm>
            <a:off x="9646920" y="3666744"/>
            <a:ext cx="1554480" cy="228600"/>
          </a:xfrm>
          <a:prstGeom prst="rect">
            <a:avLst/>
          </a:prstGeom>
          <a:noFill/>
          <a:ln/>
        </p:spPr>
        <p:txBody>
          <a:bodyPr wrap="square" lIns="508" tIns="508" rIns="508" bIns="508" rtlCol="0" anchor="t">
            <a:normAutofit/>
          </a:bodyPr>
          <a:lstStyle/>
          <a:p>
            <a:pPr marL="0" indent="0" algn="l">
              <a:buNone/>
            </a:pPr>
            <a:r>
              <a:rPr lang="en-US" sz="1020" dirty="0">
                <a:solidFill>
                  <a:srgbClr val="5B6770"/>
                </a:solidFill>
                <a:latin typeface="Aptos" pitchFamily="34" charset="0"/>
                <a:ea typeface="Aptos" pitchFamily="34" charset="-122"/>
                <a:cs typeface="Aptos" pitchFamily="34" charset="-120"/>
              </a:rPr>
              <a:t>Largest early divergence</a:t>
            </a:r>
            <a:endParaRPr lang="en-US" sz="1020" dirty="0"/>
          </a:p>
        </p:txBody>
      </p:sp>
      <p:sp>
        <p:nvSpPr>
          <p:cNvPr id="20" name="Text 17"/>
          <p:cNvSpPr/>
          <p:nvPr/>
        </p:nvSpPr>
        <p:spPr>
          <a:xfrm>
            <a:off x="7818120" y="4306824"/>
            <a:ext cx="594360" cy="301752"/>
          </a:xfrm>
          <a:prstGeom prst="roundRect">
            <a:avLst/>
          </a:prstGeom>
          <a:solidFill>
            <a:srgbClr val="145DA0"/>
          </a:solidFill>
          <a:ln>
            <a:solidFill>
              <a:srgbClr val="145DA0"/>
            </a:solidFill>
          </a:ln>
        </p:spPr>
        <p:txBody>
          <a:bodyPr wrap="square" lIns="254" tIns="254" rIns="254" bIns="25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W20</a:t>
            </a:r>
            <a:endParaRPr lang="en-US" sz="1100" dirty="0"/>
          </a:p>
        </p:txBody>
      </p:sp>
      <p:sp>
        <p:nvSpPr>
          <p:cNvPr id="21" name="Text 18"/>
          <p:cNvSpPr/>
          <p:nvPr/>
        </p:nvSpPr>
        <p:spPr>
          <a:xfrm>
            <a:off x="8549640" y="4270248"/>
            <a:ext cx="960120" cy="256032"/>
          </a:xfrm>
          <a:prstGeom prst="rect">
            <a:avLst/>
          </a:prstGeom>
          <a:noFill/>
          <a:ln/>
        </p:spPr>
        <p:txBody>
          <a:bodyPr wrap="square" lIns="508" tIns="508" rIns="508" bIns="508" rtlCol="0" anchor="t">
            <a:normAutofit/>
          </a:bodyPr>
          <a:lstStyle/>
          <a:p>
            <a:pPr marL="0" indent="0" algn="l">
              <a:buNone/>
            </a:pPr>
            <a:r>
              <a:rPr lang="en-US" sz="1650" b="1" dirty="0">
                <a:solidFill>
                  <a:srgbClr val="F28C28"/>
                </a:solidFill>
                <a:latin typeface="Aptos" pitchFamily="34" charset="0"/>
                <a:ea typeface="Aptos" pitchFamily="34" charset="-122"/>
                <a:cs typeface="Aptos" pitchFamily="34" charset="-120"/>
              </a:rPr>
              <a:t>+115.4%</a:t>
            </a:r>
            <a:endParaRPr lang="en-US" sz="1650" dirty="0"/>
          </a:p>
        </p:txBody>
      </p:sp>
      <p:sp>
        <p:nvSpPr>
          <p:cNvPr id="22" name="Text 19"/>
          <p:cNvSpPr/>
          <p:nvPr/>
        </p:nvSpPr>
        <p:spPr>
          <a:xfrm>
            <a:off x="9646920" y="4325112"/>
            <a:ext cx="1554480" cy="228600"/>
          </a:xfrm>
          <a:prstGeom prst="rect">
            <a:avLst/>
          </a:prstGeom>
          <a:noFill/>
          <a:ln/>
        </p:spPr>
        <p:txBody>
          <a:bodyPr wrap="square" lIns="508" tIns="508" rIns="508" bIns="508" rtlCol="0" anchor="t">
            <a:normAutofit/>
          </a:bodyPr>
          <a:lstStyle/>
          <a:p>
            <a:pPr marL="0" indent="0" algn="l">
              <a:buNone/>
            </a:pPr>
            <a:r>
              <a:rPr lang="en-US" sz="1020" dirty="0">
                <a:solidFill>
                  <a:srgbClr val="5B6770"/>
                </a:solidFill>
                <a:latin typeface="Aptos" pitchFamily="34" charset="0"/>
                <a:ea typeface="Aptos" pitchFamily="34" charset="-122"/>
                <a:cs typeface="Aptos" pitchFamily="34" charset="-120"/>
              </a:rPr>
              <a:t>Demand remained elevated</a:t>
            </a:r>
            <a:endParaRPr lang="en-US" sz="1020" dirty="0"/>
          </a:p>
        </p:txBody>
      </p:sp>
      <p:sp>
        <p:nvSpPr>
          <p:cNvPr id="23" name="Text 20"/>
          <p:cNvSpPr/>
          <p:nvPr/>
        </p:nvSpPr>
        <p:spPr>
          <a:xfrm>
            <a:off x="676656" y="5879592"/>
            <a:ext cx="10789920" cy="402336"/>
          </a:xfrm>
          <a:prstGeom prst="roundRect">
            <a:avLst/>
          </a:prstGeom>
          <a:solidFill>
            <a:srgbClr val="EAF4FF"/>
          </a:solidFill>
          <a:ln>
            <a:solidFill>
              <a:srgbClr val="C9DDF4"/>
            </a:solidFill>
          </a:ln>
        </p:spPr>
        <p:txBody>
          <a:bodyPr wrap="square" lIns="1016" tIns="1016" rIns="1016" bIns="1016" rtlCol="0" anchor="ctr">
            <a:normAutofit/>
          </a:bodyPr>
          <a:lstStyle/>
          <a:p>
            <a:pPr marL="0" indent="0">
              <a:buNone/>
            </a:pPr>
            <a:r>
              <a:rPr lang="en-US" sz="1250" b="1" dirty="0">
                <a:solidFill>
                  <a:srgbClr val="0B1F3A"/>
                </a:solidFill>
                <a:latin typeface="Aptos" pitchFamily="34" charset="0"/>
                <a:ea typeface="Aptos" pitchFamily="34" charset="-122"/>
                <a:cs typeface="Aptos" pitchFamily="34" charset="-120"/>
              </a:rPr>
              <a:t>Key takeaway: After Week 12, 2020 volumes stay consistently above 2019, signaling a sustained behavioral shift.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B"/>
          </a:solidFill>
          <a:ln w="12700">
            <a:solidFill>
              <a:srgbClr val="FFFFFF">
                <a:alpha val="0"/>
              </a:srgbClr>
            </a:solidFill>
            <a:prstDash val="solid"/>
          </a:ln>
        </p:spPr>
        <p:txBody>
          <a:bodyPr/>
          <a:lstStyle/>
          <a:p>
            <a:endParaRPr lang="en-US"/>
          </a:p>
        </p:txBody>
      </p:sp>
      <p:sp>
        <p:nvSpPr>
          <p:cNvPr id="3" name="Shape 1"/>
          <p:cNvSpPr/>
          <p:nvPr/>
        </p:nvSpPr>
        <p:spPr>
          <a:xfrm>
            <a:off x="0" y="0"/>
            <a:ext cx="12191695" cy="137160"/>
          </a:xfrm>
          <a:prstGeom prst="rect">
            <a:avLst/>
          </a:prstGeom>
          <a:solidFill>
            <a:srgbClr val="0B1F3A"/>
          </a:solidFill>
          <a:ln w="12700">
            <a:solidFill>
              <a:srgbClr val="FFFFFF">
                <a:alpha val="0"/>
              </a:srgbClr>
            </a:solidFill>
            <a:prstDash val="solid"/>
          </a:ln>
        </p:spPr>
        <p:txBody>
          <a:bodyPr/>
          <a:lstStyle/>
          <a:p>
            <a:endParaRPr lang="en-US"/>
          </a:p>
        </p:txBody>
      </p:sp>
      <p:sp>
        <p:nvSpPr>
          <p:cNvPr id="4" name="Text 2"/>
          <p:cNvSpPr/>
          <p:nvPr/>
        </p:nvSpPr>
        <p:spPr>
          <a:xfrm>
            <a:off x="502920" y="411480"/>
            <a:ext cx="960120" cy="301752"/>
          </a:xfrm>
          <a:prstGeom prst="roundRect">
            <a:avLst/>
          </a:prstGeom>
          <a:solidFill>
            <a:srgbClr val="00A6A6"/>
          </a:solidFill>
          <a:ln>
            <a:solidFill>
              <a:srgbClr val="00A6A6"/>
            </a:solidFill>
          </a:ln>
        </p:spPr>
        <p:txBody>
          <a:bodyPr wrap="square" lIns="254" tIns="254" rIns="254" bIns="25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STEP 5</a:t>
            </a:r>
            <a:endParaRPr lang="en-US" sz="1100" dirty="0"/>
          </a:p>
        </p:txBody>
      </p:sp>
      <p:sp>
        <p:nvSpPr>
          <p:cNvPr id="5" name="Text 3"/>
          <p:cNvSpPr/>
          <p:nvPr/>
        </p:nvSpPr>
        <p:spPr>
          <a:xfrm>
            <a:off x="502920" y="786384"/>
            <a:ext cx="8778240" cy="438912"/>
          </a:xfrm>
          <a:prstGeom prst="rect">
            <a:avLst/>
          </a:prstGeom>
          <a:noFill/>
          <a:ln/>
        </p:spPr>
        <p:txBody>
          <a:bodyPr wrap="square" lIns="508" tIns="508" rIns="508" bIns="508" rtlCol="0" anchor="t">
            <a:normAutofit lnSpcReduction="10000"/>
          </a:bodyPr>
          <a:lstStyle/>
          <a:p>
            <a:pPr marL="0" indent="0" algn="l">
              <a:buNone/>
            </a:pPr>
            <a:r>
              <a:rPr lang="en-US" sz="2900" b="1" dirty="0">
                <a:solidFill>
                  <a:srgbClr val="0B1F3A"/>
                </a:solidFill>
                <a:latin typeface="Aptos Display" pitchFamily="34" charset="0"/>
                <a:ea typeface="Aptos Display" pitchFamily="34" charset="-122"/>
                <a:cs typeface="Aptos Display" pitchFamily="34" charset="-120"/>
              </a:rPr>
              <a:t>Peak season: 2020 outperformed 2019 by 26.5%</a:t>
            </a:r>
            <a:endParaRPr lang="en-US" sz="2900" dirty="0"/>
          </a:p>
        </p:txBody>
      </p:sp>
      <p:sp>
        <p:nvSpPr>
          <p:cNvPr id="6" name="Text 4"/>
          <p:cNvSpPr/>
          <p:nvPr/>
        </p:nvSpPr>
        <p:spPr>
          <a:xfrm>
            <a:off x="521208" y="1243584"/>
            <a:ext cx="8138160" cy="320040"/>
          </a:xfrm>
          <a:prstGeom prst="rect">
            <a:avLst/>
          </a:prstGeom>
          <a:noFill/>
          <a:ln/>
        </p:spPr>
        <p:txBody>
          <a:bodyPr wrap="square" lIns="508" tIns="508" rIns="508" bIns="508" rtlCol="0" anchor="t">
            <a:normAutofit/>
          </a:bodyPr>
          <a:lstStyle/>
          <a:p>
            <a:pPr marL="0" indent="0" algn="l">
              <a:buNone/>
            </a:pPr>
            <a:r>
              <a:rPr lang="en-US" sz="1350" dirty="0">
                <a:solidFill>
                  <a:srgbClr val="5B6770"/>
                </a:solidFill>
                <a:latin typeface="Aptos" pitchFamily="34" charset="0"/>
                <a:ea typeface="Aptos" pitchFamily="34" charset="-122"/>
                <a:cs typeface="Aptos" pitchFamily="34" charset="-120"/>
              </a:rPr>
              <a:t>Holiday-season parcel demand intensified during the pandemic year.</a:t>
            </a:r>
            <a:endParaRPr lang="en-US" sz="1350" dirty="0"/>
          </a:p>
        </p:txBody>
      </p:sp>
      <p:sp>
        <p:nvSpPr>
          <p:cNvPr id="7" name="Text 5"/>
          <p:cNvSpPr/>
          <p:nvPr/>
        </p:nvSpPr>
        <p:spPr>
          <a:xfrm>
            <a:off x="502920" y="6510528"/>
            <a:ext cx="5303520" cy="201168"/>
          </a:xfrm>
          <a:prstGeom prst="rect">
            <a:avLst/>
          </a:prstGeom>
          <a:noFill/>
          <a:ln/>
        </p:spPr>
        <p:txBody>
          <a:bodyPr wrap="square" lIns="508" tIns="508" rIns="508" bIns="508" rtlCol="0" anchor="t">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Impact of COVID-19 on ABC Company Parcel Business</a:t>
            </a:r>
            <a:endParaRPr lang="en-US" sz="850" dirty="0"/>
          </a:p>
        </p:txBody>
      </p:sp>
      <p:sp>
        <p:nvSpPr>
          <p:cNvPr id="8" name="Text 6"/>
          <p:cNvSpPr/>
          <p:nvPr/>
        </p:nvSpPr>
        <p:spPr>
          <a:xfrm>
            <a:off x="11384280" y="6510528"/>
            <a:ext cx="320040" cy="201168"/>
          </a:xfrm>
          <a:prstGeom prst="rect">
            <a:avLst/>
          </a:prstGeom>
          <a:noFill/>
          <a:ln/>
        </p:spPr>
        <p:txBody>
          <a:bodyPr wrap="square" lIns="508" tIns="508" rIns="508" bIns="508" rtlCol="0" anchor="t">
            <a:normAutofit/>
          </a:bodyPr>
          <a:lstStyle/>
          <a:p>
            <a:pPr marL="0" indent="0" algn="r">
              <a:buNone/>
            </a:pPr>
            <a:r>
              <a:rPr lang="en-US" sz="850" dirty="0">
                <a:solidFill>
                  <a:srgbClr val="6B7280"/>
                </a:solidFill>
                <a:latin typeface="Aptos" pitchFamily="34" charset="0"/>
                <a:ea typeface="Aptos" pitchFamily="34" charset="-122"/>
                <a:cs typeface="Aptos" pitchFamily="34" charset="-120"/>
              </a:rPr>
              <a:t>7</a:t>
            </a:r>
            <a:endParaRPr lang="en-US" sz="850" dirty="0"/>
          </a:p>
        </p:txBody>
      </p:sp>
      <p:pic>
        <p:nvPicPr>
          <p:cNvPr id="9" name="Image 0" descr="/mnt/data/extracted_assets/cell31_out1.png"/>
          <p:cNvPicPr>
            <a:picLocks noChangeAspect="1"/>
          </p:cNvPicPr>
          <p:nvPr/>
        </p:nvPicPr>
        <p:blipFill>
          <a:blip r:embed="rId3"/>
          <a:stretch>
            <a:fillRect/>
          </a:stretch>
        </p:blipFill>
        <p:spPr>
          <a:xfrm>
            <a:off x="685800" y="2202511"/>
            <a:ext cx="5715000" cy="3230217"/>
          </a:xfrm>
          <a:prstGeom prst="rect">
            <a:avLst/>
          </a:prstGeom>
        </p:spPr>
      </p:pic>
      <p:sp>
        <p:nvSpPr>
          <p:cNvPr id="10" name="Text 7"/>
          <p:cNvSpPr/>
          <p:nvPr/>
        </p:nvSpPr>
        <p:spPr>
          <a:xfrm>
            <a:off x="6903720" y="1828800"/>
            <a:ext cx="3383280" cy="352044"/>
          </a:xfrm>
          <a:prstGeom prst="rect">
            <a:avLst/>
          </a:prstGeom>
          <a:noFill/>
          <a:ln/>
        </p:spPr>
        <p:txBody>
          <a:bodyPr wrap="square" lIns="127" tIns="127" rIns="127" bIns="127" rtlCol="0" anchor="t">
            <a:normAutofit/>
          </a:bodyPr>
          <a:lstStyle/>
          <a:p>
            <a:pPr marL="0" indent="0" algn="l">
              <a:buNone/>
            </a:pPr>
            <a:r>
              <a:rPr lang="en-US" sz="1980" b="1" dirty="0">
                <a:solidFill>
                  <a:srgbClr val="00A6A6"/>
                </a:solidFill>
                <a:latin typeface="Aptos Display" pitchFamily="34" charset="0"/>
                <a:ea typeface="Aptos Display" pitchFamily="34" charset="-122"/>
                <a:cs typeface="Aptos Display" pitchFamily="34" charset="-120"/>
              </a:rPr>
              <a:t>15.4M</a:t>
            </a:r>
            <a:endParaRPr lang="en-US" sz="1980" dirty="0"/>
          </a:p>
        </p:txBody>
      </p:sp>
      <p:sp>
        <p:nvSpPr>
          <p:cNvPr id="11" name="Text 8"/>
          <p:cNvSpPr/>
          <p:nvPr/>
        </p:nvSpPr>
        <p:spPr>
          <a:xfrm>
            <a:off x="6903720" y="2211019"/>
            <a:ext cx="3383280" cy="241402"/>
          </a:xfrm>
          <a:prstGeom prst="rect">
            <a:avLst/>
          </a:prstGeom>
          <a:noFill/>
          <a:ln/>
        </p:spPr>
        <p:txBody>
          <a:bodyPr wrap="square" lIns="127" tIns="127" rIns="127" bIns="127" rtlCol="0" anchor="t">
            <a:normAutofit/>
          </a:bodyPr>
          <a:lstStyle/>
          <a:p>
            <a:pPr marL="0" indent="0" algn="l">
              <a:buNone/>
            </a:pPr>
            <a:r>
              <a:rPr lang="en-US" sz="1080" b="1" dirty="0">
                <a:solidFill>
                  <a:srgbClr val="0B1F3A"/>
                </a:solidFill>
                <a:latin typeface="Aptos" pitchFamily="34" charset="0"/>
                <a:ea typeface="Aptos" pitchFamily="34" charset="-122"/>
                <a:cs typeface="Aptos" pitchFamily="34" charset="-120"/>
              </a:rPr>
              <a:t>2019 peak season</a:t>
            </a:r>
            <a:endParaRPr lang="en-US" sz="1080" dirty="0"/>
          </a:p>
        </p:txBody>
      </p:sp>
      <p:sp>
        <p:nvSpPr>
          <p:cNvPr id="12" name="Text 9"/>
          <p:cNvSpPr/>
          <p:nvPr/>
        </p:nvSpPr>
        <p:spPr>
          <a:xfrm>
            <a:off x="6903720" y="2492654"/>
            <a:ext cx="3383280" cy="301752"/>
          </a:xfrm>
          <a:prstGeom prst="rect">
            <a:avLst/>
          </a:prstGeom>
          <a:noFill/>
          <a:ln/>
        </p:spPr>
        <p:txBody>
          <a:bodyPr wrap="square" lIns="127" tIns="127" rIns="127" bIns="127" rtlCol="0" anchor="t">
            <a:normAutofit/>
          </a:bodyPr>
          <a:lstStyle/>
          <a:p>
            <a:pPr marL="0" indent="0" algn="l">
              <a:buNone/>
            </a:pPr>
            <a:r>
              <a:rPr lang="en-US" sz="870" dirty="0">
                <a:solidFill>
                  <a:srgbClr val="5B6770"/>
                </a:solidFill>
                <a:latin typeface="Aptos" pitchFamily="34" charset="0"/>
                <a:ea typeface="Aptos" pitchFamily="34" charset="-122"/>
                <a:cs typeface="Aptos" pitchFamily="34" charset="-120"/>
              </a:rPr>
              <a:t>Weeks 45–53 plus following weeks 1–3</a:t>
            </a:r>
            <a:endParaRPr lang="en-US" sz="870" dirty="0"/>
          </a:p>
        </p:txBody>
      </p:sp>
      <p:sp>
        <p:nvSpPr>
          <p:cNvPr id="13" name="Text 10"/>
          <p:cNvSpPr/>
          <p:nvPr/>
        </p:nvSpPr>
        <p:spPr>
          <a:xfrm>
            <a:off x="6903720" y="3090672"/>
            <a:ext cx="3383280" cy="352044"/>
          </a:xfrm>
          <a:prstGeom prst="rect">
            <a:avLst/>
          </a:prstGeom>
          <a:noFill/>
          <a:ln/>
        </p:spPr>
        <p:txBody>
          <a:bodyPr wrap="square" lIns="127" tIns="127" rIns="127" bIns="127" rtlCol="0" anchor="t">
            <a:normAutofit/>
          </a:bodyPr>
          <a:lstStyle/>
          <a:p>
            <a:pPr marL="0" indent="0" algn="l">
              <a:buNone/>
            </a:pPr>
            <a:r>
              <a:rPr lang="en-US" sz="1980" b="1" dirty="0">
                <a:solidFill>
                  <a:srgbClr val="145DA0"/>
                </a:solidFill>
                <a:latin typeface="Aptos Display" pitchFamily="34" charset="0"/>
                <a:ea typeface="Aptos Display" pitchFamily="34" charset="-122"/>
                <a:cs typeface="Aptos Display" pitchFamily="34" charset="-120"/>
              </a:rPr>
              <a:t>19.4M</a:t>
            </a:r>
            <a:endParaRPr lang="en-US" sz="1980" dirty="0"/>
          </a:p>
        </p:txBody>
      </p:sp>
      <p:sp>
        <p:nvSpPr>
          <p:cNvPr id="14" name="Text 11"/>
          <p:cNvSpPr/>
          <p:nvPr/>
        </p:nvSpPr>
        <p:spPr>
          <a:xfrm>
            <a:off x="6903720" y="3472891"/>
            <a:ext cx="3383280" cy="241402"/>
          </a:xfrm>
          <a:prstGeom prst="rect">
            <a:avLst/>
          </a:prstGeom>
          <a:noFill/>
          <a:ln/>
        </p:spPr>
        <p:txBody>
          <a:bodyPr wrap="square" lIns="127" tIns="127" rIns="127" bIns="127" rtlCol="0" anchor="t">
            <a:normAutofit/>
          </a:bodyPr>
          <a:lstStyle/>
          <a:p>
            <a:pPr marL="0" indent="0" algn="l">
              <a:buNone/>
            </a:pPr>
            <a:r>
              <a:rPr lang="en-US" sz="1080" b="1" dirty="0">
                <a:solidFill>
                  <a:srgbClr val="0B1F3A"/>
                </a:solidFill>
                <a:latin typeface="Aptos" pitchFamily="34" charset="0"/>
                <a:ea typeface="Aptos" pitchFamily="34" charset="-122"/>
                <a:cs typeface="Aptos" pitchFamily="34" charset="-120"/>
              </a:rPr>
              <a:t>2020 peak season</a:t>
            </a:r>
            <a:endParaRPr lang="en-US" sz="1080" dirty="0"/>
          </a:p>
        </p:txBody>
      </p:sp>
      <p:sp>
        <p:nvSpPr>
          <p:cNvPr id="15" name="Text 12"/>
          <p:cNvSpPr/>
          <p:nvPr/>
        </p:nvSpPr>
        <p:spPr>
          <a:xfrm>
            <a:off x="6903720" y="3754526"/>
            <a:ext cx="3383280" cy="301752"/>
          </a:xfrm>
          <a:prstGeom prst="rect">
            <a:avLst/>
          </a:prstGeom>
          <a:noFill/>
          <a:ln/>
        </p:spPr>
        <p:txBody>
          <a:bodyPr wrap="square" lIns="127" tIns="127" rIns="127" bIns="127" rtlCol="0" anchor="t">
            <a:normAutofit/>
          </a:bodyPr>
          <a:lstStyle/>
          <a:p>
            <a:pPr marL="0" indent="0" algn="l">
              <a:buNone/>
            </a:pPr>
            <a:r>
              <a:rPr lang="en-US" sz="870" dirty="0">
                <a:solidFill>
                  <a:srgbClr val="5B6770"/>
                </a:solidFill>
                <a:latin typeface="Aptos" pitchFamily="34" charset="0"/>
                <a:ea typeface="Aptos" pitchFamily="34" charset="-122"/>
                <a:cs typeface="Aptos" pitchFamily="34" charset="-120"/>
              </a:rPr>
              <a:t>Same cross-year peak-window definition</a:t>
            </a:r>
            <a:endParaRPr lang="en-US" sz="870" dirty="0"/>
          </a:p>
        </p:txBody>
      </p:sp>
      <p:sp>
        <p:nvSpPr>
          <p:cNvPr id="16" name="Text 13"/>
          <p:cNvSpPr/>
          <p:nvPr/>
        </p:nvSpPr>
        <p:spPr>
          <a:xfrm>
            <a:off x="6903720" y="4352544"/>
            <a:ext cx="3383280" cy="352044"/>
          </a:xfrm>
          <a:prstGeom prst="rect">
            <a:avLst/>
          </a:prstGeom>
          <a:noFill/>
          <a:ln/>
        </p:spPr>
        <p:txBody>
          <a:bodyPr wrap="square" lIns="127" tIns="127" rIns="127" bIns="127" rtlCol="0" anchor="t">
            <a:normAutofit/>
          </a:bodyPr>
          <a:lstStyle/>
          <a:p>
            <a:pPr marL="0" indent="0" algn="l">
              <a:buNone/>
            </a:pPr>
            <a:r>
              <a:rPr lang="en-US" sz="1980" b="1" dirty="0">
                <a:solidFill>
                  <a:srgbClr val="F28C28"/>
                </a:solidFill>
                <a:latin typeface="Aptos Display" pitchFamily="34" charset="0"/>
                <a:ea typeface="Aptos Display" pitchFamily="34" charset="-122"/>
                <a:cs typeface="Aptos Display" pitchFamily="34" charset="-120"/>
              </a:rPr>
              <a:t>+26.5%</a:t>
            </a:r>
            <a:endParaRPr lang="en-US" sz="1980" dirty="0"/>
          </a:p>
        </p:txBody>
      </p:sp>
      <p:sp>
        <p:nvSpPr>
          <p:cNvPr id="17" name="Text 14"/>
          <p:cNvSpPr/>
          <p:nvPr/>
        </p:nvSpPr>
        <p:spPr>
          <a:xfrm>
            <a:off x="6903720" y="4734763"/>
            <a:ext cx="3383280" cy="241402"/>
          </a:xfrm>
          <a:prstGeom prst="rect">
            <a:avLst/>
          </a:prstGeom>
          <a:noFill/>
          <a:ln/>
        </p:spPr>
        <p:txBody>
          <a:bodyPr wrap="square" lIns="127" tIns="127" rIns="127" bIns="127" rtlCol="0" anchor="t">
            <a:normAutofit/>
          </a:bodyPr>
          <a:lstStyle/>
          <a:p>
            <a:pPr marL="0" indent="0" algn="l">
              <a:buNone/>
            </a:pPr>
            <a:r>
              <a:rPr lang="en-US" sz="1080" b="1" dirty="0">
                <a:solidFill>
                  <a:srgbClr val="0B1F3A"/>
                </a:solidFill>
                <a:latin typeface="Aptos" pitchFamily="34" charset="0"/>
                <a:ea typeface="Aptos" pitchFamily="34" charset="-122"/>
                <a:cs typeface="Aptos" pitchFamily="34" charset="-120"/>
              </a:rPr>
              <a:t>Peak season change</a:t>
            </a:r>
            <a:endParaRPr lang="en-US" sz="1080" dirty="0"/>
          </a:p>
        </p:txBody>
      </p:sp>
      <p:sp>
        <p:nvSpPr>
          <p:cNvPr id="18" name="Text 15"/>
          <p:cNvSpPr/>
          <p:nvPr/>
        </p:nvSpPr>
        <p:spPr>
          <a:xfrm>
            <a:off x="6903720" y="5016398"/>
            <a:ext cx="3383280" cy="301752"/>
          </a:xfrm>
          <a:prstGeom prst="rect">
            <a:avLst/>
          </a:prstGeom>
          <a:noFill/>
          <a:ln/>
        </p:spPr>
        <p:txBody>
          <a:bodyPr wrap="square" lIns="127" tIns="127" rIns="127" bIns="127" rtlCol="0" anchor="t">
            <a:normAutofit/>
          </a:bodyPr>
          <a:lstStyle/>
          <a:p>
            <a:pPr marL="0" indent="0" algn="l">
              <a:buNone/>
            </a:pPr>
            <a:r>
              <a:rPr lang="en-US" sz="870" dirty="0">
                <a:solidFill>
                  <a:srgbClr val="5B6770"/>
                </a:solidFill>
                <a:latin typeface="Aptos" pitchFamily="34" charset="0"/>
                <a:ea typeface="Aptos" pitchFamily="34" charset="-122"/>
                <a:cs typeface="Aptos" pitchFamily="34" charset="-120"/>
              </a:rPr>
              <a:t>Extra 4.1M parcels vs 2019 peak</a:t>
            </a:r>
            <a:endParaRPr lang="en-US" sz="870" dirty="0"/>
          </a:p>
        </p:txBody>
      </p:sp>
      <p:sp>
        <p:nvSpPr>
          <p:cNvPr id="19" name="Text 16"/>
          <p:cNvSpPr/>
          <p:nvPr/>
        </p:nvSpPr>
        <p:spPr>
          <a:xfrm>
            <a:off x="676656" y="5879592"/>
            <a:ext cx="10789920" cy="402336"/>
          </a:xfrm>
          <a:prstGeom prst="roundRect">
            <a:avLst/>
          </a:prstGeom>
          <a:solidFill>
            <a:srgbClr val="EAF4FF"/>
          </a:solidFill>
          <a:ln>
            <a:solidFill>
              <a:srgbClr val="C9DDF4"/>
            </a:solidFill>
          </a:ln>
        </p:spPr>
        <p:txBody>
          <a:bodyPr wrap="square" lIns="1016" tIns="1016" rIns="1016" bIns="1016" rtlCol="0" anchor="ctr">
            <a:normAutofit/>
          </a:bodyPr>
          <a:lstStyle/>
          <a:p>
            <a:pPr marL="0" indent="0">
              <a:buNone/>
            </a:pPr>
            <a:r>
              <a:rPr lang="en-US" sz="1250" b="1" dirty="0">
                <a:solidFill>
                  <a:srgbClr val="0B1F3A"/>
                </a:solidFill>
                <a:latin typeface="Aptos" pitchFamily="34" charset="0"/>
                <a:ea typeface="Aptos" pitchFamily="34" charset="-122"/>
                <a:cs typeface="Aptos" pitchFamily="34" charset="-120"/>
              </a:rPr>
              <a:t>Key takeaway: COVID amplified the already-critical peak season, creating higher operational pressure and capacity requirements.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B"/>
          </a:solidFill>
          <a:ln w="12700">
            <a:solidFill>
              <a:srgbClr val="FFFFFF">
                <a:alpha val="0"/>
              </a:srgbClr>
            </a:solidFill>
            <a:prstDash val="solid"/>
          </a:ln>
        </p:spPr>
        <p:txBody>
          <a:bodyPr/>
          <a:lstStyle/>
          <a:p>
            <a:endParaRPr lang="en-US"/>
          </a:p>
        </p:txBody>
      </p:sp>
      <p:sp>
        <p:nvSpPr>
          <p:cNvPr id="3" name="Shape 1"/>
          <p:cNvSpPr/>
          <p:nvPr/>
        </p:nvSpPr>
        <p:spPr>
          <a:xfrm>
            <a:off x="0" y="0"/>
            <a:ext cx="12191695" cy="137160"/>
          </a:xfrm>
          <a:prstGeom prst="rect">
            <a:avLst/>
          </a:prstGeom>
          <a:solidFill>
            <a:srgbClr val="0B1F3A"/>
          </a:solidFill>
          <a:ln w="12700">
            <a:solidFill>
              <a:srgbClr val="FFFFFF">
                <a:alpha val="0"/>
              </a:srgbClr>
            </a:solidFill>
            <a:prstDash val="solid"/>
          </a:ln>
        </p:spPr>
        <p:txBody>
          <a:bodyPr/>
          <a:lstStyle/>
          <a:p>
            <a:endParaRPr lang="en-US"/>
          </a:p>
        </p:txBody>
      </p:sp>
      <p:sp>
        <p:nvSpPr>
          <p:cNvPr id="4" name="Text 2"/>
          <p:cNvSpPr/>
          <p:nvPr/>
        </p:nvSpPr>
        <p:spPr>
          <a:xfrm>
            <a:off x="502920" y="411480"/>
            <a:ext cx="960120" cy="301752"/>
          </a:xfrm>
          <a:prstGeom prst="roundRect">
            <a:avLst/>
          </a:prstGeom>
          <a:solidFill>
            <a:srgbClr val="00A6A6"/>
          </a:solidFill>
          <a:ln>
            <a:solidFill>
              <a:srgbClr val="00A6A6"/>
            </a:solidFill>
          </a:ln>
        </p:spPr>
        <p:txBody>
          <a:bodyPr wrap="square" lIns="254" tIns="254" rIns="254" bIns="25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STEP 6</a:t>
            </a:r>
            <a:endParaRPr lang="en-US" sz="1100" dirty="0"/>
          </a:p>
        </p:txBody>
      </p:sp>
      <p:sp>
        <p:nvSpPr>
          <p:cNvPr id="5" name="Text 3"/>
          <p:cNvSpPr/>
          <p:nvPr/>
        </p:nvSpPr>
        <p:spPr>
          <a:xfrm>
            <a:off x="502920" y="786384"/>
            <a:ext cx="8778240" cy="438912"/>
          </a:xfrm>
          <a:prstGeom prst="rect">
            <a:avLst/>
          </a:prstGeom>
          <a:noFill/>
          <a:ln/>
        </p:spPr>
        <p:txBody>
          <a:bodyPr wrap="square" lIns="508" tIns="508" rIns="508" bIns="508" rtlCol="0" anchor="t">
            <a:normAutofit lnSpcReduction="10000"/>
          </a:bodyPr>
          <a:lstStyle/>
          <a:p>
            <a:pPr marL="0" indent="0" algn="l">
              <a:buNone/>
            </a:pPr>
            <a:r>
              <a:rPr lang="en-US" sz="2900" b="1" dirty="0">
                <a:solidFill>
                  <a:srgbClr val="0B1F3A"/>
                </a:solidFill>
                <a:latin typeface="Aptos Display" pitchFamily="34" charset="0"/>
                <a:ea typeface="Aptos Display" pitchFamily="34" charset="-122"/>
                <a:cs typeface="Aptos Display" pitchFamily="34" charset="-120"/>
              </a:rPr>
              <a:t>Customer segmentation: customer mix shifted in 2020</a:t>
            </a:r>
            <a:endParaRPr lang="en-US" sz="2900" dirty="0"/>
          </a:p>
        </p:txBody>
      </p:sp>
      <p:sp>
        <p:nvSpPr>
          <p:cNvPr id="6" name="Text 4"/>
          <p:cNvSpPr/>
          <p:nvPr/>
        </p:nvSpPr>
        <p:spPr>
          <a:xfrm>
            <a:off x="521208" y="1243584"/>
            <a:ext cx="8138160" cy="320040"/>
          </a:xfrm>
          <a:prstGeom prst="rect">
            <a:avLst/>
          </a:prstGeom>
          <a:noFill/>
          <a:ln/>
        </p:spPr>
        <p:txBody>
          <a:bodyPr wrap="square" lIns="508" tIns="508" rIns="508" bIns="508" rtlCol="0" anchor="t">
            <a:normAutofit/>
          </a:bodyPr>
          <a:lstStyle/>
          <a:p>
            <a:pPr marL="0" indent="0" algn="l">
              <a:buNone/>
            </a:pPr>
            <a:r>
              <a:rPr lang="en-US" sz="1350" dirty="0">
                <a:solidFill>
                  <a:srgbClr val="5B6770"/>
                </a:solidFill>
                <a:latin typeface="Aptos" pitchFamily="34" charset="0"/>
                <a:ea typeface="Aptos" pitchFamily="34" charset="-122"/>
                <a:cs typeface="Aptos" pitchFamily="34" charset="-120"/>
              </a:rPr>
              <a:t>Customers were grouped by annual volume to show movement across size tiers.</a:t>
            </a:r>
            <a:endParaRPr lang="en-US" sz="1350" dirty="0"/>
          </a:p>
        </p:txBody>
      </p:sp>
      <p:sp>
        <p:nvSpPr>
          <p:cNvPr id="7" name="Text 5"/>
          <p:cNvSpPr/>
          <p:nvPr/>
        </p:nvSpPr>
        <p:spPr>
          <a:xfrm>
            <a:off x="502920" y="6510528"/>
            <a:ext cx="5303520" cy="201168"/>
          </a:xfrm>
          <a:prstGeom prst="rect">
            <a:avLst/>
          </a:prstGeom>
          <a:noFill/>
          <a:ln/>
        </p:spPr>
        <p:txBody>
          <a:bodyPr wrap="square" lIns="508" tIns="508" rIns="508" bIns="508" rtlCol="0" anchor="t">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Impact of COVID-19 on ABC Company Parcel Business</a:t>
            </a:r>
            <a:endParaRPr lang="en-US" sz="850" dirty="0"/>
          </a:p>
        </p:txBody>
      </p:sp>
      <p:sp>
        <p:nvSpPr>
          <p:cNvPr id="8" name="Text 6"/>
          <p:cNvSpPr/>
          <p:nvPr/>
        </p:nvSpPr>
        <p:spPr>
          <a:xfrm>
            <a:off x="11384280" y="6510528"/>
            <a:ext cx="320040" cy="201168"/>
          </a:xfrm>
          <a:prstGeom prst="rect">
            <a:avLst/>
          </a:prstGeom>
          <a:noFill/>
          <a:ln/>
        </p:spPr>
        <p:txBody>
          <a:bodyPr wrap="square" lIns="508" tIns="508" rIns="508" bIns="508" rtlCol="0" anchor="t">
            <a:normAutofit/>
          </a:bodyPr>
          <a:lstStyle/>
          <a:p>
            <a:pPr marL="0" indent="0" algn="r">
              <a:buNone/>
            </a:pPr>
            <a:r>
              <a:rPr lang="en-US" sz="850" dirty="0">
                <a:solidFill>
                  <a:srgbClr val="6B7280"/>
                </a:solidFill>
                <a:latin typeface="Aptos" pitchFamily="34" charset="0"/>
                <a:ea typeface="Aptos" pitchFamily="34" charset="-122"/>
                <a:cs typeface="Aptos" pitchFamily="34" charset="-120"/>
              </a:rPr>
              <a:t>8</a:t>
            </a:r>
            <a:endParaRPr lang="en-US" sz="850" dirty="0"/>
          </a:p>
        </p:txBody>
      </p:sp>
      <p:pic>
        <p:nvPicPr>
          <p:cNvPr id="9" name="Image 0" descr="/mnt/data/extracted_assets/cell16_out1.png"/>
          <p:cNvPicPr>
            <a:picLocks noChangeAspect="1"/>
          </p:cNvPicPr>
          <p:nvPr/>
        </p:nvPicPr>
        <p:blipFill>
          <a:blip r:embed="rId3"/>
          <a:stretch>
            <a:fillRect/>
          </a:stretch>
        </p:blipFill>
        <p:spPr>
          <a:xfrm>
            <a:off x="872167" y="1691640"/>
            <a:ext cx="5570866" cy="4160520"/>
          </a:xfrm>
          <a:prstGeom prst="rect">
            <a:avLst/>
          </a:prstGeom>
        </p:spPr>
      </p:pic>
      <p:sp>
        <p:nvSpPr>
          <p:cNvPr id="10" name="Text 7"/>
          <p:cNvSpPr/>
          <p:nvPr/>
        </p:nvSpPr>
        <p:spPr>
          <a:xfrm>
            <a:off x="7086600" y="1755648"/>
            <a:ext cx="3291840" cy="256032"/>
          </a:xfrm>
          <a:prstGeom prst="rect">
            <a:avLst/>
          </a:prstGeom>
          <a:noFill/>
          <a:ln/>
        </p:spPr>
        <p:txBody>
          <a:bodyPr wrap="square" lIns="508" tIns="508" rIns="508" bIns="508" rtlCol="0" anchor="t">
            <a:normAutofit/>
          </a:bodyPr>
          <a:lstStyle/>
          <a:p>
            <a:pPr marL="0" indent="0" algn="l">
              <a:buNone/>
            </a:pPr>
            <a:r>
              <a:rPr lang="en-US" sz="1600" b="1" dirty="0">
                <a:solidFill>
                  <a:srgbClr val="0B1F3A"/>
                </a:solidFill>
                <a:latin typeface="Aptos" pitchFamily="34" charset="0"/>
                <a:ea typeface="Aptos" pitchFamily="34" charset="-122"/>
                <a:cs typeface="Aptos" pitchFamily="34" charset="-120"/>
              </a:rPr>
              <a:t>Notable movements</a:t>
            </a:r>
            <a:endParaRPr lang="en-US" sz="1600" dirty="0"/>
          </a:p>
        </p:txBody>
      </p:sp>
      <p:sp>
        <p:nvSpPr>
          <p:cNvPr id="11" name="Text 8"/>
          <p:cNvSpPr/>
          <p:nvPr/>
        </p:nvSpPr>
        <p:spPr>
          <a:xfrm>
            <a:off x="7178040" y="2194560"/>
            <a:ext cx="3749040" cy="402336"/>
          </a:xfrm>
          <a:prstGeom prst="rect">
            <a:avLst/>
          </a:prstGeom>
          <a:noFill/>
          <a:ln/>
        </p:spPr>
        <p:txBody>
          <a:bodyPr wrap="square" lIns="508" tIns="508" rIns="508" bIns="508" rtlCol="0" anchor="t">
            <a:normAutofit/>
          </a:bodyPr>
          <a:lstStyle/>
          <a:p>
            <a:pPr marL="0" indent="0" algn="l">
              <a:buNone/>
            </a:pPr>
            <a:r>
              <a:rPr lang="en-US" sz="1240" dirty="0">
                <a:solidFill>
                  <a:srgbClr val="5B6770"/>
                </a:solidFill>
                <a:latin typeface="Aptos" pitchFamily="34" charset="0"/>
                <a:ea typeface="Aptos" pitchFamily="34" charset="-122"/>
                <a:cs typeface="Aptos" pitchFamily="34" charset="-120"/>
              </a:rPr>
              <a:t>• Small customers fell from 860 to 681 as many moved up or down in activity.</a:t>
            </a:r>
            <a:endParaRPr lang="en-US" sz="1240" dirty="0"/>
          </a:p>
        </p:txBody>
      </p:sp>
      <p:sp>
        <p:nvSpPr>
          <p:cNvPr id="12" name="Text 9"/>
          <p:cNvSpPr/>
          <p:nvPr/>
        </p:nvSpPr>
        <p:spPr>
          <a:xfrm>
            <a:off x="7178040" y="2724912"/>
            <a:ext cx="3749040" cy="402336"/>
          </a:xfrm>
          <a:prstGeom prst="rect">
            <a:avLst/>
          </a:prstGeom>
          <a:noFill/>
          <a:ln/>
        </p:spPr>
        <p:txBody>
          <a:bodyPr wrap="square" lIns="508" tIns="508" rIns="508" bIns="508" rtlCol="0" anchor="t">
            <a:normAutofit/>
          </a:bodyPr>
          <a:lstStyle/>
          <a:p>
            <a:pPr marL="0" indent="0" algn="l">
              <a:buNone/>
            </a:pPr>
            <a:r>
              <a:rPr lang="en-US" sz="1240" dirty="0">
                <a:solidFill>
                  <a:srgbClr val="5B6770"/>
                </a:solidFill>
                <a:latin typeface="Aptos" pitchFamily="34" charset="0"/>
                <a:ea typeface="Aptos" pitchFamily="34" charset="-122"/>
                <a:cs typeface="Aptos" pitchFamily="34" charset="-120"/>
              </a:rPr>
              <a:t>• Medium customers rose from 174 to 234, indicating expansion among smaller accounts.</a:t>
            </a:r>
            <a:endParaRPr lang="en-US" sz="1240" dirty="0"/>
          </a:p>
        </p:txBody>
      </p:sp>
      <p:sp>
        <p:nvSpPr>
          <p:cNvPr id="13" name="Text 10"/>
          <p:cNvSpPr/>
          <p:nvPr/>
        </p:nvSpPr>
        <p:spPr>
          <a:xfrm>
            <a:off x="7178040" y="3255264"/>
            <a:ext cx="3749040" cy="402336"/>
          </a:xfrm>
          <a:prstGeom prst="rect">
            <a:avLst/>
          </a:prstGeom>
          <a:noFill/>
          <a:ln/>
        </p:spPr>
        <p:txBody>
          <a:bodyPr wrap="square" lIns="508" tIns="508" rIns="508" bIns="508" rtlCol="0" anchor="t">
            <a:normAutofit/>
          </a:bodyPr>
          <a:lstStyle/>
          <a:p>
            <a:pPr marL="0" indent="0" algn="l">
              <a:buNone/>
            </a:pPr>
            <a:r>
              <a:rPr lang="en-US" sz="1240" dirty="0">
                <a:solidFill>
                  <a:srgbClr val="5B6770"/>
                </a:solidFill>
                <a:latin typeface="Aptos" pitchFamily="34" charset="0"/>
                <a:ea typeface="Aptos" pitchFamily="34" charset="-122"/>
                <a:cs typeface="Aptos" pitchFamily="34" charset="-120"/>
              </a:rPr>
              <a:t>• Large and Enterprise segments both grew slightly in customer count.</a:t>
            </a:r>
            <a:endParaRPr lang="en-US" sz="1240" dirty="0"/>
          </a:p>
        </p:txBody>
      </p:sp>
      <p:sp>
        <p:nvSpPr>
          <p:cNvPr id="14" name="Text 11"/>
          <p:cNvSpPr/>
          <p:nvPr/>
        </p:nvSpPr>
        <p:spPr>
          <a:xfrm>
            <a:off x="7178040" y="3785616"/>
            <a:ext cx="3749040" cy="402336"/>
          </a:xfrm>
          <a:prstGeom prst="rect">
            <a:avLst/>
          </a:prstGeom>
          <a:noFill/>
          <a:ln/>
        </p:spPr>
        <p:txBody>
          <a:bodyPr wrap="square" lIns="508" tIns="508" rIns="508" bIns="508" rtlCol="0" anchor="t">
            <a:normAutofit/>
          </a:bodyPr>
          <a:lstStyle/>
          <a:p>
            <a:pPr marL="0" indent="0" algn="l">
              <a:buNone/>
            </a:pPr>
            <a:r>
              <a:rPr lang="en-US" sz="1240" dirty="0">
                <a:solidFill>
                  <a:srgbClr val="5B6770"/>
                </a:solidFill>
                <a:latin typeface="Aptos" pitchFamily="34" charset="0"/>
                <a:ea typeface="Aptos" pitchFamily="34" charset="-122"/>
                <a:cs typeface="Aptos" pitchFamily="34" charset="-120"/>
              </a:rPr>
              <a:t>• Micro/Other appeared in 2020 with 95 customers, showing uneven demand effects.</a:t>
            </a:r>
            <a:endParaRPr lang="en-US" sz="1240" dirty="0"/>
          </a:p>
        </p:txBody>
      </p:sp>
      <p:sp>
        <p:nvSpPr>
          <p:cNvPr id="15" name="Text 12"/>
          <p:cNvSpPr/>
          <p:nvPr/>
        </p:nvSpPr>
        <p:spPr>
          <a:xfrm>
            <a:off x="676656" y="5879592"/>
            <a:ext cx="10789920" cy="402336"/>
          </a:xfrm>
          <a:prstGeom prst="roundRect">
            <a:avLst/>
          </a:prstGeom>
          <a:solidFill>
            <a:srgbClr val="EAF4FF"/>
          </a:solidFill>
          <a:ln>
            <a:solidFill>
              <a:srgbClr val="C9DDF4"/>
            </a:solidFill>
          </a:ln>
        </p:spPr>
        <p:txBody>
          <a:bodyPr wrap="square" lIns="1016" tIns="1016" rIns="1016" bIns="1016" rtlCol="0" anchor="ctr">
            <a:normAutofit/>
          </a:bodyPr>
          <a:lstStyle/>
          <a:p>
            <a:pPr marL="0" indent="0">
              <a:buNone/>
            </a:pPr>
            <a:r>
              <a:rPr lang="en-US" sz="1250" b="1" dirty="0">
                <a:solidFill>
                  <a:srgbClr val="0B1F3A"/>
                </a:solidFill>
                <a:latin typeface="Aptos" pitchFamily="34" charset="0"/>
                <a:ea typeface="Aptos" pitchFamily="34" charset="-122"/>
                <a:cs typeface="Aptos" pitchFamily="34" charset="-120"/>
              </a:rPr>
              <a:t>Key takeaway: COVID did not only increase volume; it changed the composition of the customer base.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B"/>
          </a:solidFill>
          <a:ln w="12700">
            <a:solidFill>
              <a:srgbClr val="FFFFFF">
                <a:alpha val="0"/>
              </a:srgbClr>
            </a:solidFill>
            <a:prstDash val="solid"/>
          </a:ln>
        </p:spPr>
        <p:txBody>
          <a:bodyPr/>
          <a:lstStyle/>
          <a:p>
            <a:endParaRPr lang="en-US"/>
          </a:p>
        </p:txBody>
      </p:sp>
      <p:sp>
        <p:nvSpPr>
          <p:cNvPr id="3" name="Shape 1"/>
          <p:cNvSpPr/>
          <p:nvPr/>
        </p:nvSpPr>
        <p:spPr>
          <a:xfrm>
            <a:off x="0" y="0"/>
            <a:ext cx="12191695" cy="137160"/>
          </a:xfrm>
          <a:prstGeom prst="rect">
            <a:avLst/>
          </a:prstGeom>
          <a:solidFill>
            <a:srgbClr val="0B1F3A"/>
          </a:solidFill>
          <a:ln w="12700">
            <a:solidFill>
              <a:srgbClr val="FFFFFF">
                <a:alpha val="0"/>
              </a:srgbClr>
            </a:solidFill>
            <a:prstDash val="solid"/>
          </a:ln>
        </p:spPr>
        <p:txBody>
          <a:bodyPr/>
          <a:lstStyle/>
          <a:p>
            <a:endParaRPr lang="en-US"/>
          </a:p>
        </p:txBody>
      </p:sp>
      <p:sp>
        <p:nvSpPr>
          <p:cNvPr id="4" name="Text 2"/>
          <p:cNvSpPr/>
          <p:nvPr/>
        </p:nvSpPr>
        <p:spPr>
          <a:xfrm>
            <a:off x="502920" y="411480"/>
            <a:ext cx="960120" cy="301752"/>
          </a:xfrm>
          <a:prstGeom prst="roundRect">
            <a:avLst/>
          </a:prstGeom>
          <a:solidFill>
            <a:srgbClr val="00A6A6"/>
          </a:solidFill>
          <a:ln>
            <a:solidFill>
              <a:srgbClr val="00A6A6"/>
            </a:solidFill>
          </a:ln>
        </p:spPr>
        <p:txBody>
          <a:bodyPr wrap="square" lIns="254" tIns="254" rIns="254" bIns="25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STEP 7</a:t>
            </a:r>
            <a:endParaRPr lang="en-US" sz="1100" dirty="0"/>
          </a:p>
        </p:txBody>
      </p:sp>
      <p:sp>
        <p:nvSpPr>
          <p:cNvPr id="5" name="Text 3"/>
          <p:cNvSpPr/>
          <p:nvPr/>
        </p:nvSpPr>
        <p:spPr>
          <a:xfrm>
            <a:off x="502920" y="786384"/>
            <a:ext cx="8778240" cy="438912"/>
          </a:xfrm>
          <a:prstGeom prst="rect">
            <a:avLst/>
          </a:prstGeom>
          <a:noFill/>
          <a:ln/>
        </p:spPr>
        <p:txBody>
          <a:bodyPr wrap="square" lIns="508" tIns="508" rIns="508" bIns="508" rtlCol="0" anchor="t">
            <a:normAutofit fontScale="92500"/>
          </a:bodyPr>
          <a:lstStyle/>
          <a:p>
            <a:pPr marL="0" indent="0" algn="l">
              <a:buNone/>
            </a:pPr>
            <a:r>
              <a:rPr lang="en-US" sz="2900" b="1" dirty="0">
                <a:solidFill>
                  <a:srgbClr val="0B1F3A"/>
                </a:solidFill>
                <a:latin typeface="Aptos Display" pitchFamily="34" charset="0"/>
                <a:ea typeface="Aptos Display" pitchFamily="34" charset="-122"/>
                <a:cs typeface="Aptos Display" pitchFamily="34" charset="-120"/>
              </a:rPr>
              <a:t>Impact by customer group: Enterprise dominates volume</a:t>
            </a:r>
            <a:endParaRPr lang="en-US" sz="2900" dirty="0"/>
          </a:p>
        </p:txBody>
      </p:sp>
      <p:sp>
        <p:nvSpPr>
          <p:cNvPr id="6" name="Text 4"/>
          <p:cNvSpPr/>
          <p:nvPr/>
        </p:nvSpPr>
        <p:spPr>
          <a:xfrm>
            <a:off x="521208" y="1243584"/>
            <a:ext cx="8138160" cy="320040"/>
          </a:xfrm>
          <a:prstGeom prst="rect">
            <a:avLst/>
          </a:prstGeom>
          <a:noFill/>
          <a:ln/>
        </p:spPr>
        <p:txBody>
          <a:bodyPr wrap="square" lIns="508" tIns="508" rIns="508" bIns="508" rtlCol="0" anchor="t">
            <a:normAutofit/>
          </a:bodyPr>
          <a:lstStyle/>
          <a:p>
            <a:pPr marL="0" indent="0" algn="l">
              <a:buNone/>
            </a:pPr>
            <a:r>
              <a:rPr lang="en-US" sz="1350" dirty="0">
                <a:solidFill>
                  <a:srgbClr val="5B6770"/>
                </a:solidFill>
                <a:latin typeface="Aptos" pitchFamily="34" charset="0"/>
                <a:ea typeface="Aptos" pitchFamily="34" charset="-122"/>
                <a:cs typeface="Aptos" pitchFamily="34" charset="-120"/>
              </a:rPr>
              <a:t>All groups increased in 2020, but the volume base remains concentrated.</a:t>
            </a:r>
            <a:endParaRPr lang="en-US" sz="1350" dirty="0"/>
          </a:p>
        </p:txBody>
      </p:sp>
      <p:sp>
        <p:nvSpPr>
          <p:cNvPr id="7" name="Text 5"/>
          <p:cNvSpPr/>
          <p:nvPr/>
        </p:nvSpPr>
        <p:spPr>
          <a:xfrm>
            <a:off x="502920" y="6510528"/>
            <a:ext cx="5303520" cy="201168"/>
          </a:xfrm>
          <a:prstGeom prst="rect">
            <a:avLst/>
          </a:prstGeom>
          <a:noFill/>
          <a:ln/>
        </p:spPr>
        <p:txBody>
          <a:bodyPr wrap="square" lIns="508" tIns="508" rIns="508" bIns="508" rtlCol="0" anchor="t">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Impact of COVID-19 on ABC Company Parcel Business</a:t>
            </a:r>
            <a:endParaRPr lang="en-US" sz="850" dirty="0"/>
          </a:p>
        </p:txBody>
      </p:sp>
      <p:sp>
        <p:nvSpPr>
          <p:cNvPr id="8" name="Text 6"/>
          <p:cNvSpPr/>
          <p:nvPr/>
        </p:nvSpPr>
        <p:spPr>
          <a:xfrm>
            <a:off x="11384280" y="6510528"/>
            <a:ext cx="320040" cy="201168"/>
          </a:xfrm>
          <a:prstGeom prst="rect">
            <a:avLst/>
          </a:prstGeom>
          <a:noFill/>
          <a:ln/>
        </p:spPr>
        <p:txBody>
          <a:bodyPr wrap="square" lIns="508" tIns="508" rIns="508" bIns="508" rtlCol="0" anchor="t">
            <a:normAutofit/>
          </a:bodyPr>
          <a:lstStyle/>
          <a:p>
            <a:pPr marL="0" indent="0" algn="r">
              <a:buNone/>
            </a:pPr>
            <a:r>
              <a:rPr lang="en-US" sz="850" dirty="0">
                <a:solidFill>
                  <a:srgbClr val="6B7280"/>
                </a:solidFill>
                <a:latin typeface="Aptos" pitchFamily="34" charset="0"/>
                <a:ea typeface="Aptos" pitchFamily="34" charset="-122"/>
                <a:cs typeface="Aptos" pitchFamily="34" charset="-120"/>
              </a:rPr>
              <a:t>9</a:t>
            </a:r>
            <a:endParaRPr lang="en-US" sz="850" dirty="0"/>
          </a:p>
        </p:txBody>
      </p:sp>
      <p:pic>
        <p:nvPicPr>
          <p:cNvPr id="9" name="Image 0" descr="/mnt/data/extracted_assets/cell25_out0.png"/>
          <p:cNvPicPr>
            <a:picLocks noChangeAspect="1"/>
          </p:cNvPicPr>
          <p:nvPr/>
        </p:nvPicPr>
        <p:blipFill>
          <a:blip r:embed="rId3"/>
          <a:stretch>
            <a:fillRect/>
          </a:stretch>
        </p:blipFill>
        <p:spPr>
          <a:xfrm>
            <a:off x="640080" y="1712442"/>
            <a:ext cx="6446520" cy="3936036"/>
          </a:xfrm>
          <a:prstGeom prst="rect">
            <a:avLst/>
          </a:prstGeom>
        </p:spPr>
      </p:pic>
      <p:sp>
        <p:nvSpPr>
          <p:cNvPr id="10" name="Text 7"/>
          <p:cNvSpPr/>
          <p:nvPr/>
        </p:nvSpPr>
        <p:spPr>
          <a:xfrm>
            <a:off x="7726680" y="1783080"/>
            <a:ext cx="3108960" cy="256032"/>
          </a:xfrm>
          <a:prstGeom prst="rect">
            <a:avLst/>
          </a:prstGeom>
          <a:noFill/>
          <a:ln/>
        </p:spPr>
        <p:txBody>
          <a:bodyPr wrap="square" lIns="508" tIns="508" rIns="508" bIns="508" rtlCol="0" anchor="t">
            <a:normAutofit/>
          </a:bodyPr>
          <a:lstStyle/>
          <a:p>
            <a:pPr marL="0" indent="0" algn="l">
              <a:buNone/>
            </a:pPr>
            <a:r>
              <a:rPr lang="en-US" sz="1600" b="1" dirty="0">
                <a:solidFill>
                  <a:srgbClr val="0B1F3A"/>
                </a:solidFill>
                <a:latin typeface="Aptos" pitchFamily="34" charset="0"/>
                <a:ea typeface="Aptos" pitchFamily="34" charset="-122"/>
                <a:cs typeface="Aptos" pitchFamily="34" charset="-120"/>
              </a:rPr>
              <a:t>Segment interpretation</a:t>
            </a:r>
            <a:endParaRPr lang="en-US" sz="1600" dirty="0"/>
          </a:p>
        </p:txBody>
      </p:sp>
      <p:sp>
        <p:nvSpPr>
          <p:cNvPr id="11" name="Text 8"/>
          <p:cNvSpPr/>
          <p:nvPr/>
        </p:nvSpPr>
        <p:spPr>
          <a:xfrm>
            <a:off x="7818120" y="2240280"/>
            <a:ext cx="1005840" cy="246888"/>
          </a:xfrm>
          <a:prstGeom prst="rect">
            <a:avLst/>
          </a:prstGeom>
          <a:noFill/>
          <a:ln/>
        </p:spPr>
        <p:txBody>
          <a:bodyPr wrap="square" lIns="508" tIns="508" rIns="508" bIns="508" rtlCol="0" anchor="t">
            <a:normAutofit/>
          </a:bodyPr>
          <a:lstStyle/>
          <a:p>
            <a:pPr marL="0" indent="0" algn="l">
              <a:buNone/>
            </a:pPr>
            <a:r>
              <a:rPr lang="en-US" sz="1220" b="1" dirty="0">
                <a:solidFill>
                  <a:srgbClr val="F28C28"/>
                </a:solidFill>
                <a:latin typeface="Aptos" pitchFamily="34" charset="0"/>
                <a:ea typeface="Aptos" pitchFamily="34" charset="-122"/>
                <a:cs typeface="Aptos" pitchFamily="34" charset="-120"/>
              </a:rPr>
              <a:t>Enterprise</a:t>
            </a:r>
            <a:endParaRPr lang="en-US" sz="1220" dirty="0"/>
          </a:p>
        </p:txBody>
      </p:sp>
      <p:sp>
        <p:nvSpPr>
          <p:cNvPr id="12" name="Text 9"/>
          <p:cNvSpPr/>
          <p:nvPr/>
        </p:nvSpPr>
        <p:spPr>
          <a:xfrm>
            <a:off x="9098280" y="2240280"/>
            <a:ext cx="2011680" cy="384048"/>
          </a:xfrm>
          <a:prstGeom prst="rect">
            <a:avLst/>
          </a:prstGeom>
          <a:noFill/>
          <a:ln/>
        </p:spPr>
        <p:txBody>
          <a:bodyPr wrap="square" lIns="508" tIns="508" rIns="508" bIns="508" rtlCol="0" anchor="t">
            <a:normAutofit/>
          </a:bodyPr>
          <a:lstStyle/>
          <a:p>
            <a:pPr marL="0" indent="0" algn="l">
              <a:buNone/>
            </a:pPr>
            <a:r>
              <a:rPr lang="en-US" sz="1080" dirty="0">
                <a:solidFill>
                  <a:srgbClr val="5B6770"/>
                </a:solidFill>
                <a:latin typeface="Aptos" pitchFamily="34" charset="0"/>
                <a:ea typeface="Aptos" pitchFamily="34" charset="-122"/>
                <a:cs typeface="Aptos" pitchFamily="34" charset="-120"/>
              </a:rPr>
              <a:t>Largest total volume and the biggest absolute swing.</a:t>
            </a:r>
            <a:endParaRPr lang="en-US" sz="1080" dirty="0"/>
          </a:p>
        </p:txBody>
      </p:sp>
      <p:sp>
        <p:nvSpPr>
          <p:cNvPr id="13" name="Text 10"/>
          <p:cNvSpPr/>
          <p:nvPr/>
        </p:nvSpPr>
        <p:spPr>
          <a:xfrm>
            <a:off x="7818120" y="2935224"/>
            <a:ext cx="1005840" cy="246888"/>
          </a:xfrm>
          <a:prstGeom prst="rect">
            <a:avLst/>
          </a:prstGeom>
          <a:noFill/>
          <a:ln/>
        </p:spPr>
        <p:txBody>
          <a:bodyPr wrap="square" lIns="508" tIns="508" rIns="508" bIns="508" rtlCol="0" anchor="t">
            <a:normAutofit/>
          </a:bodyPr>
          <a:lstStyle/>
          <a:p>
            <a:pPr marL="0" indent="0" algn="l">
              <a:buNone/>
            </a:pPr>
            <a:r>
              <a:rPr lang="en-US" sz="1220" b="1" dirty="0">
                <a:solidFill>
                  <a:srgbClr val="145DA0"/>
                </a:solidFill>
                <a:latin typeface="Aptos" pitchFamily="34" charset="0"/>
                <a:ea typeface="Aptos" pitchFamily="34" charset="-122"/>
                <a:cs typeface="Aptos" pitchFamily="34" charset="-120"/>
              </a:rPr>
              <a:t>Large</a:t>
            </a:r>
            <a:endParaRPr lang="en-US" sz="1220" dirty="0"/>
          </a:p>
        </p:txBody>
      </p:sp>
      <p:sp>
        <p:nvSpPr>
          <p:cNvPr id="14" name="Text 11"/>
          <p:cNvSpPr/>
          <p:nvPr/>
        </p:nvSpPr>
        <p:spPr>
          <a:xfrm>
            <a:off x="9098280" y="2935224"/>
            <a:ext cx="2011680" cy="384048"/>
          </a:xfrm>
          <a:prstGeom prst="rect">
            <a:avLst/>
          </a:prstGeom>
          <a:noFill/>
          <a:ln/>
        </p:spPr>
        <p:txBody>
          <a:bodyPr wrap="square" lIns="508" tIns="508" rIns="508" bIns="508" rtlCol="0" anchor="t">
            <a:normAutofit/>
          </a:bodyPr>
          <a:lstStyle/>
          <a:p>
            <a:pPr marL="0" indent="0" algn="l">
              <a:buNone/>
            </a:pPr>
            <a:r>
              <a:rPr lang="en-US" sz="1080" dirty="0">
                <a:solidFill>
                  <a:srgbClr val="5B6770"/>
                </a:solidFill>
                <a:latin typeface="Aptos" pitchFamily="34" charset="0"/>
                <a:ea typeface="Aptos" pitchFamily="34" charset="-122"/>
                <a:cs typeface="Aptos" pitchFamily="34" charset="-120"/>
              </a:rPr>
              <a:t>Small customer count, but important growth signal.</a:t>
            </a:r>
            <a:endParaRPr lang="en-US" sz="1080" dirty="0"/>
          </a:p>
        </p:txBody>
      </p:sp>
      <p:sp>
        <p:nvSpPr>
          <p:cNvPr id="15" name="Text 12"/>
          <p:cNvSpPr/>
          <p:nvPr/>
        </p:nvSpPr>
        <p:spPr>
          <a:xfrm>
            <a:off x="7818120" y="3630168"/>
            <a:ext cx="1005840" cy="246888"/>
          </a:xfrm>
          <a:prstGeom prst="rect">
            <a:avLst/>
          </a:prstGeom>
          <a:noFill/>
          <a:ln/>
        </p:spPr>
        <p:txBody>
          <a:bodyPr wrap="square" lIns="508" tIns="508" rIns="508" bIns="508" rtlCol="0" anchor="t">
            <a:normAutofit/>
          </a:bodyPr>
          <a:lstStyle/>
          <a:p>
            <a:pPr marL="0" indent="0" algn="l">
              <a:buNone/>
            </a:pPr>
            <a:r>
              <a:rPr lang="en-US" sz="1220" b="1" dirty="0">
                <a:solidFill>
                  <a:srgbClr val="145DA0"/>
                </a:solidFill>
                <a:latin typeface="Aptos" pitchFamily="34" charset="0"/>
                <a:ea typeface="Aptos" pitchFamily="34" charset="-122"/>
                <a:cs typeface="Aptos" pitchFamily="34" charset="-120"/>
              </a:rPr>
              <a:t>Medium</a:t>
            </a:r>
            <a:endParaRPr lang="en-US" sz="1220" dirty="0"/>
          </a:p>
        </p:txBody>
      </p:sp>
      <p:sp>
        <p:nvSpPr>
          <p:cNvPr id="16" name="Text 13"/>
          <p:cNvSpPr/>
          <p:nvPr/>
        </p:nvSpPr>
        <p:spPr>
          <a:xfrm>
            <a:off x="9098280" y="3630168"/>
            <a:ext cx="2011680" cy="384048"/>
          </a:xfrm>
          <a:prstGeom prst="rect">
            <a:avLst/>
          </a:prstGeom>
          <a:noFill/>
          <a:ln/>
        </p:spPr>
        <p:txBody>
          <a:bodyPr wrap="square" lIns="508" tIns="508" rIns="508" bIns="508" rtlCol="0" anchor="t">
            <a:normAutofit/>
          </a:bodyPr>
          <a:lstStyle/>
          <a:p>
            <a:pPr marL="0" indent="0" algn="l">
              <a:buNone/>
            </a:pPr>
            <a:r>
              <a:rPr lang="en-US" sz="1080" dirty="0">
                <a:solidFill>
                  <a:srgbClr val="5B6770"/>
                </a:solidFill>
                <a:latin typeface="Aptos" pitchFamily="34" charset="0"/>
                <a:ea typeface="Aptos" pitchFamily="34" charset="-122"/>
                <a:cs typeface="Aptos" pitchFamily="34" charset="-120"/>
              </a:rPr>
              <a:t>Meaningful contribution and a clear 2020 uplift.</a:t>
            </a:r>
            <a:endParaRPr lang="en-US" sz="1080" dirty="0"/>
          </a:p>
        </p:txBody>
      </p:sp>
      <p:sp>
        <p:nvSpPr>
          <p:cNvPr id="17" name="Text 14"/>
          <p:cNvSpPr/>
          <p:nvPr/>
        </p:nvSpPr>
        <p:spPr>
          <a:xfrm>
            <a:off x="7818120" y="4325112"/>
            <a:ext cx="1005840" cy="246888"/>
          </a:xfrm>
          <a:prstGeom prst="rect">
            <a:avLst/>
          </a:prstGeom>
          <a:noFill/>
          <a:ln/>
        </p:spPr>
        <p:txBody>
          <a:bodyPr wrap="square" lIns="508" tIns="508" rIns="508" bIns="508" rtlCol="0" anchor="t">
            <a:normAutofit/>
          </a:bodyPr>
          <a:lstStyle/>
          <a:p>
            <a:pPr marL="0" indent="0" algn="l">
              <a:buNone/>
            </a:pPr>
            <a:r>
              <a:rPr lang="en-US" sz="1220" b="1" dirty="0">
                <a:solidFill>
                  <a:srgbClr val="145DA0"/>
                </a:solidFill>
                <a:latin typeface="Aptos" pitchFamily="34" charset="0"/>
                <a:ea typeface="Aptos" pitchFamily="34" charset="-122"/>
                <a:cs typeface="Aptos" pitchFamily="34" charset="-120"/>
              </a:rPr>
              <a:t>Small</a:t>
            </a:r>
            <a:endParaRPr lang="en-US" sz="1220" dirty="0"/>
          </a:p>
        </p:txBody>
      </p:sp>
      <p:sp>
        <p:nvSpPr>
          <p:cNvPr id="18" name="Text 15"/>
          <p:cNvSpPr/>
          <p:nvPr/>
        </p:nvSpPr>
        <p:spPr>
          <a:xfrm>
            <a:off x="9098280" y="4325112"/>
            <a:ext cx="2011680" cy="384048"/>
          </a:xfrm>
          <a:prstGeom prst="rect">
            <a:avLst/>
          </a:prstGeom>
          <a:noFill/>
          <a:ln/>
        </p:spPr>
        <p:txBody>
          <a:bodyPr wrap="square" lIns="508" tIns="508" rIns="508" bIns="508" rtlCol="0" anchor="t">
            <a:normAutofit/>
          </a:bodyPr>
          <a:lstStyle/>
          <a:p>
            <a:pPr marL="0" indent="0" algn="l">
              <a:buNone/>
            </a:pPr>
            <a:r>
              <a:rPr lang="en-US" sz="1080" dirty="0">
                <a:solidFill>
                  <a:srgbClr val="5B6770"/>
                </a:solidFill>
                <a:latin typeface="Aptos" pitchFamily="34" charset="0"/>
                <a:ea typeface="Aptos" pitchFamily="34" charset="-122"/>
                <a:cs typeface="Aptos" pitchFamily="34" charset="-120"/>
              </a:rPr>
              <a:t>Lower volume individually, but broad base and high variability.</a:t>
            </a:r>
            <a:endParaRPr lang="en-US" sz="1080" dirty="0"/>
          </a:p>
        </p:txBody>
      </p:sp>
      <p:sp>
        <p:nvSpPr>
          <p:cNvPr id="19" name="Text 16"/>
          <p:cNvSpPr/>
          <p:nvPr/>
        </p:nvSpPr>
        <p:spPr>
          <a:xfrm>
            <a:off x="676656" y="5879592"/>
            <a:ext cx="10789920" cy="402336"/>
          </a:xfrm>
          <a:prstGeom prst="roundRect">
            <a:avLst/>
          </a:prstGeom>
          <a:solidFill>
            <a:srgbClr val="EAF4FF"/>
          </a:solidFill>
          <a:ln>
            <a:solidFill>
              <a:srgbClr val="C9DDF4"/>
            </a:solidFill>
          </a:ln>
        </p:spPr>
        <p:txBody>
          <a:bodyPr wrap="square" lIns="1016" tIns="1016" rIns="1016" bIns="1016" rtlCol="0" anchor="ctr">
            <a:normAutofit/>
          </a:bodyPr>
          <a:lstStyle/>
          <a:p>
            <a:pPr marL="0" indent="0">
              <a:buNone/>
            </a:pPr>
            <a:r>
              <a:rPr lang="en-US" sz="1250" b="1" dirty="0">
                <a:solidFill>
                  <a:srgbClr val="0B1F3A"/>
                </a:solidFill>
                <a:latin typeface="Aptos" pitchFamily="34" charset="0"/>
                <a:ea typeface="Aptos" pitchFamily="34" charset="-122"/>
                <a:cs typeface="Aptos" pitchFamily="34" charset="-120"/>
              </a:rPr>
              <a:t>Key takeaway: COVID created a broad uplift, but operational risk is concentrated in high-volume Enterprise accounts.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B"/>
          </a:solidFill>
          <a:ln w="12700">
            <a:solidFill>
              <a:srgbClr val="FFFFFF">
                <a:alpha val="0"/>
              </a:srgbClr>
            </a:solidFill>
            <a:prstDash val="solid"/>
          </a:ln>
        </p:spPr>
        <p:txBody>
          <a:bodyPr/>
          <a:lstStyle/>
          <a:p>
            <a:endParaRPr lang="en-US"/>
          </a:p>
        </p:txBody>
      </p:sp>
      <p:sp>
        <p:nvSpPr>
          <p:cNvPr id="3" name="Shape 1"/>
          <p:cNvSpPr/>
          <p:nvPr/>
        </p:nvSpPr>
        <p:spPr>
          <a:xfrm>
            <a:off x="0" y="0"/>
            <a:ext cx="12191695" cy="137160"/>
          </a:xfrm>
          <a:prstGeom prst="rect">
            <a:avLst/>
          </a:prstGeom>
          <a:solidFill>
            <a:srgbClr val="0B1F3A"/>
          </a:solidFill>
          <a:ln w="12700">
            <a:solidFill>
              <a:srgbClr val="FFFFFF">
                <a:alpha val="0"/>
              </a:srgbClr>
            </a:solidFill>
            <a:prstDash val="solid"/>
          </a:ln>
        </p:spPr>
        <p:txBody>
          <a:bodyPr/>
          <a:lstStyle/>
          <a:p>
            <a:endParaRPr lang="en-US"/>
          </a:p>
        </p:txBody>
      </p:sp>
      <p:sp>
        <p:nvSpPr>
          <p:cNvPr id="4" name="Text 2"/>
          <p:cNvSpPr/>
          <p:nvPr/>
        </p:nvSpPr>
        <p:spPr>
          <a:xfrm>
            <a:off x="502920" y="411480"/>
            <a:ext cx="960120" cy="301752"/>
          </a:xfrm>
          <a:prstGeom prst="roundRect">
            <a:avLst/>
          </a:prstGeom>
          <a:solidFill>
            <a:srgbClr val="00A6A6"/>
          </a:solidFill>
          <a:ln>
            <a:solidFill>
              <a:srgbClr val="00A6A6"/>
            </a:solidFill>
          </a:ln>
        </p:spPr>
        <p:txBody>
          <a:bodyPr wrap="square" lIns="254" tIns="254" rIns="254" bIns="25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STEP 8</a:t>
            </a:r>
            <a:endParaRPr lang="en-US" sz="1100" dirty="0"/>
          </a:p>
        </p:txBody>
      </p:sp>
      <p:sp>
        <p:nvSpPr>
          <p:cNvPr id="5" name="Text 3"/>
          <p:cNvSpPr/>
          <p:nvPr/>
        </p:nvSpPr>
        <p:spPr>
          <a:xfrm>
            <a:off x="502920" y="786384"/>
            <a:ext cx="8778240" cy="438912"/>
          </a:xfrm>
          <a:prstGeom prst="rect">
            <a:avLst/>
          </a:prstGeom>
          <a:noFill/>
          <a:ln/>
        </p:spPr>
        <p:txBody>
          <a:bodyPr wrap="square" lIns="508" tIns="508" rIns="508" bIns="508" rtlCol="0" anchor="t">
            <a:normAutofit lnSpcReduction="10000"/>
          </a:bodyPr>
          <a:lstStyle/>
          <a:p>
            <a:pPr marL="0" indent="0" algn="l">
              <a:buNone/>
            </a:pPr>
            <a:r>
              <a:rPr lang="en-US" sz="2900" b="1" dirty="0">
                <a:solidFill>
                  <a:srgbClr val="0B1F3A"/>
                </a:solidFill>
                <a:latin typeface="Aptos Display" pitchFamily="34" charset="0"/>
                <a:ea typeface="Aptos Display" pitchFamily="34" charset="-122"/>
                <a:cs typeface="Aptos Display" pitchFamily="34" charset="-120"/>
              </a:rPr>
              <a:t>Customer status: high growth was the dominant pattern</a:t>
            </a:r>
            <a:endParaRPr lang="en-US" sz="2900" dirty="0"/>
          </a:p>
        </p:txBody>
      </p:sp>
      <p:sp>
        <p:nvSpPr>
          <p:cNvPr id="6" name="Text 4"/>
          <p:cNvSpPr/>
          <p:nvPr/>
        </p:nvSpPr>
        <p:spPr>
          <a:xfrm>
            <a:off x="521208" y="1243584"/>
            <a:ext cx="8138160" cy="320040"/>
          </a:xfrm>
          <a:prstGeom prst="rect">
            <a:avLst/>
          </a:prstGeom>
          <a:noFill/>
          <a:ln/>
        </p:spPr>
        <p:txBody>
          <a:bodyPr wrap="square" lIns="508" tIns="508" rIns="508" bIns="508" rtlCol="0" anchor="t">
            <a:normAutofit/>
          </a:bodyPr>
          <a:lstStyle/>
          <a:p>
            <a:pPr marL="0" indent="0" algn="l">
              <a:buNone/>
            </a:pPr>
            <a:r>
              <a:rPr lang="en-US" sz="1350" dirty="0">
                <a:solidFill>
                  <a:srgbClr val="5B6770"/>
                </a:solidFill>
                <a:latin typeface="Aptos" pitchFamily="34" charset="0"/>
                <a:ea typeface="Aptos" pitchFamily="34" charset="-122"/>
                <a:cs typeface="Aptos" pitchFamily="34" charset="-120"/>
              </a:rPr>
              <a:t>Customers were classified as High Growth, Stable, Declining, or Lost during COVID.</a:t>
            </a:r>
            <a:endParaRPr lang="en-US" sz="1350" dirty="0"/>
          </a:p>
        </p:txBody>
      </p:sp>
      <p:sp>
        <p:nvSpPr>
          <p:cNvPr id="7" name="Text 5"/>
          <p:cNvSpPr/>
          <p:nvPr/>
        </p:nvSpPr>
        <p:spPr>
          <a:xfrm>
            <a:off x="502920" y="6510528"/>
            <a:ext cx="5303520" cy="201168"/>
          </a:xfrm>
          <a:prstGeom prst="rect">
            <a:avLst/>
          </a:prstGeom>
          <a:noFill/>
          <a:ln/>
        </p:spPr>
        <p:txBody>
          <a:bodyPr wrap="square" lIns="508" tIns="508" rIns="508" bIns="508" rtlCol="0" anchor="t">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Impact of COVID-19 on ABC Company Parcel Business</a:t>
            </a:r>
            <a:endParaRPr lang="en-US" sz="850" dirty="0"/>
          </a:p>
        </p:txBody>
      </p:sp>
      <p:sp>
        <p:nvSpPr>
          <p:cNvPr id="8" name="Text 6"/>
          <p:cNvSpPr/>
          <p:nvPr/>
        </p:nvSpPr>
        <p:spPr>
          <a:xfrm>
            <a:off x="11384280" y="6510528"/>
            <a:ext cx="320040" cy="201168"/>
          </a:xfrm>
          <a:prstGeom prst="rect">
            <a:avLst/>
          </a:prstGeom>
          <a:noFill/>
          <a:ln/>
        </p:spPr>
        <p:txBody>
          <a:bodyPr wrap="square" lIns="508" tIns="508" rIns="508" bIns="508" rtlCol="0" anchor="t">
            <a:normAutofit/>
          </a:bodyPr>
          <a:lstStyle/>
          <a:p>
            <a:pPr marL="0" indent="0" algn="r">
              <a:buNone/>
            </a:pPr>
            <a:r>
              <a:rPr lang="en-US" sz="850" dirty="0">
                <a:solidFill>
                  <a:srgbClr val="6B7280"/>
                </a:solidFill>
                <a:latin typeface="Aptos" pitchFamily="34" charset="0"/>
                <a:ea typeface="Aptos" pitchFamily="34" charset="-122"/>
                <a:cs typeface="Aptos" pitchFamily="34" charset="-120"/>
              </a:rPr>
              <a:t>10</a:t>
            </a:r>
            <a:endParaRPr lang="en-US" sz="850" dirty="0"/>
          </a:p>
        </p:txBody>
      </p:sp>
      <p:sp>
        <p:nvSpPr>
          <p:cNvPr id="10" name="Text 7"/>
          <p:cNvSpPr/>
          <p:nvPr/>
        </p:nvSpPr>
        <p:spPr>
          <a:xfrm>
            <a:off x="7726680" y="1783080"/>
            <a:ext cx="3108960" cy="256032"/>
          </a:xfrm>
          <a:prstGeom prst="rect">
            <a:avLst/>
          </a:prstGeom>
          <a:noFill/>
          <a:ln/>
        </p:spPr>
        <p:txBody>
          <a:bodyPr wrap="square" lIns="508" tIns="508" rIns="508" bIns="508" rtlCol="0" anchor="t">
            <a:normAutofit/>
          </a:bodyPr>
          <a:lstStyle/>
          <a:p>
            <a:pPr marL="0" indent="0" algn="l">
              <a:buNone/>
            </a:pPr>
            <a:r>
              <a:rPr lang="en-US" sz="1600" b="1" dirty="0">
                <a:solidFill>
                  <a:srgbClr val="0B1F3A"/>
                </a:solidFill>
                <a:latin typeface="Aptos" pitchFamily="34" charset="0"/>
                <a:ea typeface="Aptos" pitchFamily="34" charset="-122"/>
                <a:cs typeface="Aptos" pitchFamily="34" charset="-120"/>
              </a:rPr>
              <a:t>Classification logic</a:t>
            </a:r>
            <a:endParaRPr lang="en-US" sz="1600" dirty="0"/>
          </a:p>
        </p:txBody>
      </p:sp>
      <p:sp>
        <p:nvSpPr>
          <p:cNvPr id="11" name="Text 8"/>
          <p:cNvSpPr/>
          <p:nvPr/>
        </p:nvSpPr>
        <p:spPr>
          <a:xfrm>
            <a:off x="7772400" y="2176272"/>
            <a:ext cx="3108960" cy="1078992"/>
          </a:xfrm>
          <a:prstGeom prst="rect">
            <a:avLst/>
          </a:prstGeom>
          <a:noFill/>
          <a:ln/>
        </p:spPr>
        <p:txBody>
          <a:bodyPr wrap="square" lIns="508" tIns="508" rIns="508" bIns="508" rtlCol="0" anchor="t">
            <a:normAutofit/>
          </a:bodyPr>
          <a:lstStyle/>
          <a:p>
            <a:pPr marL="0" indent="0" algn="l">
              <a:buNone/>
            </a:pPr>
            <a:r>
              <a:rPr lang="en-US" sz="1210" dirty="0">
                <a:solidFill>
                  <a:srgbClr val="5B6770"/>
                </a:solidFill>
                <a:latin typeface="Aptos" pitchFamily="34" charset="0"/>
                <a:ea typeface="Aptos" pitchFamily="34" charset="-122"/>
                <a:cs typeface="Aptos" pitchFamily="34" charset="-120"/>
              </a:rPr>
              <a:t>High Growth = growth above the ISGR threshold during the COVID observation period. Stable = 0% to ISGR. Declining = negative growth. Lost = had volume in 2019 but zero during COVID.</a:t>
            </a:r>
            <a:endParaRPr lang="en-US" sz="1210" dirty="0"/>
          </a:p>
        </p:txBody>
      </p:sp>
      <p:sp>
        <p:nvSpPr>
          <p:cNvPr id="12" name="Text 9"/>
          <p:cNvSpPr/>
          <p:nvPr/>
        </p:nvSpPr>
        <p:spPr>
          <a:xfrm>
            <a:off x="7818120" y="3456432"/>
            <a:ext cx="2651760" cy="256032"/>
          </a:xfrm>
          <a:prstGeom prst="rect">
            <a:avLst/>
          </a:prstGeom>
          <a:noFill/>
          <a:ln/>
        </p:spPr>
        <p:txBody>
          <a:bodyPr wrap="square" lIns="127" tIns="127" rIns="127" bIns="127" rtlCol="0" anchor="t">
            <a:normAutofit/>
          </a:bodyPr>
          <a:lstStyle/>
          <a:p>
            <a:pPr marL="0" indent="0" algn="l">
              <a:buNone/>
            </a:pPr>
            <a:r>
              <a:rPr lang="en-US" sz="1440" b="1" dirty="0">
                <a:solidFill>
                  <a:srgbClr val="145DA0"/>
                </a:solidFill>
                <a:latin typeface="Aptos Display" pitchFamily="34" charset="0"/>
                <a:ea typeface="Aptos Display" pitchFamily="34" charset="-122"/>
                <a:cs typeface="Aptos Display" pitchFamily="34" charset="-120"/>
              </a:rPr>
              <a:t>58%</a:t>
            </a:r>
            <a:endParaRPr lang="en-US" sz="1440" dirty="0"/>
          </a:p>
        </p:txBody>
      </p:sp>
      <p:sp>
        <p:nvSpPr>
          <p:cNvPr id="13" name="Text 10"/>
          <p:cNvSpPr/>
          <p:nvPr/>
        </p:nvSpPr>
        <p:spPr>
          <a:xfrm>
            <a:off x="7818120" y="3734410"/>
            <a:ext cx="2651760" cy="175565"/>
          </a:xfrm>
          <a:prstGeom prst="rect">
            <a:avLst/>
          </a:prstGeom>
          <a:noFill/>
          <a:ln/>
        </p:spPr>
        <p:txBody>
          <a:bodyPr wrap="square" lIns="127" tIns="127" rIns="127" bIns="127" rtlCol="0" anchor="t">
            <a:normAutofit/>
          </a:bodyPr>
          <a:lstStyle/>
          <a:p>
            <a:pPr marL="0" indent="0" algn="l">
              <a:buNone/>
            </a:pPr>
            <a:r>
              <a:rPr lang="en-US" sz="1080" b="1" dirty="0">
                <a:solidFill>
                  <a:srgbClr val="0B1F3A"/>
                </a:solidFill>
                <a:latin typeface="Aptos" pitchFamily="34" charset="0"/>
                <a:ea typeface="Aptos" pitchFamily="34" charset="-122"/>
                <a:cs typeface="Aptos" pitchFamily="34" charset="-120"/>
              </a:rPr>
              <a:t>Enterprise high growth</a:t>
            </a:r>
            <a:endParaRPr lang="en-US" sz="1080" dirty="0"/>
          </a:p>
        </p:txBody>
      </p:sp>
      <p:sp>
        <p:nvSpPr>
          <p:cNvPr id="14" name="Text 11"/>
          <p:cNvSpPr/>
          <p:nvPr/>
        </p:nvSpPr>
        <p:spPr>
          <a:xfrm>
            <a:off x="7818120" y="3939235"/>
            <a:ext cx="2651760" cy="219456"/>
          </a:xfrm>
          <a:prstGeom prst="rect">
            <a:avLst/>
          </a:prstGeom>
          <a:noFill/>
          <a:ln/>
        </p:spPr>
        <p:txBody>
          <a:bodyPr wrap="square" lIns="127" tIns="127" rIns="127" bIns="127" rtlCol="0" anchor="t">
            <a:normAutofit/>
          </a:bodyPr>
          <a:lstStyle/>
          <a:p>
            <a:pPr marL="0" indent="0" algn="l">
              <a:buNone/>
            </a:pPr>
            <a:r>
              <a:rPr lang="en-US" sz="870" dirty="0">
                <a:solidFill>
                  <a:srgbClr val="5B6770"/>
                </a:solidFill>
                <a:latin typeface="Aptos" pitchFamily="34" charset="0"/>
                <a:ea typeface="Aptos" pitchFamily="34" charset="-122"/>
                <a:cs typeface="Aptos" pitchFamily="34" charset="-120"/>
              </a:rPr>
              <a:t>7 of 12 customers</a:t>
            </a:r>
            <a:endParaRPr lang="en-US" sz="870" dirty="0"/>
          </a:p>
        </p:txBody>
      </p:sp>
      <p:sp>
        <p:nvSpPr>
          <p:cNvPr id="15" name="Text 12"/>
          <p:cNvSpPr/>
          <p:nvPr/>
        </p:nvSpPr>
        <p:spPr>
          <a:xfrm>
            <a:off x="7818120" y="4407408"/>
            <a:ext cx="2651760" cy="256032"/>
          </a:xfrm>
          <a:prstGeom prst="rect">
            <a:avLst/>
          </a:prstGeom>
          <a:noFill/>
          <a:ln/>
        </p:spPr>
        <p:txBody>
          <a:bodyPr wrap="square" lIns="127" tIns="127" rIns="127" bIns="127" rtlCol="0" anchor="t">
            <a:normAutofit/>
          </a:bodyPr>
          <a:lstStyle/>
          <a:p>
            <a:pPr marL="0" indent="0" algn="l">
              <a:buNone/>
            </a:pPr>
            <a:r>
              <a:rPr lang="en-US" sz="1440" b="1" dirty="0">
                <a:solidFill>
                  <a:srgbClr val="F28C28"/>
                </a:solidFill>
                <a:latin typeface="Aptos Display" pitchFamily="34" charset="0"/>
                <a:ea typeface="Aptos Display" pitchFamily="34" charset="-122"/>
                <a:cs typeface="Aptos Display" pitchFamily="34" charset="-120"/>
              </a:rPr>
              <a:t>60%</a:t>
            </a:r>
            <a:endParaRPr lang="en-US" sz="1440" dirty="0"/>
          </a:p>
        </p:txBody>
      </p:sp>
      <p:sp>
        <p:nvSpPr>
          <p:cNvPr id="16" name="Text 13"/>
          <p:cNvSpPr/>
          <p:nvPr/>
        </p:nvSpPr>
        <p:spPr>
          <a:xfrm>
            <a:off x="7818120" y="4685386"/>
            <a:ext cx="2651760" cy="175565"/>
          </a:xfrm>
          <a:prstGeom prst="rect">
            <a:avLst/>
          </a:prstGeom>
          <a:noFill/>
          <a:ln/>
        </p:spPr>
        <p:txBody>
          <a:bodyPr wrap="square" lIns="127" tIns="127" rIns="127" bIns="127" rtlCol="0" anchor="t">
            <a:normAutofit/>
          </a:bodyPr>
          <a:lstStyle/>
          <a:p>
            <a:pPr marL="0" indent="0" algn="l">
              <a:buNone/>
            </a:pPr>
            <a:r>
              <a:rPr lang="en-US" sz="1080" b="1" dirty="0">
                <a:solidFill>
                  <a:srgbClr val="0B1F3A"/>
                </a:solidFill>
                <a:latin typeface="Aptos" pitchFamily="34" charset="0"/>
                <a:ea typeface="Aptos" pitchFamily="34" charset="-122"/>
                <a:cs typeface="Aptos" pitchFamily="34" charset="-120"/>
              </a:rPr>
              <a:t>Large high growth</a:t>
            </a:r>
            <a:endParaRPr lang="en-US" sz="1080" dirty="0"/>
          </a:p>
        </p:txBody>
      </p:sp>
      <p:sp>
        <p:nvSpPr>
          <p:cNvPr id="17" name="Text 14"/>
          <p:cNvSpPr/>
          <p:nvPr/>
        </p:nvSpPr>
        <p:spPr>
          <a:xfrm>
            <a:off x="7818120" y="4890211"/>
            <a:ext cx="2651760" cy="219456"/>
          </a:xfrm>
          <a:prstGeom prst="rect">
            <a:avLst/>
          </a:prstGeom>
          <a:noFill/>
          <a:ln/>
        </p:spPr>
        <p:txBody>
          <a:bodyPr wrap="square" lIns="127" tIns="127" rIns="127" bIns="127" rtlCol="0" anchor="t">
            <a:normAutofit/>
          </a:bodyPr>
          <a:lstStyle/>
          <a:p>
            <a:pPr marL="0" indent="0" algn="l">
              <a:buNone/>
            </a:pPr>
            <a:r>
              <a:rPr lang="en-US" sz="870" dirty="0">
                <a:solidFill>
                  <a:srgbClr val="5B6770"/>
                </a:solidFill>
                <a:latin typeface="Aptos" pitchFamily="34" charset="0"/>
                <a:ea typeface="Aptos" pitchFamily="34" charset="-122"/>
                <a:cs typeface="Aptos" pitchFamily="34" charset="-120"/>
              </a:rPr>
              <a:t>9 of 15 customers</a:t>
            </a:r>
            <a:endParaRPr lang="en-US" sz="870" dirty="0"/>
          </a:p>
        </p:txBody>
      </p:sp>
      <p:sp>
        <p:nvSpPr>
          <p:cNvPr id="18" name="Text 15"/>
          <p:cNvSpPr/>
          <p:nvPr/>
        </p:nvSpPr>
        <p:spPr>
          <a:xfrm>
            <a:off x="676656" y="5879592"/>
            <a:ext cx="10789920" cy="402336"/>
          </a:xfrm>
          <a:prstGeom prst="roundRect">
            <a:avLst/>
          </a:prstGeom>
          <a:solidFill>
            <a:srgbClr val="EAF4FF"/>
          </a:solidFill>
          <a:ln>
            <a:solidFill>
              <a:srgbClr val="C9DDF4"/>
            </a:solidFill>
          </a:ln>
        </p:spPr>
        <p:txBody>
          <a:bodyPr wrap="square" lIns="1016" tIns="1016" rIns="1016" bIns="1016" rtlCol="0" anchor="ctr">
            <a:normAutofit/>
          </a:bodyPr>
          <a:lstStyle/>
          <a:p>
            <a:pPr marL="0" indent="0">
              <a:buNone/>
            </a:pPr>
            <a:r>
              <a:rPr lang="en-US" sz="1250" b="1" dirty="0">
                <a:solidFill>
                  <a:srgbClr val="0B1F3A"/>
                </a:solidFill>
                <a:latin typeface="Aptos" pitchFamily="34" charset="0"/>
                <a:ea typeface="Aptos" pitchFamily="34" charset="-122"/>
                <a:cs typeface="Aptos" pitchFamily="34" charset="-120"/>
              </a:rPr>
              <a:t>Key takeaway: Every segment had a majority or near-majority of customers in High Growth, but declining customers still require targeted retention.</a:t>
            </a:r>
            <a:endParaRPr lang="en-US" sz="1250" dirty="0"/>
          </a:p>
        </p:txBody>
      </p:sp>
      <p:pic>
        <p:nvPicPr>
          <p:cNvPr id="20" name="Picture 19">
            <a:extLst>
              <a:ext uri="{FF2B5EF4-FFF2-40B4-BE49-F238E27FC236}">
                <a16:creationId xmlns:a16="http://schemas.microsoft.com/office/drawing/2014/main" id="{6C87A396-9084-37AB-CDDB-41A2C187C80A}"/>
              </a:ext>
            </a:extLst>
          </p:cNvPr>
          <p:cNvPicPr>
            <a:picLocks noChangeAspect="1"/>
          </p:cNvPicPr>
          <p:nvPr/>
        </p:nvPicPr>
        <p:blipFill>
          <a:blip r:embed="rId3"/>
          <a:stretch>
            <a:fillRect/>
          </a:stretch>
        </p:blipFill>
        <p:spPr>
          <a:xfrm>
            <a:off x="676657" y="1792224"/>
            <a:ext cx="6315490" cy="355565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Customer Distribution by Group</a:t>
            </a:r>
          </a:p>
        </p:txBody>
      </p:sp>
      <p:graphicFrame>
        <p:nvGraphicFramePr>
          <p:cNvPr id="3" name="Chart 2"/>
          <p:cNvGraphicFramePr>
            <a:graphicFrameLocks noGrp="1"/>
          </p:cNvGraphicFramePr>
          <p:nvPr/>
        </p:nvGraphicFramePr>
        <p:xfrm>
          <a:off x="914400" y="1828800"/>
          <a:ext cx="7315200" cy="365760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p:cNvSpPr txBox="1"/>
          <p:nvPr/>
        </p:nvSpPr>
        <p:spPr>
          <a:xfrm>
            <a:off x="914400" y="5486400"/>
            <a:ext cx="7315200" cy="914400"/>
          </a:xfrm>
          <a:prstGeom prst="rect">
            <a:avLst/>
          </a:prstGeom>
          <a:noFill/>
        </p:spPr>
        <p:txBody>
          <a:bodyPr wrap="none">
            <a:spAutoFit/>
          </a:bodyPr>
          <a:lstStyle/>
          <a:p>
            <a:r>
              <a:t>Key takeaway: Growth exists across all groups, but small customers dominate volume and variability.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Impact of COVID on Volume by Customer Group</a:t>
            </a:r>
          </a:p>
        </p:txBody>
      </p:sp>
      <p:graphicFrame>
        <p:nvGraphicFramePr>
          <p:cNvPr id="3" name="Chart 2"/>
          <p:cNvGraphicFramePr>
            <a:graphicFrameLocks noGrp="1"/>
          </p:cNvGraphicFramePr>
          <p:nvPr/>
        </p:nvGraphicFramePr>
        <p:xfrm>
          <a:off x="914400" y="1828800"/>
          <a:ext cx="7315200" cy="365760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p:cNvSpPr txBox="1"/>
          <p:nvPr/>
        </p:nvSpPr>
        <p:spPr>
          <a:xfrm>
            <a:off x="914400" y="5669280"/>
            <a:ext cx="7315200" cy="1188720"/>
          </a:xfrm>
          <a:prstGeom prst="rect">
            <a:avLst/>
          </a:prstGeom>
          <a:noFill/>
        </p:spPr>
        <p:txBody>
          <a:bodyPr wrap="none">
            <a:spAutoFit/>
          </a:bodyPr>
          <a:lstStyle/>
          <a:p>
            <a:r>
              <a:t>• All groups grew in 2020 vs 2019</a:t>
            </a:r>
          </a:p>
          <a:p>
            <a:r>
              <a:t>• Medium (+41.8%) and Small (+51.9%) show strongest relative growth</a:t>
            </a:r>
          </a:p>
          <a:p>
            <a:r>
              <a:t>• Enterprise contributes the largest absolute increase</a:t>
            </a:r>
          </a:p>
          <a:p>
            <a:r>
              <a:t>Key takeaway: COVID drove broad volume growth; Enterprise leads in scale while Small/Medium lead in growth rate.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Parcel Volume by Customer Group (2019 vs 2020)</a:t>
            </a:r>
          </a:p>
        </p:txBody>
      </p:sp>
      <p:pic>
        <p:nvPicPr>
          <p:cNvPr id="3" name="Picture 2" descr="image.png"/>
          <p:cNvPicPr>
            <a:picLocks noChangeAspect="1"/>
          </p:cNvPicPr>
          <p:nvPr/>
        </p:nvPicPr>
        <p:blipFill>
          <a:blip r:embed="rId2"/>
          <a:stretch>
            <a:fillRect/>
          </a:stretch>
        </p:blipFill>
        <p:spPr>
          <a:xfrm>
            <a:off x="914400" y="1828800"/>
            <a:ext cx="6615691" cy="4114800"/>
          </a:xfrm>
          <a:prstGeom prst="rect">
            <a:avLst/>
          </a:prstGeom>
        </p:spPr>
      </p:pic>
      <p:sp>
        <p:nvSpPr>
          <p:cNvPr id="4" name="TextBox 3"/>
          <p:cNvSpPr txBox="1"/>
          <p:nvPr/>
        </p:nvSpPr>
        <p:spPr>
          <a:xfrm>
            <a:off x="914400" y="5669280"/>
            <a:ext cx="7315200" cy="1371600"/>
          </a:xfrm>
          <a:prstGeom prst="rect">
            <a:avLst/>
          </a:prstGeom>
          <a:noFill/>
        </p:spPr>
        <p:txBody>
          <a:bodyPr wrap="none">
            <a:spAutoFit/>
          </a:bodyPr>
          <a:lstStyle/>
          <a:p>
            <a:r>
              <a:t>All customer groups experienced volume growth in 2020</a:t>
            </a:r>
          </a:p>
          <a:p>
            <a:r>
              <a:t>Enterprise contributed the highest total volume</a:t>
            </a:r>
          </a:p>
          <a:p>
            <a:r>
              <a:t>Medium and Small segments showed strong growth</a:t>
            </a:r>
          </a:p>
          <a:p>
            <a:r>
              <a:t>Key takeaway: COVID significantly increased parcel volume across all segments, with Enterprise driving scale and smaller groups driving growth rate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Estimated Revenue by Customer Group (2019 vs 2020)</a:t>
            </a:r>
          </a:p>
        </p:txBody>
      </p:sp>
      <p:pic>
        <p:nvPicPr>
          <p:cNvPr id="3" name="Picture 2" descr="image.png"/>
          <p:cNvPicPr>
            <a:picLocks noChangeAspect="1"/>
          </p:cNvPicPr>
          <p:nvPr/>
        </p:nvPicPr>
        <p:blipFill>
          <a:blip r:embed="rId2"/>
          <a:stretch>
            <a:fillRect/>
          </a:stretch>
        </p:blipFill>
        <p:spPr>
          <a:xfrm>
            <a:off x="914400" y="1828800"/>
            <a:ext cx="6783504" cy="4114800"/>
          </a:xfrm>
          <a:prstGeom prst="rect">
            <a:avLst/>
          </a:prstGeom>
        </p:spPr>
      </p:pic>
      <p:sp>
        <p:nvSpPr>
          <p:cNvPr id="4" name="TextBox 3"/>
          <p:cNvSpPr txBox="1"/>
          <p:nvPr/>
        </p:nvSpPr>
        <p:spPr>
          <a:xfrm>
            <a:off x="914400" y="5669280"/>
            <a:ext cx="7315200" cy="1371600"/>
          </a:xfrm>
          <a:prstGeom prst="rect">
            <a:avLst/>
          </a:prstGeom>
          <a:noFill/>
        </p:spPr>
        <p:txBody>
          <a:bodyPr wrap="none">
            <a:spAutoFit/>
          </a:bodyPr>
          <a:lstStyle/>
          <a:p>
            <a:r>
              <a:t>Revenue increased across all customer groups in 2020</a:t>
            </a:r>
          </a:p>
          <a:p>
            <a:r>
              <a:t>Enterprise generated the highest total revenue</a:t>
            </a:r>
          </a:p>
          <a:p>
            <a:r>
              <a:t>Medium and Small segments showed strong growth</a:t>
            </a:r>
          </a:p>
          <a:p>
            <a:r>
              <a:t>Key takeaway: Revenue growth was driven by increased parcel volume, with Enterprise leading in total contribution and smaller segments showing strong relative growth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013800"/>
          </a:xfrm>
        </p:spPr>
        <p:txBody>
          <a:bodyPr/>
          <a:lstStyle/>
          <a:p>
            <a:r>
              <a:rPr lang="en-US"/>
              <a:t>BUSINESS ANSWERS</a:t>
            </a:r>
          </a:p>
        </p:txBody>
      </p:sp>
      <p:sp>
        <p:nvSpPr>
          <p:cNvPr id="3" name="Content Placeholder 2"/>
          <p:cNvSpPr>
            <a:spLocks noGrp="1"/>
          </p:cNvSpPr>
          <p:nvPr>
            <p:ph idx="1"/>
          </p:nvPr>
        </p:nvSpPr>
        <p:spPr>
          <a:xfrm>
            <a:off x="581192" y="2180496"/>
            <a:ext cx="11029615" cy="3678303"/>
          </a:xfrm>
        </p:spPr>
        <p:txBody>
          <a:bodyPr/>
          <a:lstStyle/>
          <a:p>
            <a:r>
              <a:rPr lang="en-US"/>
              <a:t>COVID impact began around Week 12 (March 2020)</a:t>
            </a:r>
          </a:p>
          <a:p>
            <a:r>
              <a:rPr lang="en-US"/>
              <a:t>Driven by lockdowns and e-commerce growth</a:t>
            </a:r>
          </a:p>
          <a:p>
            <a:r>
              <a:rPr lang="en-US"/>
              <a:t>Peak season increased by 26.5%</a:t>
            </a:r>
          </a:p>
          <a:p>
            <a:r>
              <a:rPr lang="en-US"/>
              <a:t>Majority of customers experienced high growth</a:t>
            </a:r>
          </a:p>
          <a:p>
            <a:r>
              <a:rPr lang="en-US"/>
              <a:t>Revenue increased due to higher parcel volume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B"/>
          </a:solidFill>
          <a:ln w="12700">
            <a:solidFill>
              <a:srgbClr val="FFFFFF">
                <a:alpha val="0"/>
              </a:srgbClr>
            </a:solidFill>
            <a:prstDash val="solid"/>
          </a:ln>
        </p:spPr>
        <p:txBody>
          <a:bodyPr/>
          <a:lstStyle/>
          <a:p>
            <a:endParaRPr lang="en-US"/>
          </a:p>
        </p:txBody>
      </p:sp>
      <p:sp>
        <p:nvSpPr>
          <p:cNvPr id="3" name="Shape 1"/>
          <p:cNvSpPr/>
          <p:nvPr/>
        </p:nvSpPr>
        <p:spPr>
          <a:xfrm>
            <a:off x="0" y="0"/>
            <a:ext cx="12191695" cy="137160"/>
          </a:xfrm>
          <a:prstGeom prst="rect">
            <a:avLst/>
          </a:prstGeom>
          <a:solidFill>
            <a:srgbClr val="0B1F3A"/>
          </a:solidFill>
          <a:ln w="12700">
            <a:solidFill>
              <a:srgbClr val="FFFFFF">
                <a:alpha val="0"/>
              </a:srgbClr>
            </a:solidFill>
            <a:prstDash val="solid"/>
          </a:ln>
        </p:spPr>
        <p:txBody>
          <a:bodyPr/>
          <a:lstStyle/>
          <a:p>
            <a:endParaRPr lang="en-US"/>
          </a:p>
        </p:txBody>
      </p:sp>
      <p:sp>
        <p:nvSpPr>
          <p:cNvPr id="4" name="Text 2"/>
          <p:cNvSpPr/>
          <p:nvPr/>
        </p:nvSpPr>
        <p:spPr>
          <a:xfrm>
            <a:off x="502920" y="411480"/>
            <a:ext cx="960120" cy="301752"/>
          </a:xfrm>
          <a:prstGeom prst="roundRect">
            <a:avLst/>
          </a:prstGeom>
          <a:solidFill>
            <a:srgbClr val="00A6A6"/>
          </a:solidFill>
          <a:ln>
            <a:solidFill>
              <a:srgbClr val="00A6A6"/>
            </a:solidFill>
          </a:ln>
        </p:spPr>
        <p:txBody>
          <a:bodyPr wrap="square" lIns="254" tIns="254" rIns="254" bIns="254"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FINAL</a:t>
            </a:r>
            <a:endParaRPr lang="en-US" sz="1100" dirty="0"/>
          </a:p>
        </p:txBody>
      </p:sp>
      <p:sp>
        <p:nvSpPr>
          <p:cNvPr id="5" name="Text 3"/>
          <p:cNvSpPr/>
          <p:nvPr/>
        </p:nvSpPr>
        <p:spPr>
          <a:xfrm>
            <a:off x="502920" y="786384"/>
            <a:ext cx="8778240" cy="438912"/>
          </a:xfrm>
          <a:prstGeom prst="rect">
            <a:avLst/>
          </a:prstGeom>
          <a:noFill/>
          <a:ln/>
        </p:spPr>
        <p:txBody>
          <a:bodyPr wrap="square" lIns="508" tIns="508" rIns="508" bIns="508" rtlCol="0" anchor="t">
            <a:normAutofit lnSpcReduction="10000"/>
          </a:bodyPr>
          <a:lstStyle/>
          <a:p>
            <a:pPr marL="0" indent="0" algn="l">
              <a:buNone/>
            </a:pPr>
            <a:r>
              <a:rPr lang="en-US" sz="2900" b="1" dirty="0">
                <a:solidFill>
                  <a:srgbClr val="0B1F3A"/>
                </a:solidFill>
                <a:latin typeface="Aptos Display" pitchFamily="34" charset="0"/>
                <a:ea typeface="Aptos Display" pitchFamily="34" charset="-122"/>
                <a:cs typeface="Aptos Display" pitchFamily="34" charset="-120"/>
              </a:rPr>
              <a:t>Conclusion: COVID created a structural demand shock</a:t>
            </a:r>
            <a:endParaRPr lang="en-US" sz="2900" dirty="0"/>
          </a:p>
        </p:txBody>
      </p:sp>
      <p:sp>
        <p:nvSpPr>
          <p:cNvPr id="6" name="Text 4"/>
          <p:cNvSpPr/>
          <p:nvPr/>
        </p:nvSpPr>
        <p:spPr>
          <a:xfrm>
            <a:off x="521208" y="1243584"/>
            <a:ext cx="8138160" cy="320040"/>
          </a:xfrm>
          <a:prstGeom prst="rect">
            <a:avLst/>
          </a:prstGeom>
          <a:noFill/>
          <a:ln/>
        </p:spPr>
        <p:txBody>
          <a:bodyPr wrap="square" lIns="508" tIns="508" rIns="508" bIns="508" rtlCol="0" anchor="t">
            <a:normAutofit/>
          </a:bodyPr>
          <a:lstStyle/>
          <a:p>
            <a:pPr marL="0" indent="0" algn="l">
              <a:buNone/>
            </a:pPr>
            <a:r>
              <a:rPr lang="en-US" sz="1350" dirty="0">
                <a:solidFill>
                  <a:srgbClr val="5B6770"/>
                </a:solidFill>
                <a:latin typeface="Aptos" pitchFamily="34" charset="0"/>
                <a:ea typeface="Aptos" pitchFamily="34" charset="-122"/>
                <a:cs typeface="Aptos" pitchFamily="34" charset="-120"/>
              </a:rPr>
              <a:t>The evidence is consistent across annual volume, weekly onset, peak season, and customer status.</a:t>
            </a:r>
            <a:endParaRPr lang="en-US" sz="1350" dirty="0"/>
          </a:p>
        </p:txBody>
      </p:sp>
      <p:sp>
        <p:nvSpPr>
          <p:cNvPr id="7" name="Text 5"/>
          <p:cNvSpPr/>
          <p:nvPr/>
        </p:nvSpPr>
        <p:spPr>
          <a:xfrm>
            <a:off x="502920" y="6510528"/>
            <a:ext cx="5303520" cy="201168"/>
          </a:xfrm>
          <a:prstGeom prst="rect">
            <a:avLst/>
          </a:prstGeom>
          <a:noFill/>
          <a:ln/>
        </p:spPr>
        <p:txBody>
          <a:bodyPr wrap="square" lIns="508" tIns="508" rIns="508" bIns="508" rtlCol="0" anchor="t">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Impact of COVID-19 on ABC Company Parcel Business</a:t>
            </a:r>
            <a:endParaRPr lang="en-US" sz="850" dirty="0"/>
          </a:p>
        </p:txBody>
      </p:sp>
      <p:sp>
        <p:nvSpPr>
          <p:cNvPr id="8" name="Text 6"/>
          <p:cNvSpPr/>
          <p:nvPr/>
        </p:nvSpPr>
        <p:spPr>
          <a:xfrm>
            <a:off x="11384280" y="6510528"/>
            <a:ext cx="320040" cy="201168"/>
          </a:xfrm>
          <a:prstGeom prst="rect">
            <a:avLst/>
          </a:prstGeom>
          <a:noFill/>
          <a:ln/>
        </p:spPr>
        <p:txBody>
          <a:bodyPr wrap="square" lIns="508" tIns="508" rIns="508" bIns="508" rtlCol="0" anchor="t">
            <a:normAutofit/>
          </a:bodyPr>
          <a:lstStyle/>
          <a:p>
            <a:pPr marL="0" indent="0" algn="r">
              <a:buNone/>
            </a:pPr>
            <a:r>
              <a:rPr lang="en-US" sz="850" dirty="0">
                <a:solidFill>
                  <a:srgbClr val="6B7280"/>
                </a:solidFill>
                <a:latin typeface="Aptos" pitchFamily="34" charset="0"/>
                <a:ea typeface="Aptos" pitchFamily="34" charset="-122"/>
                <a:cs typeface="Aptos" pitchFamily="34" charset="-120"/>
              </a:rPr>
              <a:t>12</a:t>
            </a:r>
            <a:endParaRPr lang="en-US" sz="850" dirty="0"/>
          </a:p>
        </p:txBody>
      </p:sp>
      <p:sp>
        <p:nvSpPr>
          <p:cNvPr id="9" name="Text 7"/>
          <p:cNvSpPr/>
          <p:nvPr/>
        </p:nvSpPr>
        <p:spPr>
          <a:xfrm>
            <a:off x="822960" y="1737360"/>
            <a:ext cx="2926080" cy="274320"/>
          </a:xfrm>
          <a:prstGeom prst="rect">
            <a:avLst/>
          </a:prstGeom>
          <a:noFill/>
          <a:ln/>
        </p:spPr>
        <p:txBody>
          <a:bodyPr wrap="square" lIns="508" tIns="508" rIns="508" bIns="508" rtlCol="0" anchor="t">
            <a:normAutofit lnSpcReduction="10000"/>
          </a:bodyPr>
          <a:lstStyle/>
          <a:p>
            <a:pPr marL="0" indent="0" algn="l">
              <a:buNone/>
            </a:pPr>
            <a:r>
              <a:rPr lang="en-US" sz="1800" b="1" dirty="0">
                <a:solidFill>
                  <a:srgbClr val="0B1F3A"/>
                </a:solidFill>
                <a:latin typeface="Aptos" pitchFamily="34" charset="0"/>
                <a:ea typeface="Aptos" pitchFamily="34" charset="-122"/>
                <a:cs typeface="Aptos" pitchFamily="34" charset="-120"/>
              </a:rPr>
              <a:t>Main findings</a:t>
            </a:r>
            <a:endParaRPr lang="en-US" sz="1800" dirty="0"/>
          </a:p>
        </p:txBody>
      </p:sp>
      <p:sp>
        <p:nvSpPr>
          <p:cNvPr id="10" name="Text 8"/>
          <p:cNvSpPr/>
          <p:nvPr/>
        </p:nvSpPr>
        <p:spPr>
          <a:xfrm>
            <a:off x="868680" y="2240280"/>
            <a:ext cx="2423160" cy="358445"/>
          </a:xfrm>
          <a:prstGeom prst="rect">
            <a:avLst/>
          </a:prstGeom>
          <a:noFill/>
          <a:ln/>
        </p:spPr>
        <p:txBody>
          <a:bodyPr wrap="square" lIns="127" tIns="127" rIns="127" bIns="127" rtlCol="0" anchor="t">
            <a:normAutofit/>
          </a:bodyPr>
          <a:lstStyle/>
          <a:p>
            <a:pPr marL="0" indent="0" algn="l">
              <a:buNone/>
            </a:pPr>
            <a:r>
              <a:rPr lang="en-US" sz="2016" b="1" dirty="0">
                <a:solidFill>
                  <a:srgbClr val="F28C28"/>
                </a:solidFill>
                <a:latin typeface="Aptos Display" pitchFamily="34" charset="0"/>
                <a:ea typeface="Aptos Display" pitchFamily="34" charset="-122"/>
                <a:cs typeface="Aptos Display" pitchFamily="34" charset="-120"/>
              </a:rPr>
              <a:t>+39.1%</a:t>
            </a:r>
            <a:endParaRPr lang="en-US" sz="2016" dirty="0"/>
          </a:p>
        </p:txBody>
      </p:sp>
      <p:sp>
        <p:nvSpPr>
          <p:cNvPr id="11" name="Text 9"/>
          <p:cNvSpPr/>
          <p:nvPr/>
        </p:nvSpPr>
        <p:spPr>
          <a:xfrm>
            <a:off x="868680" y="2629449"/>
            <a:ext cx="2423160" cy="245791"/>
          </a:xfrm>
          <a:prstGeom prst="rect">
            <a:avLst/>
          </a:prstGeom>
          <a:noFill/>
          <a:ln/>
        </p:spPr>
        <p:txBody>
          <a:bodyPr wrap="square" lIns="127" tIns="127" rIns="127" bIns="127" rtlCol="0" anchor="t">
            <a:normAutofit/>
          </a:bodyPr>
          <a:lstStyle/>
          <a:p>
            <a:pPr marL="0" indent="0" algn="l">
              <a:buNone/>
            </a:pPr>
            <a:r>
              <a:rPr lang="en-US" sz="1080" b="1" dirty="0">
                <a:solidFill>
                  <a:srgbClr val="0B1F3A"/>
                </a:solidFill>
                <a:latin typeface="Aptos" pitchFamily="34" charset="0"/>
                <a:ea typeface="Aptos" pitchFamily="34" charset="-122"/>
                <a:cs typeface="Aptos" pitchFamily="34" charset="-120"/>
              </a:rPr>
              <a:t>2020 YoY volume growth vs 2019</a:t>
            </a:r>
            <a:endParaRPr lang="en-US" sz="1080" dirty="0"/>
          </a:p>
        </p:txBody>
      </p:sp>
      <p:sp>
        <p:nvSpPr>
          <p:cNvPr id="12" name="Text 10"/>
          <p:cNvSpPr/>
          <p:nvPr/>
        </p:nvSpPr>
        <p:spPr>
          <a:xfrm>
            <a:off x="3703320" y="2240280"/>
            <a:ext cx="2423160" cy="358445"/>
          </a:xfrm>
          <a:prstGeom prst="rect">
            <a:avLst/>
          </a:prstGeom>
          <a:noFill/>
          <a:ln/>
        </p:spPr>
        <p:txBody>
          <a:bodyPr wrap="square" lIns="127" tIns="127" rIns="127" bIns="127" rtlCol="0" anchor="t">
            <a:normAutofit/>
          </a:bodyPr>
          <a:lstStyle/>
          <a:p>
            <a:pPr marL="0" indent="0" algn="l">
              <a:buNone/>
            </a:pPr>
            <a:r>
              <a:rPr lang="en-US" sz="2016" b="1" dirty="0">
                <a:solidFill>
                  <a:srgbClr val="00A6A6"/>
                </a:solidFill>
                <a:latin typeface="Aptos Display" pitchFamily="34" charset="0"/>
                <a:ea typeface="Aptos Display" pitchFamily="34" charset="-122"/>
                <a:cs typeface="Aptos Display" pitchFamily="34" charset="-120"/>
              </a:rPr>
              <a:t>Week 12</a:t>
            </a:r>
            <a:endParaRPr lang="en-US" sz="2016" dirty="0"/>
          </a:p>
        </p:txBody>
      </p:sp>
      <p:sp>
        <p:nvSpPr>
          <p:cNvPr id="13" name="Text 11"/>
          <p:cNvSpPr/>
          <p:nvPr/>
        </p:nvSpPr>
        <p:spPr>
          <a:xfrm>
            <a:off x="3703320" y="2629449"/>
            <a:ext cx="2423160" cy="245791"/>
          </a:xfrm>
          <a:prstGeom prst="rect">
            <a:avLst/>
          </a:prstGeom>
          <a:noFill/>
          <a:ln/>
        </p:spPr>
        <p:txBody>
          <a:bodyPr wrap="square" lIns="127" tIns="127" rIns="127" bIns="127" rtlCol="0" anchor="t">
            <a:normAutofit/>
          </a:bodyPr>
          <a:lstStyle/>
          <a:p>
            <a:pPr marL="0" indent="0" algn="l">
              <a:buNone/>
            </a:pPr>
            <a:r>
              <a:rPr lang="en-US" sz="1080" b="1" dirty="0">
                <a:solidFill>
                  <a:srgbClr val="0B1F3A"/>
                </a:solidFill>
                <a:latin typeface="Aptos" pitchFamily="34" charset="0"/>
                <a:ea typeface="Aptos" pitchFamily="34" charset="-122"/>
                <a:cs typeface="Aptos" pitchFamily="34" charset="-120"/>
              </a:rPr>
              <a:t>Timing of sustained divergence</a:t>
            </a:r>
            <a:endParaRPr lang="en-US" sz="1080" dirty="0"/>
          </a:p>
        </p:txBody>
      </p:sp>
      <p:sp>
        <p:nvSpPr>
          <p:cNvPr id="14" name="Text 12"/>
          <p:cNvSpPr/>
          <p:nvPr/>
        </p:nvSpPr>
        <p:spPr>
          <a:xfrm>
            <a:off x="868680" y="3611880"/>
            <a:ext cx="2423160" cy="358445"/>
          </a:xfrm>
          <a:prstGeom prst="rect">
            <a:avLst/>
          </a:prstGeom>
          <a:noFill/>
          <a:ln/>
        </p:spPr>
        <p:txBody>
          <a:bodyPr wrap="square" lIns="127" tIns="127" rIns="127" bIns="127" rtlCol="0" anchor="t">
            <a:normAutofit/>
          </a:bodyPr>
          <a:lstStyle/>
          <a:p>
            <a:pPr marL="0" indent="0" algn="l">
              <a:buNone/>
            </a:pPr>
            <a:r>
              <a:rPr lang="en-US" sz="2016" b="1" dirty="0">
                <a:solidFill>
                  <a:srgbClr val="145DA0"/>
                </a:solidFill>
                <a:latin typeface="Aptos Display" pitchFamily="34" charset="0"/>
                <a:ea typeface="Aptos Display" pitchFamily="34" charset="-122"/>
                <a:cs typeface="Aptos Display" pitchFamily="34" charset="-120"/>
              </a:rPr>
              <a:t>+26.5%</a:t>
            </a:r>
            <a:endParaRPr lang="en-US" sz="2016" dirty="0"/>
          </a:p>
        </p:txBody>
      </p:sp>
      <p:sp>
        <p:nvSpPr>
          <p:cNvPr id="15" name="Text 13"/>
          <p:cNvSpPr/>
          <p:nvPr/>
        </p:nvSpPr>
        <p:spPr>
          <a:xfrm>
            <a:off x="868680" y="4001049"/>
            <a:ext cx="2423160" cy="245791"/>
          </a:xfrm>
          <a:prstGeom prst="rect">
            <a:avLst/>
          </a:prstGeom>
          <a:noFill/>
          <a:ln/>
        </p:spPr>
        <p:txBody>
          <a:bodyPr wrap="square" lIns="127" tIns="127" rIns="127" bIns="127" rtlCol="0" anchor="t">
            <a:normAutofit/>
          </a:bodyPr>
          <a:lstStyle/>
          <a:p>
            <a:pPr marL="0" indent="0" algn="l">
              <a:buNone/>
            </a:pPr>
            <a:r>
              <a:rPr lang="en-US" sz="1080" b="1" dirty="0">
                <a:solidFill>
                  <a:srgbClr val="0B1F3A"/>
                </a:solidFill>
                <a:latin typeface="Aptos" pitchFamily="34" charset="0"/>
                <a:ea typeface="Aptos" pitchFamily="34" charset="-122"/>
                <a:cs typeface="Aptos" pitchFamily="34" charset="-120"/>
              </a:rPr>
              <a:t>Peak season growth in 2020</a:t>
            </a:r>
            <a:endParaRPr lang="en-US" sz="1080" dirty="0"/>
          </a:p>
        </p:txBody>
      </p:sp>
      <p:sp>
        <p:nvSpPr>
          <p:cNvPr id="16" name="Text 14"/>
          <p:cNvSpPr/>
          <p:nvPr/>
        </p:nvSpPr>
        <p:spPr>
          <a:xfrm>
            <a:off x="3703320" y="3611880"/>
            <a:ext cx="2423160" cy="358445"/>
          </a:xfrm>
          <a:prstGeom prst="rect">
            <a:avLst/>
          </a:prstGeom>
          <a:noFill/>
          <a:ln/>
        </p:spPr>
        <p:txBody>
          <a:bodyPr wrap="square" lIns="127" tIns="127" rIns="127" bIns="127" rtlCol="0" anchor="t">
            <a:normAutofit/>
          </a:bodyPr>
          <a:lstStyle/>
          <a:p>
            <a:pPr marL="0" indent="0" algn="l">
              <a:buNone/>
            </a:pPr>
            <a:r>
              <a:rPr lang="en-US" sz="2016" b="1" dirty="0">
                <a:solidFill>
                  <a:srgbClr val="1F4E79"/>
                </a:solidFill>
                <a:latin typeface="Aptos Display" pitchFamily="34" charset="0"/>
                <a:ea typeface="Aptos Display" pitchFamily="34" charset="-122"/>
                <a:cs typeface="Aptos Display" pitchFamily="34" charset="-120"/>
              </a:rPr>
              <a:t>High Growth</a:t>
            </a:r>
            <a:endParaRPr lang="en-US" sz="2016" dirty="0"/>
          </a:p>
        </p:txBody>
      </p:sp>
      <p:sp>
        <p:nvSpPr>
          <p:cNvPr id="17" name="Text 15"/>
          <p:cNvSpPr/>
          <p:nvPr/>
        </p:nvSpPr>
        <p:spPr>
          <a:xfrm>
            <a:off x="3703320" y="4001049"/>
            <a:ext cx="2423160" cy="245791"/>
          </a:xfrm>
          <a:prstGeom prst="rect">
            <a:avLst/>
          </a:prstGeom>
          <a:noFill/>
          <a:ln/>
        </p:spPr>
        <p:txBody>
          <a:bodyPr wrap="square" lIns="127" tIns="127" rIns="127" bIns="127" rtlCol="0" anchor="t">
            <a:normAutofit fontScale="85000" lnSpcReduction="10000"/>
          </a:bodyPr>
          <a:lstStyle/>
          <a:p>
            <a:pPr marL="0" indent="0" algn="l">
              <a:buNone/>
            </a:pPr>
            <a:r>
              <a:rPr lang="en-US" sz="1080" b="1" dirty="0">
                <a:solidFill>
                  <a:srgbClr val="0B1F3A"/>
                </a:solidFill>
                <a:latin typeface="Aptos" pitchFamily="34" charset="0"/>
                <a:ea typeface="Aptos" pitchFamily="34" charset="-122"/>
                <a:cs typeface="Aptos" pitchFamily="34" charset="-120"/>
              </a:rPr>
              <a:t>Dominant status across customer segments</a:t>
            </a:r>
            <a:endParaRPr lang="en-US" sz="1080" dirty="0"/>
          </a:p>
        </p:txBody>
      </p:sp>
      <p:sp>
        <p:nvSpPr>
          <p:cNvPr id="18" name="Text 16"/>
          <p:cNvSpPr/>
          <p:nvPr/>
        </p:nvSpPr>
        <p:spPr>
          <a:xfrm>
            <a:off x="6629400" y="1828800"/>
            <a:ext cx="3383280" cy="320040"/>
          </a:xfrm>
          <a:prstGeom prst="rect">
            <a:avLst/>
          </a:prstGeom>
          <a:noFill/>
          <a:ln/>
        </p:spPr>
        <p:txBody>
          <a:bodyPr wrap="square" lIns="508" tIns="508" rIns="508" bIns="508" rtlCol="0" anchor="t">
            <a:normAutofit/>
          </a:bodyPr>
          <a:lstStyle/>
          <a:p>
            <a:pPr marL="0" indent="0" algn="l">
              <a:buNone/>
            </a:pPr>
            <a:r>
              <a:rPr lang="en-US" sz="2000" b="1" dirty="0">
                <a:solidFill>
                  <a:srgbClr val="0B1F3A"/>
                </a:solidFill>
                <a:latin typeface="Aptos" pitchFamily="34" charset="0"/>
                <a:ea typeface="Aptos" pitchFamily="34" charset="-122"/>
                <a:cs typeface="Aptos" pitchFamily="34" charset="-120"/>
              </a:rPr>
              <a:t>Bottom line</a:t>
            </a:r>
            <a:endParaRPr lang="en-US" sz="2000" dirty="0"/>
          </a:p>
        </p:txBody>
      </p:sp>
      <p:sp>
        <p:nvSpPr>
          <p:cNvPr id="19" name="Text 17"/>
          <p:cNvSpPr/>
          <p:nvPr/>
        </p:nvSpPr>
        <p:spPr>
          <a:xfrm>
            <a:off x="6629400" y="2331720"/>
            <a:ext cx="3886200" cy="1325880"/>
          </a:xfrm>
          <a:prstGeom prst="rect">
            <a:avLst/>
          </a:prstGeom>
          <a:noFill/>
          <a:ln/>
        </p:spPr>
        <p:txBody>
          <a:bodyPr wrap="square" lIns="508" tIns="508" rIns="508" bIns="508" rtlCol="0" anchor="t">
            <a:normAutofit lnSpcReduction="10000"/>
          </a:bodyPr>
          <a:lstStyle/>
          <a:p>
            <a:pPr marL="0" indent="0" algn="l">
              <a:buNone/>
            </a:pPr>
            <a:r>
              <a:rPr lang="en-US" sz="1600" dirty="0">
                <a:solidFill>
                  <a:srgbClr val="5B6770"/>
                </a:solidFill>
                <a:latin typeface="Aptos" pitchFamily="34" charset="0"/>
                <a:ea typeface="Aptos" pitchFamily="34" charset="-122"/>
                <a:cs typeface="Aptos" pitchFamily="34" charset="-120"/>
              </a:rPr>
              <a:t>ABC Company should treat the 2020 surge as more than a temporary spike: it reveals customer behavior changes, capacity stress points, and account-level growth opportunities that can guide future planning.</a:t>
            </a:r>
            <a:endParaRPr lang="en-US" sz="1600" dirty="0"/>
          </a:p>
        </p:txBody>
      </p:sp>
      <p:sp>
        <p:nvSpPr>
          <p:cNvPr id="20" name="Text 18"/>
          <p:cNvSpPr/>
          <p:nvPr/>
        </p:nvSpPr>
        <p:spPr>
          <a:xfrm>
            <a:off x="6629400" y="4754880"/>
            <a:ext cx="3657600" cy="411480"/>
          </a:xfrm>
          <a:prstGeom prst="rect">
            <a:avLst/>
          </a:prstGeom>
          <a:noFill/>
          <a:ln/>
        </p:spPr>
        <p:txBody>
          <a:bodyPr wrap="square" lIns="508" tIns="508" rIns="508" bIns="508" rtlCol="0" anchor="t">
            <a:normAutofit/>
          </a:bodyPr>
          <a:lstStyle/>
          <a:p>
            <a:pPr marL="0" indent="0" algn="l">
              <a:buNone/>
            </a:pPr>
            <a:r>
              <a:rPr lang="en-US" sz="2500" b="1" dirty="0">
                <a:solidFill>
                  <a:srgbClr val="00A6A6"/>
                </a:solidFill>
                <a:latin typeface="Aptos Display" pitchFamily="34" charset="0"/>
                <a:ea typeface="Aptos Display" pitchFamily="34" charset="-122"/>
                <a:cs typeface="Aptos Display" pitchFamily="34" charset="-120"/>
              </a:rPr>
              <a:t>Thank you</a:t>
            </a:r>
            <a:endParaRPr lang="en-US" sz="2500" dirty="0"/>
          </a:p>
        </p:txBody>
      </p:sp>
      <p:sp>
        <p:nvSpPr>
          <p:cNvPr id="21" name="Text 19"/>
          <p:cNvSpPr/>
          <p:nvPr/>
        </p:nvSpPr>
        <p:spPr>
          <a:xfrm>
            <a:off x="676656" y="5879592"/>
            <a:ext cx="10789920" cy="402336"/>
          </a:xfrm>
          <a:prstGeom prst="roundRect">
            <a:avLst/>
          </a:prstGeom>
          <a:solidFill>
            <a:srgbClr val="EAF4FF"/>
          </a:solidFill>
          <a:ln>
            <a:solidFill>
              <a:srgbClr val="C9DDF4"/>
            </a:solidFill>
          </a:ln>
        </p:spPr>
        <p:txBody>
          <a:bodyPr wrap="square" lIns="1016" tIns="1016" rIns="1016" bIns="1016" rtlCol="0" anchor="ctr">
            <a:normAutofit/>
          </a:bodyPr>
          <a:lstStyle/>
          <a:p>
            <a:pPr marL="0" indent="0">
              <a:buNone/>
            </a:pPr>
            <a:r>
              <a:rPr lang="en-US" sz="1250" b="1" dirty="0">
                <a:solidFill>
                  <a:srgbClr val="0B1F3A"/>
                </a:solidFill>
                <a:latin typeface="Aptos" pitchFamily="34" charset="0"/>
                <a:ea typeface="Aptos" pitchFamily="34" charset="-122"/>
                <a:cs typeface="Aptos" pitchFamily="34" charset="-120"/>
              </a:rPr>
              <a:t>Key takeaway: Strong volume growth is the headline; customer segmentation is the path to action.</a:t>
            </a:r>
            <a:endParaRPr lang="en-US" sz="1250" dirty="0"/>
          </a:p>
        </p:txBody>
      </p:sp>
    </p:spTree>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TM03457464[[fn=Dividend]]</Template>
  <TotalTime>147</TotalTime>
  <Words>1626</Words>
  <Application>Microsoft Office PowerPoint</Application>
  <PresentationFormat>Widescreen</PresentationFormat>
  <Paragraphs>212</Paragraphs>
  <Slides>16</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Gill Sans MT</vt:lpstr>
      <vt:lpstr>Wingdings 2</vt:lpstr>
      <vt:lpstr>Dividend</vt:lpstr>
      <vt:lpstr>PowerPoint Presentation</vt:lpstr>
      <vt:lpstr>Objective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Customer Distribution by Group</vt:lpstr>
      <vt:lpstr>Impact of COVID on Volume by Customer Group</vt:lpstr>
      <vt:lpstr>Parcel Volume by Customer Group (2019 vs 2020)</vt:lpstr>
      <vt:lpstr>Estimated Revenue by Customer Group (2019 vs 2020)</vt:lpstr>
      <vt:lpstr>BUSINESS ANSWERS</vt:lpstr>
      <vt:lpstr>PowerPoint Presentation</vt:lpstr>
    </vt:vector>
  </TitlesOfParts>
  <Company>ABC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of COVID-19 on ABC Company Parcel Business</dc:title>
  <dc:subject>Impact of COVID-19 on ABC Company Parcel Business</dc:subject>
  <dc:creator>OpenAI</dc:creator>
  <cp:lastModifiedBy>Adibe, Nnaemeka</cp:lastModifiedBy>
  <cp:revision>8</cp:revision>
  <dcterms:created xsi:type="dcterms:W3CDTF">2026-04-24T01:54:44Z</dcterms:created>
  <dcterms:modified xsi:type="dcterms:W3CDTF">2026-04-24T05:36:05Z</dcterms:modified>
</cp:coreProperties>
</file>