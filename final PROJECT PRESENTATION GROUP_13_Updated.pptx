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19"/>
  </p:notesMasterIdLst>
  <p:sldIdLst>
    <p:sldId id="256" r:id="rId2"/>
    <p:sldId id="277" r:id="rId3"/>
    <p:sldId id="268" r:id="rId4"/>
    <p:sldId id="258" r:id="rId5"/>
    <p:sldId id="260" r:id="rId6"/>
    <p:sldId id="261" r:id="rId7"/>
    <p:sldId id="262" r:id="rId8"/>
    <p:sldId id="264" r:id="rId9"/>
    <p:sldId id="263" r:id="rId10"/>
    <p:sldId id="265" r:id="rId11"/>
    <p:sldId id="278" r:id="rId12"/>
    <p:sldId id="274" r:id="rId13"/>
    <p:sldId id="279" r:id="rId14"/>
    <p:sldId id="259" r:id="rId15"/>
    <p:sldId id="269" r:id="rId16"/>
    <p:sldId id="267" r:id="rId17"/>
    <p:sldId id="280" r:id="rId18"/>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F90B"/>
    <a:srgbClr val="009E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a:pPr>
            <a:r>
              <a:rPr lang="en-US" sz="1400" dirty="0"/>
              <a:t>Total parcel volume</a:t>
            </a:r>
          </a:p>
        </c:rich>
      </c:tx>
      <c:overlay val="0"/>
    </c:title>
    <c:autoTitleDeleted val="0"/>
    <c:plotArea>
      <c:layout/>
      <c:barChart>
        <c:barDir val="col"/>
        <c:grouping val="clustered"/>
        <c:varyColors val="0"/>
        <c:ser>
          <c:idx val="0"/>
          <c:order val="0"/>
          <c:tx>
            <c:strRef>
              <c:f>Sheet1!$B$1</c:f>
              <c:strCache>
                <c:ptCount val="1"/>
                <c:pt idx="0">
                  <c:v>Total volume</c:v>
                </c:pt>
              </c:strCache>
            </c:strRef>
          </c:tx>
          <c:spPr>
            <a:solidFill>
              <a:srgbClr val="C0504D"/>
            </a:solidFill>
            <a:effectLst/>
          </c:spPr>
          <c:invertIfNegative val="0"/>
          <c:dLbls>
            <c:dLbl>
              <c:idx val="0"/>
              <c:layout>
                <c:manualLayout>
                  <c:x val="-1.9290123456790478E-3"/>
                  <c:y val="3.3467202141900937E-3"/>
                </c:manualLayout>
              </c:layout>
              <c:tx>
                <c:rich>
                  <a:bodyPr/>
                  <a:lstStyle/>
                  <a:p>
                    <a:fld id="{513D56B9-0BC8-48ED-B622-6411816FF438}" type="VALUE">
                      <a:rPr lang="en-US" smtClean="0"/>
                      <a:pPr/>
                      <a:t>[VALUE]</a:t>
                    </a:fld>
                    <a:r>
                      <a:rPr lang="en-US" dirty="0"/>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CBD2-4728-AFE1-9C5B24BB46E5}"/>
                </c:ext>
              </c:extLst>
            </c:dLbl>
            <c:dLbl>
              <c:idx val="1"/>
              <c:layout>
                <c:manualLayout>
                  <c:x val="1.9290123456790122E-3"/>
                  <c:y val="1.3386880856760375E-2"/>
                </c:manualLayout>
              </c:layout>
              <c:tx>
                <c:rich>
                  <a:bodyPr/>
                  <a:lstStyle/>
                  <a:p>
                    <a:fld id="{EDB3C8FE-D2D9-4A7D-A5EB-99F6F52272D7}" type="VALUE">
                      <a:rPr lang="en-US" smtClean="0"/>
                      <a:pPr/>
                      <a:t>[VALUE]</a:t>
                    </a:fld>
                    <a:r>
                      <a:rPr lang="en-US"/>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BD2-4728-AFE1-9C5B24BB46E5}"/>
                </c:ext>
              </c:extLst>
            </c:dLbl>
            <c:dLbl>
              <c:idx val="2"/>
              <c:layout>
                <c:manualLayout>
                  <c:x val="1.9290123456788709E-3"/>
                  <c:y val="1.0040160642570281E-2"/>
                </c:manualLayout>
              </c:layout>
              <c:tx>
                <c:rich>
                  <a:bodyPr/>
                  <a:lstStyle/>
                  <a:p>
                    <a:fld id="{A6F26761-214E-49A6-A247-E9BA3F295EB0}" type="VALUE">
                      <a:rPr lang="en-US" smtClean="0"/>
                      <a:pPr/>
                      <a:t>[VALUE]</a:t>
                    </a:fld>
                    <a:r>
                      <a:rPr lang="en-US"/>
                      <a:t>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BD2-4728-AFE1-9C5B24BB46E5}"/>
                </c:ext>
              </c:extLst>
            </c:dLbl>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2018</c:v>
                </c:pt>
                <c:pt idx="1">
                  <c:v>2019</c:v>
                </c:pt>
                <c:pt idx="2">
                  <c:v>2020</c:v>
                </c:pt>
              </c:strCache>
            </c:strRef>
          </c:cat>
          <c:val>
            <c:numRef>
              <c:f>Sheet1!$B$2:$B$4</c:f>
              <c:numCache>
                <c:formatCode>General</c:formatCode>
                <c:ptCount val="3"/>
                <c:pt idx="0">
                  <c:v>49.099477999999998</c:v>
                </c:pt>
                <c:pt idx="1">
                  <c:v>52.823113999999997</c:v>
                </c:pt>
                <c:pt idx="2">
                  <c:v>73.47569</c:v>
                </c:pt>
              </c:numCache>
            </c:numRef>
          </c:val>
          <c:extLst>
            <c:ext xmlns:c16="http://schemas.microsoft.com/office/drawing/2014/chart" uri="{C3380CC4-5D6E-409C-BE32-E72D297353CC}">
              <c16:uniqueId val="{00000000-4EAF-4328-B6F9-FD36736476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a:pPr>
                <a:r>
                  <a:rPr lang="en-US" sz="1400" dirty="0"/>
                  <a:t>Year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888888"/>
              </a:solidFill>
              <a:prstDash val="solid"/>
              <a:round/>
            </a:ln>
          </c:spPr>
        </c:majorGridlines>
        <c:title>
          <c:tx>
            <c:rich>
              <a:bodyPr/>
              <a:lstStyle/>
              <a:p>
                <a:pPr>
                  <a:defRPr/>
                </a:pPr>
                <a:r>
                  <a:rPr lang="en-US" sz="1400" dirty="0"/>
                  <a:t>Parcel volume (millions)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dirty="0"/>
              <a:t>Parcel</a:t>
            </a:r>
            <a:r>
              <a:rPr lang="en-US" baseline="0" dirty="0"/>
              <a:t> volume by customer groups</a:t>
            </a:r>
            <a:endParaRPr lang="en-US" dirty="0"/>
          </a:p>
        </c:rich>
      </c:tx>
      <c:overlay val="0"/>
    </c:title>
    <c:autoTitleDeleted val="0"/>
    <c:plotArea>
      <c:layout>
        <c:manualLayout>
          <c:layoutTarget val="inner"/>
          <c:xMode val="edge"/>
          <c:yMode val="edge"/>
          <c:x val="0.10854191973918037"/>
          <c:y val="0.15008672995641886"/>
          <c:w val="0.82742581161149908"/>
          <c:h val="0.65432505991391854"/>
        </c:manualLayout>
      </c:layout>
      <c:barChart>
        <c:barDir val="col"/>
        <c:grouping val="clustered"/>
        <c:varyColors val="1"/>
        <c:ser>
          <c:idx val="0"/>
          <c:order val="0"/>
          <c:tx>
            <c:strRef>
              <c:f>Sheet1!$B$1</c:f>
              <c:strCache>
                <c:ptCount val="1"/>
                <c:pt idx="0">
                  <c:v>2019 Volume</c:v>
                </c:pt>
              </c:strCache>
            </c:strRef>
          </c:tx>
          <c:invertIfNegative val="1"/>
          <c:dLbls>
            <c:numFmt formatCode="0,,&quot;M&quot;"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38910324</c:v>
                </c:pt>
                <c:pt idx="1">
                  <c:v>4191621</c:v>
                </c:pt>
                <c:pt idx="2">
                  <c:v>7027575</c:v>
                </c:pt>
                <c:pt idx="3">
                  <c:v>2693594</c:v>
                </c:pt>
              </c:numCache>
            </c:numRef>
          </c:val>
          <c:extLst>
            <c:ext xmlns:c16="http://schemas.microsoft.com/office/drawing/2014/chart" uri="{C3380CC4-5D6E-409C-BE32-E72D297353CC}">
              <c16:uniqueId val="{00000000-5A3E-4544-9BCB-91937F80B96D}"/>
            </c:ext>
          </c:extLst>
        </c:ser>
        <c:ser>
          <c:idx val="1"/>
          <c:order val="1"/>
          <c:tx>
            <c:strRef>
              <c:f>Sheet1!$C$1</c:f>
              <c:strCache>
                <c:ptCount val="1"/>
                <c:pt idx="0">
                  <c:v>2020 Volume</c:v>
                </c:pt>
              </c:strCache>
            </c:strRef>
          </c:tx>
          <c:invertIfNegative val="1"/>
          <c:dLbls>
            <c:numFmt formatCode="0,,&quot;M&quot;"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53794064</c:v>
                </c:pt>
                <c:pt idx="1">
                  <c:v>5625310</c:v>
                </c:pt>
                <c:pt idx="2">
                  <c:v>9965816</c:v>
                </c:pt>
                <c:pt idx="3">
                  <c:v>4090500</c:v>
                </c:pt>
              </c:numCache>
            </c:numRef>
          </c:val>
          <c:extLst>
            <c:ext xmlns:c16="http://schemas.microsoft.com/office/drawing/2014/chart" uri="{C3380CC4-5D6E-409C-BE32-E72D297353CC}">
              <c16:uniqueId val="{00000001-5A3E-4544-9BCB-91937F80B96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title>
          <c:tx>
            <c:rich>
              <a:bodyPr/>
              <a:lstStyle/>
              <a:p>
                <a:pPr>
                  <a:defRPr/>
                </a:pPr>
                <a:r>
                  <a:rPr lang="en-US" dirty="0"/>
                  <a:t>Customer</a:t>
                </a:r>
                <a:r>
                  <a:rPr lang="en-US" baseline="0" dirty="0"/>
                  <a:t> group</a:t>
                </a:r>
              </a:p>
            </c:rich>
          </c:tx>
          <c:overlay val="0"/>
        </c:title>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title>
          <c:tx>
            <c:rich>
              <a:bodyPr/>
              <a:lstStyle/>
              <a:p>
                <a:pPr>
                  <a:defRPr/>
                </a:pPr>
                <a:r>
                  <a:rPr lang="en-US" dirty="0"/>
                  <a:t>Parcel</a:t>
                </a:r>
                <a:r>
                  <a:rPr lang="en-US" baseline="0" dirty="0"/>
                  <a:t> volume</a:t>
                </a:r>
                <a:endParaRPr lang="en-US" dirty="0"/>
              </a:p>
            </c:rich>
          </c:tx>
          <c:overlay val="0"/>
        </c:title>
        <c:numFmt formatCode="0,,&quot;M&quot;" sourceLinked="0"/>
        <c:majorTickMark val="out"/>
        <c:minorTickMark val="none"/>
        <c:tickLblPos val="nextTo"/>
        <c:crossAx val="-2068027336"/>
        <c:crosses val="autoZero"/>
        <c:crossBetween val="between"/>
      </c:valAx>
    </c:plotArea>
    <c:legend>
      <c:legendPos val="r"/>
      <c:layout>
        <c:manualLayout>
          <c:xMode val="edge"/>
          <c:yMode val="edge"/>
          <c:x val="0.79453807501896168"/>
          <c:y val="1.7663167104111987E-2"/>
          <c:w val="0.16833752452548975"/>
          <c:h val="0.11203455818022748"/>
        </c:manualLayout>
      </c:layout>
      <c:overlay val="0"/>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Volume</c:v>
                </c:pt>
              </c:strCache>
            </c:strRef>
          </c:tx>
          <c:spPr>
            <a:solidFill>
              <a:srgbClr val="C0504D"/>
            </a:solidFill>
            <a:effectLst/>
          </c:spPr>
          <c:invertIfNegative val="0"/>
          <c:dLbls>
            <c:dLbl>
              <c:idx val="0"/>
              <c:tx>
                <c:rich>
                  <a:bodyPr/>
                  <a:lstStyle/>
                  <a:p>
                    <a:pPr>
                      <a:defRPr sz="1200" b="1" i="0" u="none" strike="noStrike">
                        <a:solidFill>
                          <a:srgbClr val="000000"/>
                        </a:solidFill>
                        <a:latin typeface="Arial"/>
                      </a:defRPr>
                    </a:pPr>
                    <a:fld id="{1601416B-F125-4AB4-B39C-07FB9FD62D35}" type="VALUE">
                      <a:rPr lang="en-US" b="1" smtClean="0"/>
                      <a:pPr>
                        <a:defRPr sz="1200" b="1" i="0" u="none" strike="noStrike">
                          <a:solidFill>
                            <a:srgbClr val="000000"/>
                          </a:solidFill>
                          <a:latin typeface="Arial"/>
                        </a:defRPr>
                      </a:pPr>
                      <a:t>[VALUE]</a:t>
                    </a:fld>
                    <a:r>
                      <a:rPr lang="en-US" b="1"/>
                      <a:t>%</a:t>
                    </a:r>
                  </a:p>
                </c:rich>
              </c:tx>
              <c:numFmt formatCode="#,##0" sourceLinked="0"/>
              <c:spPr>
                <a:noFill/>
                <a:ln>
                  <a:noFill/>
                </a:ln>
                <a:effectLst/>
              </c:sp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45A4-488E-AFCF-A92FBF2F7D9C}"/>
                </c:ext>
              </c:extLst>
            </c:dLbl>
            <c:dLbl>
              <c:idx val="1"/>
              <c:layout>
                <c:manualLayout>
                  <c:x val="0"/>
                  <c:y val="1.0964912280701754E-2"/>
                </c:manualLayout>
              </c:layout>
              <c:tx>
                <c:rich>
                  <a:bodyPr/>
                  <a:lstStyle/>
                  <a:p>
                    <a:pPr>
                      <a:defRPr sz="1200" b="1" i="0" u="none" strike="noStrike">
                        <a:solidFill>
                          <a:srgbClr val="000000"/>
                        </a:solidFill>
                        <a:latin typeface="Arial"/>
                      </a:defRPr>
                    </a:pPr>
                    <a:fld id="{A6B8C426-1FFA-4314-A408-2C57136DCE6F}" type="VALUE">
                      <a:rPr lang="en-US" b="1" smtClean="0"/>
                      <a:pPr>
                        <a:defRPr sz="1200" b="1" i="0" u="none" strike="noStrike">
                          <a:solidFill>
                            <a:srgbClr val="000000"/>
                          </a:solidFill>
                          <a:latin typeface="Arial"/>
                        </a:defRPr>
                      </a:pPr>
                      <a:t>[VALUE]</a:t>
                    </a:fld>
                    <a:r>
                      <a:rPr lang="en-US" b="1"/>
                      <a:t>%</a:t>
                    </a:r>
                  </a:p>
                </c:rich>
              </c:tx>
              <c:numFmt formatCode="#,##0" sourceLinked="0"/>
              <c:spPr>
                <a:noFill/>
                <a:ln>
                  <a:noFill/>
                </a:ln>
                <a:effectLst/>
              </c:sp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5A4-488E-AFCF-A92FBF2F7D9C}"/>
                </c:ext>
              </c:extLst>
            </c:dLbl>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2019 W1–W15</c:v>
                </c:pt>
                <c:pt idx="1">
                  <c:v>2020 W1–W15</c:v>
                </c:pt>
              </c:strCache>
            </c:strRef>
          </c:cat>
          <c:val>
            <c:numRef>
              <c:f>Sheet1!$B$2:$B$3</c:f>
              <c:numCache>
                <c:formatCode>General</c:formatCode>
                <c:ptCount val="2"/>
                <c:pt idx="0">
                  <c:v>13.122816</c:v>
                </c:pt>
                <c:pt idx="1">
                  <c:v>14.619016999999999</c:v>
                </c:pt>
              </c:numCache>
            </c:numRef>
          </c:val>
          <c:extLst>
            <c:ext xmlns:c16="http://schemas.microsoft.com/office/drawing/2014/chart" uri="{C3380CC4-5D6E-409C-BE32-E72D297353CC}">
              <c16:uniqueId val="{00000000-D178-469E-B913-05AA8772B32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a:pPr>
                <a:r>
                  <a:rPr lang="en-US" sz="1600" dirty="0"/>
                  <a:t>week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12700" cap="flat">
              <a:solidFill>
                <a:srgbClr val="888888"/>
              </a:solidFill>
              <a:prstDash val="solid"/>
              <a:round/>
            </a:ln>
          </c:spPr>
        </c:majorGridlines>
        <c:title>
          <c:tx>
            <c:rich>
              <a:bodyPr/>
              <a:lstStyle/>
              <a:p>
                <a:pPr>
                  <a:defRPr/>
                </a:pPr>
                <a:r>
                  <a:rPr lang="en-US" sz="1800" dirty="0"/>
                  <a:t>% benchmark</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015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explains how COVID-19 changed ABC Company's parcel business. The story moves from the baseline, to the timing of the impact, to peak season, then to customer segment behavior and business implications.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four columns: customer ID, year, week, and volume. It is strong for shipment-volume analysis. Because revenue is not directly provided, the deck treats parcel volume as a revenue proxy and avoids unsupported claims about actual dollars.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annual result. Parcel volume rose from 52.8M in 2019 to 73.5M in 2020. The decline in 2021 should be framed as normalization rather than necessarily weakness, because 2020 was exceptional.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is used as the COVID observation starting point. The line chart shows that the 2020 line pulls away from 2019 immediately after the onset. Week 16 is especially strong, with volumes more than double the same week in 2019.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season increased from 15.4M to 19.4M parcels. This means the business had to handle about 4.1M more parcels during its most operationally sensitive window.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customers represent a small number of accounts but dominate parcel volume. The 2020 uplift appears across segments, which supports the interpretation that this was a structural market shock rather than a single-customer anomaly.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customer count by size group, not total volume. The customer base changed in composition, with more customers showing medium-size behavior in 2020 and some falling into micro/other.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customer-level view. High growth is strongest in the Large and Enterprise segments. However, a substantial share of Medium and Small customers declined, so the business impact was positive overall but uneven across customers.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pre-COVID volume increased from 13.1M parcels in early 2019 to 14.6M in early 2020, which equals 11.4% growth. That is the threshold used to separate normal growth from likely COVID-driven growth.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the integrated story: the annual spike identifies the scale, the weekly chart identifies the timing, peak season shows operational impact, and customer status shows where to target retention and growth.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6AD6EE87-EBD5-4F12-A48A-63ACA297AC8F}" type="datetimeFigureOut">
              <a:rPr lang="en-US" smtClean="0"/>
              <a:t>4/25/2026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41196653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8012092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A61015F-7CC6-4D0A-9D87-873EA4C304CC}" type="datetimeFigureOut">
              <a:rPr lang="en-US" smtClean="0"/>
              <a:t>4/25/2026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212863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1242793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4/25/2026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203145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EF4D4C-5367-4C26-9E2B-D8088D7FCA81}" type="datetimeFigureOut">
              <a:rPr lang="en-US" smtClean="0"/>
              <a:t>4/25/2026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245838363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4/25/2026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608748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5C68B11-C5A8-448C-8CE9-B1A273C79CFC}" type="datetimeFigureOut">
              <a:rPr lang="en-US" smtClean="0"/>
              <a:t>4/25/2026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9962680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2790849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11818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A4AFB99-0EAB-4182-AFF8-E214C82A68F6}" type="datetimeFigureOut">
              <a:rPr lang="en-US" smtClean="0"/>
              <a:t>4/25/2026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2443069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39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0298CD5-6C1E-4009-B41F-6DF62E31D3BE}" type="datetimeFigureOut">
              <a:rPr lang="en-US" smtClean="0"/>
              <a:pPr/>
              <a:t>4/25/2026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FAB73BC-B049-4115-A692-8D63A059BFB8}"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8720281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05" y="-45440"/>
            <a:ext cx="12191695" cy="6858000"/>
          </a:xfrm>
          <a:prstGeom prst="rect">
            <a:avLst/>
          </a:prstGeom>
          <a:solidFill>
            <a:srgbClr val="0B1F3A"/>
          </a:solidFill>
          <a:ln w="12700">
            <a:solidFill>
              <a:srgbClr val="FFFFFF">
                <a:alpha val="0"/>
              </a:srgbClr>
            </a:solidFill>
            <a:prstDash val="solid"/>
          </a:ln>
        </p:spPr>
        <p:txBody>
          <a:bodyPr/>
          <a:lstStyle/>
          <a:p>
            <a:endParaRPr lang="en-US" dirty="0"/>
          </a:p>
        </p:txBody>
      </p:sp>
      <p:sp>
        <p:nvSpPr>
          <p:cNvPr id="3" name="Shape 1"/>
          <p:cNvSpPr/>
          <p:nvPr/>
        </p:nvSpPr>
        <p:spPr>
          <a:xfrm>
            <a:off x="8001000" y="0"/>
            <a:ext cx="4187952" cy="6382512"/>
          </a:xfrm>
          <a:prstGeom prst="rect">
            <a:avLst/>
          </a:prstGeom>
          <a:solidFill>
            <a:srgbClr val="0F2D52"/>
          </a:solidFill>
          <a:ln w="12700">
            <a:solidFill>
              <a:srgbClr val="FFFFFF">
                <a:alpha val="0"/>
              </a:srgbClr>
            </a:solidFill>
            <a:prstDash val="solid"/>
          </a:ln>
        </p:spPr>
        <p:txBody>
          <a:bodyPr/>
          <a:lstStyle/>
          <a:p>
            <a:endParaRPr lang="en-US"/>
          </a:p>
        </p:txBody>
      </p:sp>
      <p:sp>
        <p:nvSpPr>
          <p:cNvPr id="4" name="Shape 2"/>
          <p:cNvSpPr/>
          <p:nvPr/>
        </p:nvSpPr>
        <p:spPr>
          <a:xfrm>
            <a:off x="0" y="6382512"/>
            <a:ext cx="12191695" cy="475488"/>
          </a:xfrm>
          <a:prstGeom prst="rect">
            <a:avLst/>
          </a:prstGeom>
          <a:solidFill>
            <a:srgbClr val="00A6A6"/>
          </a:solidFill>
          <a:ln w="12700">
            <a:solidFill>
              <a:srgbClr val="FFFFFF">
                <a:alpha val="0"/>
              </a:srgbClr>
            </a:solidFill>
            <a:prstDash val="solid"/>
          </a:ln>
        </p:spPr>
        <p:txBody>
          <a:bodyPr/>
          <a:lstStyle/>
          <a:p>
            <a:endParaRPr lang="en-US"/>
          </a:p>
        </p:txBody>
      </p:sp>
      <p:sp>
        <p:nvSpPr>
          <p:cNvPr id="5" name="Text 3"/>
          <p:cNvSpPr/>
          <p:nvPr/>
        </p:nvSpPr>
        <p:spPr>
          <a:xfrm>
            <a:off x="731520" y="1051560"/>
            <a:ext cx="7040880" cy="1508760"/>
          </a:xfrm>
          <a:prstGeom prst="rect">
            <a:avLst/>
          </a:prstGeom>
          <a:noFill/>
          <a:ln/>
        </p:spPr>
        <p:txBody>
          <a:bodyPr wrap="square" lIns="508" tIns="508" rIns="508" bIns="508" rtlCol="0" anchor="t">
            <a:normAutofit/>
          </a:bodyPr>
          <a:lstStyle/>
          <a:p>
            <a:pPr marL="0" indent="0" algn="l">
              <a:buNone/>
            </a:pPr>
            <a:r>
              <a:rPr lang="en-US" sz="4300" b="1" dirty="0">
                <a:solidFill>
                  <a:srgbClr val="FFFFFF"/>
                </a:solidFill>
                <a:latin typeface="Aptos Display" pitchFamily="34" charset="0"/>
                <a:ea typeface="Aptos Display" pitchFamily="34" charset="-122"/>
                <a:cs typeface="Aptos Display" pitchFamily="34" charset="-120"/>
              </a:rPr>
              <a:t>Impact of COVID-19 on ABC Company Parcel Business</a:t>
            </a:r>
            <a:endParaRPr lang="en-US" sz="4300" dirty="0"/>
          </a:p>
        </p:txBody>
      </p:sp>
      <p:sp>
        <p:nvSpPr>
          <p:cNvPr id="6" name="Text 4"/>
          <p:cNvSpPr/>
          <p:nvPr/>
        </p:nvSpPr>
        <p:spPr>
          <a:xfrm>
            <a:off x="768096" y="2788920"/>
            <a:ext cx="6583680" cy="685800"/>
          </a:xfrm>
          <a:prstGeom prst="rect">
            <a:avLst/>
          </a:prstGeom>
          <a:noFill/>
          <a:ln/>
        </p:spPr>
        <p:txBody>
          <a:bodyPr wrap="square" lIns="508" tIns="508" rIns="508" bIns="508" rtlCol="0" anchor="t">
            <a:normAutofit/>
          </a:bodyPr>
          <a:lstStyle/>
          <a:p>
            <a:pPr marL="0" indent="0" algn="l">
              <a:buNone/>
            </a:pPr>
            <a:r>
              <a:rPr lang="en-US" sz="1800" dirty="0">
                <a:solidFill>
                  <a:srgbClr val="DCEAF7"/>
                </a:solidFill>
                <a:latin typeface="Aptos" pitchFamily="34" charset="0"/>
                <a:ea typeface="Aptos" pitchFamily="34" charset="-122"/>
                <a:cs typeface="Aptos" pitchFamily="34" charset="-120"/>
              </a:rPr>
              <a:t>Step-by-step analysis of parcel volume, customer behavior, peak season performance and business impact</a:t>
            </a:r>
            <a:endParaRPr lang="en-US" sz="1800" dirty="0"/>
          </a:p>
        </p:txBody>
      </p:sp>
      <p:sp>
        <p:nvSpPr>
          <p:cNvPr id="7" name="Text 5"/>
          <p:cNvSpPr/>
          <p:nvPr/>
        </p:nvSpPr>
        <p:spPr>
          <a:xfrm>
            <a:off x="768096" y="5998464"/>
            <a:ext cx="4754880" cy="228600"/>
          </a:xfrm>
          <a:prstGeom prst="rect">
            <a:avLst/>
          </a:prstGeom>
          <a:noFill/>
          <a:ln/>
        </p:spPr>
        <p:txBody>
          <a:bodyPr wrap="square" lIns="508" tIns="508" rIns="508" bIns="508" rtlCol="0" anchor="t">
            <a:normAutofit/>
          </a:bodyPr>
          <a:lstStyle/>
          <a:p>
            <a:pPr marL="0" indent="0" algn="l">
              <a:buNone/>
            </a:pPr>
            <a:endParaRPr lang="en-US" sz="1150" dirty="0"/>
          </a:p>
        </p:txBody>
      </p:sp>
      <p:sp>
        <p:nvSpPr>
          <p:cNvPr id="8" name="Text 6"/>
          <p:cNvSpPr/>
          <p:nvPr/>
        </p:nvSpPr>
        <p:spPr>
          <a:xfrm>
            <a:off x="9770086" y="1427585"/>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00A6A6"/>
                </a:solidFill>
                <a:latin typeface="Aptos Display" pitchFamily="34" charset="0"/>
                <a:ea typeface="Aptos Display" pitchFamily="34" charset="-122"/>
                <a:cs typeface="Aptos Display" pitchFamily="34" charset="-120"/>
              </a:rPr>
              <a:t>190,719</a:t>
            </a:r>
            <a:endParaRPr lang="en-US" sz="2232" dirty="0"/>
          </a:p>
        </p:txBody>
      </p:sp>
      <p:sp>
        <p:nvSpPr>
          <p:cNvPr id="9" name="Text 7"/>
          <p:cNvSpPr/>
          <p:nvPr/>
        </p:nvSpPr>
        <p:spPr>
          <a:xfrm>
            <a:off x="9816741" y="1737150"/>
            <a:ext cx="2834640" cy="272125"/>
          </a:xfrm>
          <a:prstGeom prst="rect">
            <a:avLst/>
          </a:prstGeom>
          <a:noFill/>
          <a:ln/>
        </p:spPr>
        <p:txBody>
          <a:bodyPr wrap="square" lIns="127" tIns="127" rIns="127" bIns="127" rtlCol="0" anchor="t">
            <a:normAutofit/>
          </a:bodyPr>
          <a:lstStyle/>
          <a:p>
            <a:pPr marL="0" indent="0" algn="l">
              <a:buNone/>
            </a:pPr>
            <a:r>
              <a:rPr lang="en-US" sz="1080" b="1" dirty="0">
                <a:solidFill>
                  <a:schemeClr val="bg1"/>
                </a:solidFill>
                <a:latin typeface="Aptos" pitchFamily="34" charset="0"/>
                <a:ea typeface="Aptos" pitchFamily="34" charset="-122"/>
                <a:cs typeface="Aptos" pitchFamily="34" charset="-120"/>
              </a:rPr>
              <a:t>Total records</a:t>
            </a:r>
            <a:endParaRPr lang="en-US" sz="1080" dirty="0">
              <a:solidFill>
                <a:schemeClr val="bg1"/>
              </a:solidFill>
            </a:endParaRPr>
          </a:p>
        </p:txBody>
      </p:sp>
      <p:sp>
        <p:nvSpPr>
          <p:cNvPr id="10" name="Text 8"/>
          <p:cNvSpPr/>
          <p:nvPr/>
        </p:nvSpPr>
        <p:spPr>
          <a:xfrm>
            <a:off x="9816741" y="1914671"/>
            <a:ext cx="2834640" cy="340157"/>
          </a:xfrm>
          <a:prstGeom prst="rect">
            <a:avLst/>
          </a:prstGeom>
          <a:noFill/>
          <a:ln/>
        </p:spPr>
        <p:txBody>
          <a:bodyPr wrap="square" lIns="127" tIns="127" rIns="127" bIns="127" rtlCol="0" anchor="t">
            <a:normAutofit/>
          </a:bodyPr>
          <a:lstStyle/>
          <a:p>
            <a:pPr marL="0" indent="0" algn="l">
              <a:buNone/>
            </a:pPr>
            <a:r>
              <a:rPr lang="en-US" sz="870" dirty="0">
                <a:solidFill>
                  <a:schemeClr val="bg1">
                    <a:lumMod val="75000"/>
                  </a:schemeClr>
                </a:solidFill>
                <a:latin typeface="Aptos" pitchFamily="34" charset="0"/>
                <a:ea typeface="Aptos" pitchFamily="34" charset="-122"/>
                <a:cs typeface="Aptos" pitchFamily="34" charset="-120"/>
              </a:rPr>
              <a:t>Weekly customer shipment rows</a:t>
            </a:r>
            <a:endParaRPr lang="en-US" sz="870" dirty="0">
              <a:solidFill>
                <a:schemeClr val="bg1">
                  <a:lumMod val="75000"/>
                </a:schemeClr>
              </a:solidFill>
            </a:endParaRPr>
          </a:p>
        </p:txBody>
      </p:sp>
      <p:sp>
        <p:nvSpPr>
          <p:cNvPr id="11" name="Text 9"/>
          <p:cNvSpPr/>
          <p:nvPr/>
        </p:nvSpPr>
        <p:spPr>
          <a:xfrm>
            <a:off x="9770086" y="2844905"/>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F28C28"/>
                </a:solidFill>
                <a:latin typeface="Aptos Display" pitchFamily="34" charset="0"/>
                <a:ea typeface="Aptos Display" pitchFamily="34" charset="-122"/>
                <a:cs typeface="Aptos Display" pitchFamily="34" charset="-120"/>
              </a:rPr>
              <a:t>1,061</a:t>
            </a:r>
            <a:endParaRPr lang="en-US" sz="2232" dirty="0"/>
          </a:p>
        </p:txBody>
      </p:sp>
      <p:sp>
        <p:nvSpPr>
          <p:cNvPr id="12" name="Text 10"/>
          <p:cNvSpPr/>
          <p:nvPr/>
        </p:nvSpPr>
        <p:spPr>
          <a:xfrm>
            <a:off x="9816741" y="3154470"/>
            <a:ext cx="1939834" cy="272125"/>
          </a:xfrm>
          <a:prstGeom prst="rect">
            <a:avLst/>
          </a:prstGeom>
          <a:noFill/>
          <a:ln/>
        </p:spPr>
        <p:txBody>
          <a:bodyPr wrap="square" lIns="127" tIns="127" rIns="127" bIns="127" rtlCol="0" anchor="t">
            <a:normAutofit/>
          </a:bodyPr>
          <a:lstStyle/>
          <a:p>
            <a:pPr marL="0" indent="0" algn="l">
              <a:buNone/>
            </a:pPr>
            <a:r>
              <a:rPr lang="en-US" sz="1080" b="1" dirty="0">
                <a:solidFill>
                  <a:schemeClr val="bg1"/>
                </a:solidFill>
                <a:latin typeface="Aptos" pitchFamily="34" charset="0"/>
                <a:ea typeface="Aptos" pitchFamily="34" charset="-122"/>
                <a:cs typeface="Aptos" pitchFamily="34" charset="-120"/>
              </a:rPr>
              <a:t>Customers analyzed</a:t>
            </a:r>
            <a:endParaRPr lang="en-US" sz="1080" dirty="0">
              <a:solidFill>
                <a:schemeClr val="bg1"/>
              </a:solidFill>
            </a:endParaRPr>
          </a:p>
        </p:txBody>
      </p:sp>
      <p:sp>
        <p:nvSpPr>
          <p:cNvPr id="13" name="Text 11"/>
          <p:cNvSpPr/>
          <p:nvPr/>
        </p:nvSpPr>
        <p:spPr>
          <a:xfrm>
            <a:off x="9816741" y="3331991"/>
            <a:ext cx="2834640" cy="340157"/>
          </a:xfrm>
          <a:prstGeom prst="rect">
            <a:avLst/>
          </a:prstGeom>
          <a:noFill/>
          <a:ln/>
        </p:spPr>
        <p:txBody>
          <a:bodyPr wrap="square" lIns="127" tIns="127" rIns="127" bIns="127" rtlCol="0" anchor="t">
            <a:normAutofit/>
          </a:bodyPr>
          <a:lstStyle/>
          <a:p>
            <a:pPr marL="0" indent="0" algn="l">
              <a:buNone/>
            </a:pPr>
            <a:r>
              <a:rPr lang="en-US" sz="870" dirty="0">
                <a:solidFill>
                  <a:schemeClr val="bg1">
                    <a:lumMod val="75000"/>
                  </a:schemeClr>
                </a:solidFill>
                <a:latin typeface="Aptos" pitchFamily="34" charset="0"/>
                <a:ea typeface="Aptos" pitchFamily="34" charset="-122"/>
                <a:cs typeface="Aptos" pitchFamily="34" charset="-120"/>
              </a:rPr>
              <a:t>Unique FakeCustomerID values</a:t>
            </a:r>
            <a:endParaRPr lang="en-US" sz="870" dirty="0">
              <a:solidFill>
                <a:schemeClr val="bg1">
                  <a:lumMod val="75000"/>
                </a:schemeClr>
              </a:solidFill>
            </a:endParaRPr>
          </a:p>
        </p:txBody>
      </p:sp>
      <p:sp>
        <p:nvSpPr>
          <p:cNvPr id="14" name="Text 12"/>
          <p:cNvSpPr/>
          <p:nvPr/>
        </p:nvSpPr>
        <p:spPr>
          <a:xfrm>
            <a:off x="9788748" y="4262225"/>
            <a:ext cx="2834640" cy="396850"/>
          </a:xfrm>
          <a:prstGeom prst="rect">
            <a:avLst/>
          </a:prstGeom>
          <a:noFill/>
          <a:ln/>
        </p:spPr>
        <p:txBody>
          <a:bodyPr wrap="square" lIns="127" tIns="127" rIns="127" bIns="127" rtlCol="0" anchor="t">
            <a:normAutofit/>
          </a:bodyPr>
          <a:lstStyle/>
          <a:p>
            <a:pPr marL="0" indent="0" algn="l">
              <a:buNone/>
            </a:pPr>
            <a:r>
              <a:rPr lang="en-US" sz="2232" b="1" dirty="0">
                <a:solidFill>
                  <a:srgbClr val="DCEAF7"/>
                </a:solidFill>
                <a:latin typeface="Aptos Display" pitchFamily="34" charset="0"/>
                <a:ea typeface="Aptos Display" pitchFamily="34" charset="-122"/>
                <a:cs typeface="Aptos Display" pitchFamily="34" charset="-120"/>
              </a:rPr>
              <a:t>2018–2021</a:t>
            </a:r>
            <a:endParaRPr lang="en-US" sz="2232" dirty="0"/>
          </a:p>
        </p:txBody>
      </p:sp>
      <p:sp>
        <p:nvSpPr>
          <p:cNvPr id="15" name="Text 13"/>
          <p:cNvSpPr/>
          <p:nvPr/>
        </p:nvSpPr>
        <p:spPr>
          <a:xfrm>
            <a:off x="9816741" y="4571790"/>
            <a:ext cx="2834640" cy="272125"/>
          </a:xfrm>
          <a:prstGeom prst="rect">
            <a:avLst/>
          </a:prstGeom>
          <a:noFill/>
          <a:ln/>
        </p:spPr>
        <p:txBody>
          <a:bodyPr wrap="square" lIns="127" tIns="127" rIns="127" bIns="127" rtlCol="0" anchor="t">
            <a:normAutofit/>
          </a:bodyPr>
          <a:lstStyle/>
          <a:p>
            <a:pPr marL="0" indent="0" algn="l">
              <a:buNone/>
            </a:pPr>
            <a:r>
              <a:rPr lang="en-US" sz="1080" b="1" dirty="0">
                <a:solidFill>
                  <a:schemeClr val="bg1"/>
                </a:solidFill>
                <a:latin typeface="Aptos" pitchFamily="34" charset="0"/>
                <a:ea typeface="Aptos" pitchFamily="34" charset="-122"/>
                <a:cs typeface="Aptos" pitchFamily="34" charset="-120"/>
              </a:rPr>
              <a:t>Years covered</a:t>
            </a:r>
            <a:endParaRPr lang="en-US" sz="1080" dirty="0">
              <a:solidFill>
                <a:schemeClr val="bg1"/>
              </a:solidFill>
            </a:endParaRPr>
          </a:p>
        </p:txBody>
      </p:sp>
      <p:sp>
        <p:nvSpPr>
          <p:cNvPr id="16" name="Text 14"/>
          <p:cNvSpPr/>
          <p:nvPr/>
        </p:nvSpPr>
        <p:spPr>
          <a:xfrm>
            <a:off x="9816741" y="4749311"/>
            <a:ext cx="2834640" cy="340157"/>
          </a:xfrm>
          <a:prstGeom prst="rect">
            <a:avLst/>
          </a:prstGeom>
          <a:noFill/>
          <a:ln/>
        </p:spPr>
        <p:txBody>
          <a:bodyPr wrap="square" lIns="127" tIns="127" rIns="127" bIns="127" rtlCol="0" anchor="t">
            <a:normAutofit/>
          </a:bodyPr>
          <a:lstStyle/>
          <a:p>
            <a:pPr marL="0" indent="0" algn="l">
              <a:buNone/>
            </a:pPr>
            <a:r>
              <a:rPr lang="en-US" sz="870" dirty="0">
                <a:solidFill>
                  <a:schemeClr val="bg1">
                    <a:lumMod val="75000"/>
                  </a:schemeClr>
                </a:solidFill>
                <a:latin typeface="Aptos" pitchFamily="34" charset="0"/>
                <a:ea typeface="Aptos" pitchFamily="34" charset="-122"/>
                <a:cs typeface="Aptos" pitchFamily="34" charset="-120"/>
              </a:rPr>
              <a:t>Pre-COVID, COVID, and normalization period</a:t>
            </a:r>
            <a:endParaRPr lang="en-US" sz="870" dirty="0">
              <a:solidFill>
                <a:schemeClr val="bg1">
                  <a:lumMod val="75000"/>
                </a:schemeClr>
              </a:solidFill>
            </a:endParaRPr>
          </a:p>
        </p:txBody>
      </p:sp>
      <p:sp>
        <p:nvSpPr>
          <p:cNvPr id="17" name="TextBox 16">
            <a:extLst>
              <a:ext uri="{FF2B5EF4-FFF2-40B4-BE49-F238E27FC236}">
                <a16:creationId xmlns:a16="http://schemas.microsoft.com/office/drawing/2014/main" id="{92A4615F-A609-2441-E1F0-CC1586168BD3}"/>
              </a:ext>
            </a:extLst>
          </p:cNvPr>
          <p:cNvSpPr txBox="1"/>
          <p:nvPr/>
        </p:nvSpPr>
        <p:spPr>
          <a:xfrm>
            <a:off x="656875" y="4304644"/>
            <a:ext cx="6518366" cy="1477328"/>
          </a:xfrm>
          <a:prstGeom prst="rect">
            <a:avLst/>
          </a:prstGeom>
          <a:noFill/>
        </p:spPr>
        <p:txBody>
          <a:bodyPr wrap="square" rtlCol="0">
            <a:spAutoFit/>
          </a:bodyPr>
          <a:lstStyle/>
          <a:p>
            <a:r>
              <a:rPr lang="en-US" b="1" dirty="0">
                <a:solidFill>
                  <a:schemeClr val="bg1"/>
                </a:solidFill>
              </a:rPr>
              <a:t>A PROJECT WORK BY </a:t>
            </a:r>
          </a:p>
          <a:p>
            <a:r>
              <a:rPr lang="en-US" b="1" dirty="0">
                <a:solidFill>
                  <a:schemeClr val="bg1"/>
                </a:solidFill>
              </a:rPr>
              <a:t>:</a:t>
            </a:r>
          </a:p>
          <a:p>
            <a:r>
              <a:rPr lang="en-US" b="1" dirty="0">
                <a:solidFill>
                  <a:schemeClr val="bg1"/>
                </a:solidFill>
              </a:rPr>
              <a:t>SAMUEL ESSIEN</a:t>
            </a:r>
          </a:p>
          <a:p>
            <a:r>
              <a:rPr lang="en-US" b="1" dirty="0">
                <a:solidFill>
                  <a:schemeClr val="bg1"/>
                </a:solidFill>
              </a:rPr>
              <a:t>NNAEMKEA CHARLES ADIBE </a:t>
            </a:r>
          </a:p>
          <a:p>
            <a:endParaRPr lang="en-US" b="1" dirty="0">
              <a:solidFill>
                <a:schemeClr val="bg1"/>
              </a:solidFill>
            </a:endParaRPr>
          </a:p>
        </p:txBody>
      </p:sp>
      <p:sp>
        <p:nvSpPr>
          <p:cNvPr id="18" name="TextBox 17"/>
          <p:cNvSpPr txBox="1"/>
          <p:nvPr/>
        </p:nvSpPr>
        <p:spPr>
          <a:xfrm>
            <a:off x="10692000" y="6358000"/>
            <a:ext cx="1400000" cy="300000"/>
          </a:xfrm>
          <a:prstGeom prst="rect">
            <a:avLst/>
          </a:prstGeom>
          <a:noFill/>
        </p:spPr>
        <p:txBody>
          <a:bodyPr wrap="none">
            <a:spAutoFit/>
          </a:bodyPr>
          <a:lstStyle/>
          <a:p>
            <a:r>
              <a:t>1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0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18872"/>
            <a:ext cx="8229600" cy="365760"/>
          </a:xfrm>
          <a:prstGeom prst="rect">
            <a:avLst/>
          </a:prstGeom>
          <a:noFill/>
        </p:spPr>
        <p:txBody>
          <a:bodyPr wrap="none">
            <a:spAutoFit/>
          </a:bodyPr>
          <a:lstStyle/>
          <a:p>
            <a:pPr>
              <a:defRPr sz="2400" b="1">
                <a:solidFill>
                  <a:srgbClr val="FFFFFF"/>
                </a:solidFill>
              </a:defRPr>
            </a:pPr>
            <a:r>
              <a:rPr dirty="0"/>
              <a:t>Executive Dashboard &amp; Overview</a:t>
            </a:r>
          </a:p>
        </p:txBody>
      </p:sp>
      <p:sp>
        <p:nvSpPr>
          <p:cNvPr id="4" name="TextBox 3"/>
          <p:cNvSpPr txBox="1"/>
          <p:nvPr/>
        </p:nvSpPr>
        <p:spPr>
          <a:xfrm>
            <a:off x="8321040" y="182880"/>
            <a:ext cx="3429000" cy="274320"/>
          </a:xfrm>
          <a:prstGeom prst="rect">
            <a:avLst/>
          </a:prstGeom>
          <a:noFill/>
        </p:spPr>
        <p:txBody>
          <a:bodyPr wrap="none">
            <a:spAutoFit/>
          </a:bodyPr>
          <a:lstStyle/>
          <a:p>
            <a:pPr algn="r">
              <a:defRPr sz="1100">
                <a:solidFill>
                  <a:srgbClr val="D2E1F5"/>
                </a:solidFill>
              </a:defRPr>
            </a:pPr>
            <a:r>
              <a:t>COVID Parcel Business Analysis</a:t>
            </a:r>
          </a:p>
        </p:txBody>
      </p:sp>
      <p:sp>
        <p:nvSpPr>
          <p:cNvPr id="5" name="Rounded Rectangle 4"/>
          <p:cNvSpPr/>
          <p:nvPr/>
        </p:nvSpPr>
        <p:spPr>
          <a:xfrm>
            <a:off x="317245" y="760073"/>
            <a:ext cx="11553164" cy="1024128"/>
          </a:xfrm>
          <a:prstGeom prst="roundRect">
            <a:avLst/>
          </a:prstGeom>
          <a:solidFill>
            <a:srgbClr val="DEEAFA"/>
          </a:solidFill>
          <a:ln>
            <a:solidFill>
              <a:srgbClr val="BE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0448" y="897234"/>
            <a:ext cx="9559212" cy="615553"/>
          </a:xfrm>
          <a:prstGeom prst="rect">
            <a:avLst/>
          </a:prstGeom>
          <a:noFill/>
        </p:spPr>
        <p:txBody>
          <a:bodyPr wrap="square">
            <a:spAutoFit/>
          </a:bodyPr>
          <a:lstStyle/>
          <a:p>
            <a:pPr>
              <a:defRPr sz="1700" b="1">
                <a:solidFill>
                  <a:srgbClr val="102C54"/>
                </a:solidFill>
              </a:defRPr>
            </a:pPr>
            <a:r>
              <a:rPr dirty="0"/>
              <a:t>Big </a:t>
            </a:r>
            <a:r>
              <a:rPr lang="en-US" dirty="0"/>
              <a:t>P</a:t>
            </a:r>
            <a:r>
              <a:rPr dirty="0"/>
              <a:t>icture: COVID created a clear demand shock </a:t>
            </a:r>
            <a:endParaRPr lang="en-US" dirty="0"/>
          </a:p>
          <a:p>
            <a:pPr>
              <a:defRPr sz="1700" b="1">
                <a:solidFill>
                  <a:srgbClr val="102C54"/>
                </a:solidFill>
              </a:defRPr>
            </a:pPr>
            <a:r>
              <a:rPr lang="en-US" dirty="0"/>
              <a:t>volume surged, peak season intensified and customer </a:t>
            </a:r>
            <a:r>
              <a:rPr lang="en-US" dirty="0" err="1"/>
              <a:t>behaviour</a:t>
            </a:r>
            <a:r>
              <a:rPr lang="en-US" dirty="0"/>
              <a:t> shifted toward high growth.</a:t>
            </a:r>
            <a:endParaRPr dirty="0"/>
          </a:p>
        </p:txBody>
      </p:sp>
      <p:sp>
        <p:nvSpPr>
          <p:cNvPr id="7" name="Rounded Rectangle 6"/>
          <p:cNvSpPr/>
          <p:nvPr/>
        </p:nvSpPr>
        <p:spPr>
          <a:xfrm>
            <a:off x="430142"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0142" y="1923045"/>
            <a:ext cx="1760219" cy="91440"/>
          </a:xfrm>
          <a:prstGeom prst="rect">
            <a:avLst/>
          </a:prstGeom>
          <a:solidFill>
            <a:srgbClr val="2C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666485" y="2124213"/>
            <a:ext cx="1287532" cy="461665"/>
          </a:xfrm>
          <a:prstGeom prst="rect">
            <a:avLst/>
          </a:prstGeom>
          <a:noFill/>
        </p:spPr>
        <p:txBody>
          <a:bodyPr wrap="square">
            <a:spAutoFit/>
          </a:bodyPr>
          <a:lstStyle/>
          <a:p>
            <a:pPr algn="ctr">
              <a:defRPr sz="2200" b="1">
                <a:solidFill>
                  <a:srgbClr val="2C68BE"/>
                </a:solidFill>
              </a:defRPr>
            </a:pPr>
            <a:r>
              <a:rPr sz="2400" dirty="0"/>
              <a:t>190,719</a:t>
            </a:r>
          </a:p>
        </p:txBody>
      </p:sp>
      <p:sp>
        <p:nvSpPr>
          <p:cNvPr id="10" name="TextBox 9"/>
          <p:cNvSpPr txBox="1"/>
          <p:nvPr/>
        </p:nvSpPr>
        <p:spPr>
          <a:xfrm>
            <a:off x="967850" y="2453397"/>
            <a:ext cx="684803" cy="261610"/>
          </a:xfrm>
          <a:prstGeom prst="rect">
            <a:avLst/>
          </a:prstGeom>
          <a:noFill/>
        </p:spPr>
        <p:txBody>
          <a:bodyPr wrap="square">
            <a:spAutoFit/>
          </a:bodyPr>
          <a:lstStyle/>
          <a:p>
            <a:pPr algn="ctr">
              <a:defRPr sz="1000" b="1">
                <a:solidFill>
                  <a:srgbClr val="192332"/>
                </a:solidFill>
              </a:defRPr>
            </a:pPr>
            <a:r>
              <a:rPr sz="1100"/>
              <a:t>records</a:t>
            </a:r>
          </a:p>
        </p:txBody>
      </p:sp>
      <p:sp>
        <p:nvSpPr>
          <p:cNvPr id="11" name="TextBox 10"/>
          <p:cNvSpPr txBox="1"/>
          <p:nvPr/>
        </p:nvSpPr>
        <p:spPr>
          <a:xfrm>
            <a:off x="612784" y="2625450"/>
            <a:ext cx="1394934" cy="246221"/>
          </a:xfrm>
          <a:prstGeom prst="rect">
            <a:avLst/>
          </a:prstGeom>
          <a:noFill/>
        </p:spPr>
        <p:txBody>
          <a:bodyPr wrap="square">
            <a:spAutoFit/>
          </a:bodyPr>
          <a:lstStyle/>
          <a:p>
            <a:pPr algn="ctr">
              <a:defRPr sz="850">
                <a:solidFill>
                  <a:srgbClr val="555F6E"/>
                </a:solidFill>
              </a:defRPr>
            </a:pPr>
            <a:r>
              <a:rPr sz="1000"/>
              <a:t>Weekly shipment rows</a:t>
            </a:r>
          </a:p>
        </p:txBody>
      </p:sp>
      <p:sp>
        <p:nvSpPr>
          <p:cNvPr id="12" name="Rounded Rectangle 11"/>
          <p:cNvSpPr/>
          <p:nvPr/>
        </p:nvSpPr>
        <p:spPr>
          <a:xfrm>
            <a:off x="2354954"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54954" y="1923045"/>
            <a:ext cx="1760219" cy="91440"/>
          </a:xfrm>
          <a:prstGeom prst="rect">
            <a:avLst/>
          </a:prstGeom>
          <a:solidFill>
            <a:schemeClr val="accent1">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2761216" y="2124213"/>
            <a:ext cx="947695" cy="461665"/>
          </a:xfrm>
          <a:prstGeom prst="rect">
            <a:avLst/>
          </a:prstGeom>
          <a:noFill/>
        </p:spPr>
        <p:txBody>
          <a:bodyPr wrap="square">
            <a:spAutoFit/>
          </a:bodyPr>
          <a:lstStyle/>
          <a:p>
            <a:pPr algn="ctr">
              <a:defRPr sz="2200" b="1">
                <a:solidFill>
                  <a:srgbClr val="23966E"/>
                </a:solidFill>
              </a:defRPr>
            </a:pPr>
            <a:r>
              <a:rPr sz="2400" dirty="0">
                <a:solidFill>
                  <a:schemeClr val="accent1">
                    <a:lumMod val="40000"/>
                    <a:lumOff val="60000"/>
                  </a:schemeClr>
                </a:solidFill>
              </a:rPr>
              <a:t>1,061</a:t>
            </a:r>
          </a:p>
        </p:txBody>
      </p:sp>
      <p:sp>
        <p:nvSpPr>
          <p:cNvPr id="15" name="TextBox 14"/>
          <p:cNvSpPr txBox="1"/>
          <p:nvPr/>
        </p:nvSpPr>
        <p:spPr>
          <a:xfrm>
            <a:off x="2797283" y="2453397"/>
            <a:ext cx="875561" cy="261610"/>
          </a:xfrm>
          <a:prstGeom prst="rect">
            <a:avLst/>
          </a:prstGeom>
          <a:noFill/>
        </p:spPr>
        <p:txBody>
          <a:bodyPr wrap="square">
            <a:spAutoFit/>
          </a:bodyPr>
          <a:lstStyle/>
          <a:p>
            <a:pPr algn="ctr">
              <a:defRPr sz="1000" b="1">
                <a:solidFill>
                  <a:srgbClr val="192332"/>
                </a:solidFill>
              </a:defRPr>
            </a:pPr>
            <a:r>
              <a:rPr sz="1100"/>
              <a:t>customers</a:t>
            </a:r>
          </a:p>
        </p:txBody>
      </p:sp>
      <p:sp>
        <p:nvSpPr>
          <p:cNvPr id="16" name="TextBox 15"/>
          <p:cNvSpPr txBox="1"/>
          <p:nvPr/>
        </p:nvSpPr>
        <p:spPr>
          <a:xfrm>
            <a:off x="2527978" y="2625450"/>
            <a:ext cx="1414170" cy="246221"/>
          </a:xfrm>
          <a:prstGeom prst="rect">
            <a:avLst/>
          </a:prstGeom>
          <a:noFill/>
        </p:spPr>
        <p:txBody>
          <a:bodyPr wrap="square">
            <a:spAutoFit/>
          </a:bodyPr>
          <a:lstStyle/>
          <a:p>
            <a:pPr algn="ctr">
              <a:defRPr sz="850">
                <a:solidFill>
                  <a:srgbClr val="555F6E"/>
                </a:solidFill>
              </a:defRPr>
            </a:pPr>
            <a:r>
              <a:rPr sz="1000"/>
              <a:t>Customer-level analysis</a:t>
            </a:r>
          </a:p>
        </p:txBody>
      </p:sp>
      <p:sp>
        <p:nvSpPr>
          <p:cNvPr id="17" name="Rounded Rectangle 16"/>
          <p:cNvSpPr/>
          <p:nvPr/>
        </p:nvSpPr>
        <p:spPr>
          <a:xfrm>
            <a:off x="4279766"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79766" y="1923045"/>
            <a:ext cx="1760219" cy="91440"/>
          </a:xfrm>
          <a:prstGeom prst="rect">
            <a:avLst/>
          </a:prstGeom>
          <a:solidFill>
            <a:srgbClr val="009E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4570611" y="2124213"/>
            <a:ext cx="1178528" cy="461665"/>
          </a:xfrm>
          <a:prstGeom prst="rect">
            <a:avLst/>
          </a:prstGeom>
          <a:noFill/>
        </p:spPr>
        <p:txBody>
          <a:bodyPr wrap="square">
            <a:spAutoFit/>
          </a:bodyPr>
          <a:lstStyle/>
          <a:p>
            <a:pPr algn="ctr">
              <a:defRPr sz="2200" b="1">
                <a:solidFill>
                  <a:srgbClr val="EB8737"/>
                </a:solidFill>
              </a:defRPr>
            </a:pPr>
            <a:r>
              <a:rPr sz="2400" dirty="0">
                <a:solidFill>
                  <a:srgbClr val="009E47"/>
                </a:solidFill>
              </a:rPr>
              <a:t>+39.1%</a:t>
            </a:r>
          </a:p>
        </p:txBody>
      </p:sp>
      <p:sp>
        <p:nvSpPr>
          <p:cNvPr id="20" name="TextBox 19"/>
          <p:cNvSpPr txBox="1"/>
          <p:nvPr/>
        </p:nvSpPr>
        <p:spPr>
          <a:xfrm>
            <a:off x="4646754" y="2453397"/>
            <a:ext cx="1026243" cy="261610"/>
          </a:xfrm>
          <a:prstGeom prst="rect">
            <a:avLst/>
          </a:prstGeom>
          <a:noFill/>
        </p:spPr>
        <p:txBody>
          <a:bodyPr wrap="square">
            <a:spAutoFit/>
          </a:bodyPr>
          <a:lstStyle/>
          <a:p>
            <a:pPr algn="ctr">
              <a:defRPr sz="1000" b="1">
                <a:solidFill>
                  <a:srgbClr val="192332"/>
                </a:solidFill>
              </a:defRPr>
            </a:pPr>
            <a:r>
              <a:rPr sz="1100"/>
              <a:t>2020 volume</a:t>
            </a:r>
          </a:p>
        </p:txBody>
      </p:sp>
      <p:sp>
        <p:nvSpPr>
          <p:cNvPr id="21" name="TextBox 20"/>
          <p:cNvSpPr txBox="1"/>
          <p:nvPr/>
        </p:nvSpPr>
        <p:spPr>
          <a:xfrm>
            <a:off x="4642746" y="2625450"/>
            <a:ext cx="1034259" cy="246221"/>
          </a:xfrm>
          <a:prstGeom prst="rect">
            <a:avLst/>
          </a:prstGeom>
          <a:noFill/>
        </p:spPr>
        <p:txBody>
          <a:bodyPr wrap="square">
            <a:spAutoFit/>
          </a:bodyPr>
          <a:lstStyle/>
          <a:p>
            <a:pPr algn="ctr">
              <a:defRPr sz="850">
                <a:solidFill>
                  <a:srgbClr val="555F6E"/>
                </a:solidFill>
              </a:defRPr>
            </a:pPr>
            <a:r>
              <a:rPr sz="1000"/>
              <a:t>Growth vs 2019</a:t>
            </a:r>
          </a:p>
        </p:txBody>
      </p:sp>
      <p:sp>
        <p:nvSpPr>
          <p:cNvPr id="22" name="Rounded Rectangle 21"/>
          <p:cNvSpPr/>
          <p:nvPr/>
        </p:nvSpPr>
        <p:spPr>
          <a:xfrm>
            <a:off x="6204578"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04578" y="1923045"/>
            <a:ext cx="1760219" cy="91440"/>
          </a:xfrm>
          <a:prstGeom prst="rect">
            <a:avLst/>
          </a:prstGeom>
          <a:solidFill>
            <a:srgbClr val="D2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6359360" y="2124213"/>
            <a:ext cx="1450654" cy="461665"/>
          </a:xfrm>
          <a:prstGeom prst="rect">
            <a:avLst/>
          </a:prstGeom>
          <a:noFill/>
        </p:spPr>
        <p:txBody>
          <a:bodyPr wrap="square">
            <a:spAutoFit/>
          </a:bodyPr>
          <a:lstStyle/>
          <a:p>
            <a:pPr algn="ctr">
              <a:defRPr sz="2200" b="1">
                <a:solidFill>
                  <a:srgbClr val="D24646"/>
                </a:solidFill>
              </a:defRPr>
            </a:pPr>
            <a:r>
              <a:rPr sz="2000" dirty="0"/>
              <a:t>W</a:t>
            </a:r>
            <a:r>
              <a:rPr sz="2400" dirty="0"/>
              <a:t>eek 12</a:t>
            </a:r>
          </a:p>
        </p:txBody>
      </p:sp>
      <p:sp>
        <p:nvSpPr>
          <p:cNvPr id="25" name="TextBox 24"/>
          <p:cNvSpPr txBox="1"/>
          <p:nvPr/>
        </p:nvSpPr>
        <p:spPr>
          <a:xfrm>
            <a:off x="6556335" y="2453397"/>
            <a:ext cx="1056701" cy="261610"/>
          </a:xfrm>
          <a:prstGeom prst="rect">
            <a:avLst/>
          </a:prstGeom>
          <a:noFill/>
        </p:spPr>
        <p:txBody>
          <a:bodyPr wrap="square">
            <a:spAutoFit/>
          </a:bodyPr>
          <a:lstStyle/>
          <a:p>
            <a:pPr algn="ctr">
              <a:defRPr sz="1000" b="1">
                <a:solidFill>
                  <a:srgbClr val="192332"/>
                </a:solidFill>
              </a:defRPr>
            </a:pPr>
            <a:r>
              <a:rPr sz="1100"/>
              <a:t>impact starts</a:t>
            </a:r>
          </a:p>
        </p:txBody>
      </p:sp>
      <p:sp>
        <p:nvSpPr>
          <p:cNvPr id="26" name="TextBox 25"/>
          <p:cNvSpPr txBox="1"/>
          <p:nvPr/>
        </p:nvSpPr>
        <p:spPr>
          <a:xfrm>
            <a:off x="6449737" y="2625450"/>
            <a:ext cx="1269899" cy="246221"/>
          </a:xfrm>
          <a:prstGeom prst="rect">
            <a:avLst/>
          </a:prstGeom>
          <a:noFill/>
        </p:spPr>
        <p:txBody>
          <a:bodyPr wrap="square">
            <a:spAutoFit/>
          </a:bodyPr>
          <a:lstStyle/>
          <a:p>
            <a:pPr algn="ctr">
              <a:defRPr sz="850">
                <a:solidFill>
                  <a:srgbClr val="555F6E"/>
                </a:solidFill>
              </a:defRPr>
            </a:pPr>
            <a:r>
              <a:rPr sz="1000"/>
              <a:t>Sustained divergence</a:t>
            </a:r>
          </a:p>
        </p:txBody>
      </p:sp>
      <p:sp>
        <p:nvSpPr>
          <p:cNvPr id="27" name="Rounded Rectangle 26"/>
          <p:cNvSpPr/>
          <p:nvPr/>
        </p:nvSpPr>
        <p:spPr>
          <a:xfrm>
            <a:off x="8129389"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29389" y="1923045"/>
            <a:ext cx="1760219" cy="91440"/>
          </a:xfrm>
          <a:prstGeom prst="rect">
            <a:avLst/>
          </a:prstGeom>
          <a:solidFill>
            <a:srgbClr val="EB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TextBox 28"/>
          <p:cNvSpPr txBox="1"/>
          <p:nvPr/>
        </p:nvSpPr>
        <p:spPr>
          <a:xfrm>
            <a:off x="8420234" y="2124213"/>
            <a:ext cx="1178528" cy="461665"/>
          </a:xfrm>
          <a:prstGeom prst="rect">
            <a:avLst/>
          </a:prstGeom>
          <a:noFill/>
        </p:spPr>
        <p:txBody>
          <a:bodyPr wrap="square">
            <a:spAutoFit/>
          </a:bodyPr>
          <a:lstStyle/>
          <a:p>
            <a:pPr algn="ctr">
              <a:defRPr sz="2200" b="1">
                <a:solidFill>
                  <a:srgbClr val="EB8737"/>
                </a:solidFill>
              </a:defRPr>
            </a:pPr>
            <a:r>
              <a:rPr sz="2400" dirty="0"/>
              <a:t>+26.5%</a:t>
            </a:r>
          </a:p>
        </p:txBody>
      </p:sp>
      <p:sp>
        <p:nvSpPr>
          <p:cNvPr id="30" name="TextBox 29"/>
          <p:cNvSpPr txBox="1"/>
          <p:nvPr/>
        </p:nvSpPr>
        <p:spPr>
          <a:xfrm>
            <a:off x="8520421" y="2453397"/>
            <a:ext cx="978153" cy="261610"/>
          </a:xfrm>
          <a:prstGeom prst="rect">
            <a:avLst/>
          </a:prstGeom>
          <a:noFill/>
        </p:spPr>
        <p:txBody>
          <a:bodyPr wrap="square">
            <a:spAutoFit/>
          </a:bodyPr>
          <a:lstStyle/>
          <a:p>
            <a:pPr algn="ctr">
              <a:defRPr sz="1000" b="1">
                <a:solidFill>
                  <a:srgbClr val="192332"/>
                </a:solidFill>
              </a:defRPr>
            </a:pPr>
            <a:r>
              <a:rPr sz="1100"/>
              <a:t>peak season</a:t>
            </a:r>
          </a:p>
        </p:txBody>
      </p:sp>
      <p:sp>
        <p:nvSpPr>
          <p:cNvPr id="31" name="TextBox 30"/>
          <p:cNvSpPr txBox="1"/>
          <p:nvPr/>
        </p:nvSpPr>
        <p:spPr>
          <a:xfrm>
            <a:off x="8434661" y="2625450"/>
            <a:ext cx="1149674" cy="246221"/>
          </a:xfrm>
          <a:prstGeom prst="rect">
            <a:avLst/>
          </a:prstGeom>
          <a:noFill/>
        </p:spPr>
        <p:txBody>
          <a:bodyPr wrap="square">
            <a:spAutoFit/>
          </a:bodyPr>
          <a:lstStyle/>
          <a:p>
            <a:pPr algn="ctr">
              <a:defRPr sz="850">
                <a:solidFill>
                  <a:srgbClr val="555F6E"/>
                </a:solidFill>
              </a:defRPr>
            </a:pPr>
            <a:r>
              <a:rPr sz="1000"/>
              <a:t>2020 vs 2019 peak</a:t>
            </a:r>
          </a:p>
        </p:txBody>
      </p:sp>
      <p:sp>
        <p:nvSpPr>
          <p:cNvPr id="32" name="Rounded Rectangle 31"/>
          <p:cNvSpPr/>
          <p:nvPr/>
        </p:nvSpPr>
        <p:spPr>
          <a:xfrm>
            <a:off x="10054202" y="1923045"/>
            <a:ext cx="1760219" cy="1078992"/>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054202" y="1923045"/>
            <a:ext cx="1760219" cy="91440"/>
          </a:xfrm>
          <a:prstGeom prst="rect">
            <a:avLst/>
          </a:prstGeom>
          <a:solidFill>
            <a:srgbClr val="2C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10434815" y="2124213"/>
            <a:ext cx="998991" cy="461665"/>
          </a:xfrm>
          <a:prstGeom prst="rect">
            <a:avLst/>
          </a:prstGeom>
          <a:noFill/>
        </p:spPr>
        <p:txBody>
          <a:bodyPr wrap="square">
            <a:spAutoFit/>
          </a:bodyPr>
          <a:lstStyle/>
          <a:p>
            <a:pPr algn="ctr">
              <a:defRPr sz="2200" b="1">
                <a:solidFill>
                  <a:srgbClr val="2C68BE"/>
                </a:solidFill>
              </a:defRPr>
            </a:pPr>
            <a:r>
              <a:rPr sz="2400" dirty="0"/>
              <a:t>11.4%</a:t>
            </a:r>
          </a:p>
        </p:txBody>
      </p:sp>
      <p:sp>
        <p:nvSpPr>
          <p:cNvPr id="35" name="TextBox 34"/>
          <p:cNvSpPr txBox="1"/>
          <p:nvPr/>
        </p:nvSpPr>
        <p:spPr>
          <a:xfrm>
            <a:off x="10384321" y="2453397"/>
            <a:ext cx="1099981" cy="261610"/>
          </a:xfrm>
          <a:prstGeom prst="rect">
            <a:avLst/>
          </a:prstGeom>
          <a:noFill/>
        </p:spPr>
        <p:txBody>
          <a:bodyPr wrap="square">
            <a:spAutoFit/>
          </a:bodyPr>
          <a:lstStyle/>
          <a:p>
            <a:pPr algn="ctr">
              <a:defRPr sz="1000" b="1">
                <a:solidFill>
                  <a:srgbClr val="192332"/>
                </a:solidFill>
              </a:defRPr>
            </a:pPr>
            <a:r>
              <a:rPr sz="1100"/>
              <a:t>ISGR baseline</a:t>
            </a:r>
          </a:p>
        </p:txBody>
      </p:sp>
      <p:sp>
        <p:nvSpPr>
          <p:cNvPr id="36" name="TextBox 35"/>
          <p:cNvSpPr txBox="1"/>
          <p:nvPr/>
        </p:nvSpPr>
        <p:spPr>
          <a:xfrm>
            <a:off x="10125436" y="2625450"/>
            <a:ext cx="1617752" cy="246221"/>
          </a:xfrm>
          <a:prstGeom prst="rect">
            <a:avLst/>
          </a:prstGeom>
          <a:noFill/>
        </p:spPr>
        <p:txBody>
          <a:bodyPr wrap="square">
            <a:spAutoFit/>
          </a:bodyPr>
          <a:lstStyle/>
          <a:p>
            <a:pPr algn="ctr">
              <a:defRPr sz="850">
                <a:solidFill>
                  <a:srgbClr val="555F6E"/>
                </a:solidFill>
              </a:defRPr>
            </a:pPr>
            <a:r>
              <a:rPr sz="1000"/>
              <a:t>Normal-growth benchmark</a:t>
            </a:r>
          </a:p>
        </p:txBody>
      </p:sp>
      <p:sp>
        <p:nvSpPr>
          <p:cNvPr id="37" name="Rounded Rectangle 36"/>
          <p:cNvSpPr/>
          <p:nvPr/>
        </p:nvSpPr>
        <p:spPr>
          <a:xfrm>
            <a:off x="430142" y="3165320"/>
            <a:ext cx="5394960" cy="24231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04462" y="3329912"/>
            <a:ext cx="2510752" cy="338554"/>
          </a:xfrm>
          <a:prstGeom prst="rect">
            <a:avLst/>
          </a:prstGeom>
          <a:noFill/>
        </p:spPr>
        <p:txBody>
          <a:bodyPr wrap="none">
            <a:spAutoFit/>
          </a:bodyPr>
          <a:lstStyle/>
          <a:p>
            <a:pPr>
              <a:defRPr sz="1600" b="1">
                <a:solidFill>
                  <a:srgbClr val="102C54"/>
                </a:solidFill>
              </a:defRPr>
            </a:pPr>
            <a:r>
              <a:rPr dirty="0"/>
              <a:t>Overview of the analysis</a:t>
            </a:r>
          </a:p>
        </p:txBody>
      </p:sp>
      <p:sp>
        <p:nvSpPr>
          <p:cNvPr id="39" name="TextBox 38"/>
          <p:cNvSpPr txBox="1"/>
          <p:nvPr/>
        </p:nvSpPr>
        <p:spPr>
          <a:xfrm>
            <a:off x="551445" y="3713960"/>
            <a:ext cx="5338974" cy="1297791"/>
          </a:xfrm>
          <a:prstGeom prst="rect">
            <a:avLst/>
          </a:prstGeom>
          <a:noFill/>
        </p:spPr>
        <p:txBody>
          <a:bodyPr wrap="square">
            <a:spAutoFit/>
          </a:bodyPr>
          <a:lstStyle/>
          <a:p>
            <a:pPr>
              <a:spcAft>
                <a:spcPts val="400"/>
              </a:spcAft>
              <a:defRPr sz="1050">
                <a:solidFill>
                  <a:srgbClr val="192332"/>
                </a:solidFill>
              </a:defRPr>
            </a:pPr>
            <a:r>
              <a:rPr lang="en-US" sz="1300" dirty="0"/>
              <a:t>- </a:t>
            </a:r>
            <a:r>
              <a:rPr sz="1300" dirty="0"/>
              <a:t>Compare pre-COVID baseline with COVID-period parcel volume.</a:t>
            </a:r>
          </a:p>
          <a:p>
            <a:pPr>
              <a:spcAft>
                <a:spcPts val="400"/>
              </a:spcAft>
              <a:defRPr sz="1050">
                <a:solidFill>
                  <a:srgbClr val="192332"/>
                </a:solidFill>
              </a:defRPr>
            </a:pPr>
            <a:r>
              <a:rPr lang="en-US" sz="1300" dirty="0"/>
              <a:t>- </a:t>
            </a:r>
            <a:r>
              <a:rPr sz="1300" dirty="0"/>
              <a:t>Identify when 2020 weekly volume began to separate from 2019.</a:t>
            </a:r>
          </a:p>
          <a:p>
            <a:pPr>
              <a:spcAft>
                <a:spcPts val="400"/>
              </a:spcAft>
              <a:defRPr sz="1050">
                <a:solidFill>
                  <a:srgbClr val="192332"/>
                </a:solidFill>
              </a:defRPr>
            </a:pPr>
            <a:r>
              <a:rPr lang="en-US" sz="1300" dirty="0"/>
              <a:t>- </a:t>
            </a:r>
            <a:r>
              <a:rPr sz="1300" dirty="0"/>
              <a:t>Measure peak-season change and operational pressure.</a:t>
            </a:r>
          </a:p>
          <a:p>
            <a:pPr>
              <a:spcAft>
                <a:spcPts val="400"/>
              </a:spcAft>
              <a:defRPr sz="1050">
                <a:solidFill>
                  <a:srgbClr val="192332"/>
                </a:solidFill>
              </a:defRPr>
            </a:pPr>
            <a:r>
              <a:rPr lang="en-US" sz="1300" dirty="0"/>
              <a:t>- </a:t>
            </a:r>
            <a:r>
              <a:rPr sz="1300" dirty="0"/>
              <a:t>Segment customers by size and classify growth, stability, decline and loss.</a:t>
            </a:r>
          </a:p>
          <a:p>
            <a:pPr>
              <a:spcAft>
                <a:spcPts val="400"/>
              </a:spcAft>
              <a:defRPr sz="1050">
                <a:solidFill>
                  <a:srgbClr val="192332"/>
                </a:solidFill>
              </a:defRPr>
            </a:pPr>
            <a:r>
              <a:rPr lang="en-US" sz="1300" dirty="0"/>
              <a:t>- </a:t>
            </a:r>
            <a:r>
              <a:rPr sz="1300" dirty="0"/>
              <a:t>Estimate revenue impact using volume as the key driver.</a:t>
            </a:r>
          </a:p>
        </p:txBody>
      </p:sp>
      <p:sp>
        <p:nvSpPr>
          <p:cNvPr id="40" name="Rounded Rectangle 39"/>
          <p:cNvSpPr/>
          <p:nvPr/>
        </p:nvSpPr>
        <p:spPr>
          <a:xfrm>
            <a:off x="704462" y="5750467"/>
            <a:ext cx="4933846" cy="521383"/>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7715" y="5828468"/>
            <a:ext cx="4239815" cy="276999"/>
          </a:xfrm>
          <a:prstGeom prst="rect">
            <a:avLst/>
          </a:prstGeom>
          <a:noFill/>
        </p:spPr>
        <p:txBody>
          <a:bodyPr wrap="none">
            <a:spAutoFit/>
          </a:bodyPr>
          <a:lstStyle/>
          <a:p>
            <a:pPr algn="ctr">
              <a:defRPr sz="950" b="1">
                <a:solidFill>
                  <a:srgbClr val="102C54"/>
                </a:solidFill>
              </a:defRPr>
            </a:pPr>
            <a:r>
              <a:rPr sz="1200" dirty="0"/>
              <a:t>Decision </a:t>
            </a:r>
            <a:r>
              <a:rPr lang="en-US" sz="1200" dirty="0"/>
              <a:t>F</a:t>
            </a:r>
            <a:r>
              <a:rPr sz="1200" dirty="0"/>
              <a:t>ocus: </a:t>
            </a:r>
            <a:r>
              <a:rPr lang="en-US" sz="1200" dirty="0"/>
              <a:t>C</a:t>
            </a:r>
            <a:r>
              <a:rPr sz="1200" dirty="0"/>
              <a:t>apacity </a:t>
            </a:r>
            <a:r>
              <a:rPr lang="en-US" sz="1200" dirty="0"/>
              <a:t>P</a:t>
            </a:r>
            <a:r>
              <a:rPr sz="1200" dirty="0"/>
              <a:t>lanning + </a:t>
            </a:r>
            <a:r>
              <a:rPr lang="en-US" sz="1200" dirty="0"/>
              <a:t>C</a:t>
            </a:r>
            <a:r>
              <a:rPr sz="1200" dirty="0"/>
              <a:t>ustomer </a:t>
            </a:r>
            <a:r>
              <a:rPr lang="en-US" sz="1200" dirty="0"/>
              <a:t>R</a:t>
            </a:r>
            <a:r>
              <a:rPr sz="1200" dirty="0"/>
              <a:t>etention</a:t>
            </a:r>
          </a:p>
        </p:txBody>
      </p:sp>
      <p:sp>
        <p:nvSpPr>
          <p:cNvPr id="42" name="Rounded Rectangle 41"/>
          <p:cNvSpPr/>
          <p:nvPr/>
        </p:nvSpPr>
        <p:spPr>
          <a:xfrm>
            <a:off x="6043157" y="3231200"/>
            <a:ext cx="5742432" cy="242316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46310" y="3329912"/>
            <a:ext cx="2824043" cy="338554"/>
          </a:xfrm>
          <a:prstGeom prst="rect">
            <a:avLst/>
          </a:prstGeom>
          <a:noFill/>
        </p:spPr>
        <p:txBody>
          <a:bodyPr wrap="none">
            <a:spAutoFit/>
          </a:bodyPr>
          <a:lstStyle/>
          <a:p>
            <a:pPr>
              <a:defRPr sz="1600" b="1">
                <a:solidFill>
                  <a:srgbClr val="102C54"/>
                </a:solidFill>
              </a:defRPr>
            </a:pPr>
            <a:r>
              <a:rPr dirty="0"/>
              <a:t>Executive reading of results</a:t>
            </a:r>
          </a:p>
        </p:txBody>
      </p:sp>
      <p:sp>
        <p:nvSpPr>
          <p:cNvPr id="44" name="TextBox 43"/>
          <p:cNvSpPr txBox="1"/>
          <p:nvPr/>
        </p:nvSpPr>
        <p:spPr>
          <a:xfrm>
            <a:off x="6288829" y="3860263"/>
            <a:ext cx="910827" cy="253916"/>
          </a:xfrm>
          <a:prstGeom prst="rect">
            <a:avLst/>
          </a:prstGeom>
          <a:noFill/>
        </p:spPr>
        <p:txBody>
          <a:bodyPr wrap="none">
            <a:spAutoFit/>
          </a:bodyPr>
          <a:lstStyle/>
          <a:p>
            <a:pPr>
              <a:defRPr sz="919">
                <a:solidFill>
                  <a:srgbClr val="555F6E"/>
                </a:solidFill>
              </a:defRPr>
            </a:pPr>
            <a:r>
              <a:rPr sz="1050" dirty="0">
                <a:solidFill>
                  <a:schemeClr val="tx1">
                    <a:lumMod val="95000"/>
                    <a:lumOff val="5000"/>
                  </a:schemeClr>
                </a:solidFill>
              </a:rPr>
              <a:t>2019 </a:t>
            </a:r>
            <a:r>
              <a:rPr lang="en-US" sz="1050" dirty="0">
                <a:solidFill>
                  <a:schemeClr val="tx1">
                    <a:lumMod val="95000"/>
                    <a:lumOff val="5000"/>
                  </a:schemeClr>
                </a:solidFill>
              </a:rPr>
              <a:t>V</a:t>
            </a:r>
            <a:r>
              <a:rPr sz="1050" dirty="0">
                <a:solidFill>
                  <a:schemeClr val="tx1">
                    <a:lumMod val="95000"/>
                    <a:lumOff val="5000"/>
                  </a:schemeClr>
                </a:solidFill>
              </a:rPr>
              <a:t>olume</a:t>
            </a:r>
          </a:p>
        </p:txBody>
      </p:sp>
      <p:sp>
        <p:nvSpPr>
          <p:cNvPr id="45" name="Rectangle 44"/>
          <p:cNvSpPr/>
          <p:nvPr/>
        </p:nvSpPr>
        <p:spPr>
          <a:xfrm>
            <a:off x="7234090" y="3878176"/>
            <a:ext cx="1606308" cy="256407"/>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216999" y="3888178"/>
            <a:ext cx="641160" cy="246405"/>
          </a:xfrm>
          <a:prstGeom prst="rect">
            <a:avLst/>
          </a:prstGeom>
          <a:solidFill>
            <a:srgbClr val="8C9B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53114" y="3841601"/>
            <a:ext cx="689612" cy="307777"/>
          </a:xfrm>
          <a:prstGeom prst="rect">
            <a:avLst/>
          </a:prstGeom>
          <a:noFill/>
        </p:spPr>
        <p:txBody>
          <a:bodyPr wrap="none">
            <a:spAutoFit/>
          </a:bodyPr>
          <a:lstStyle/>
          <a:p>
            <a:pPr>
              <a:defRPr sz="919" b="1">
                <a:solidFill>
                  <a:srgbClr val="192332"/>
                </a:solidFill>
              </a:defRPr>
            </a:pPr>
            <a:r>
              <a:rPr sz="1400" dirty="0"/>
              <a:t>52.9M</a:t>
            </a:r>
          </a:p>
        </p:txBody>
      </p:sp>
      <p:sp>
        <p:nvSpPr>
          <p:cNvPr id="48" name="TextBox 47"/>
          <p:cNvSpPr txBox="1"/>
          <p:nvPr/>
        </p:nvSpPr>
        <p:spPr>
          <a:xfrm>
            <a:off x="6288829" y="4244311"/>
            <a:ext cx="910827" cy="253916"/>
          </a:xfrm>
          <a:prstGeom prst="rect">
            <a:avLst/>
          </a:prstGeom>
          <a:noFill/>
        </p:spPr>
        <p:txBody>
          <a:bodyPr wrap="none">
            <a:spAutoFit/>
          </a:bodyPr>
          <a:lstStyle/>
          <a:p>
            <a:pPr>
              <a:defRPr sz="919">
                <a:solidFill>
                  <a:srgbClr val="555F6E"/>
                </a:solidFill>
              </a:defRPr>
            </a:pPr>
            <a:r>
              <a:rPr sz="1050" dirty="0">
                <a:solidFill>
                  <a:schemeClr val="tx1">
                    <a:lumMod val="95000"/>
                    <a:lumOff val="5000"/>
                  </a:schemeClr>
                </a:solidFill>
              </a:rPr>
              <a:t>2020 </a:t>
            </a:r>
            <a:r>
              <a:rPr lang="en-US" sz="1050" dirty="0">
                <a:solidFill>
                  <a:schemeClr val="tx1">
                    <a:lumMod val="95000"/>
                    <a:lumOff val="5000"/>
                  </a:schemeClr>
                </a:solidFill>
              </a:rPr>
              <a:t>V</a:t>
            </a:r>
            <a:r>
              <a:rPr sz="1050" dirty="0">
                <a:solidFill>
                  <a:schemeClr val="tx1">
                    <a:lumMod val="95000"/>
                    <a:lumOff val="5000"/>
                  </a:schemeClr>
                </a:solidFill>
              </a:rPr>
              <a:t>olume</a:t>
            </a:r>
          </a:p>
        </p:txBody>
      </p:sp>
      <p:sp>
        <p:nvSpPr>
          <p:cNvPr id="49" name="Rectangle 48"/>
          <p:cNvSpPr/>
          <p:nvPr/>
        </p:nvSpPr>
        <p:spPr>
          <a:xfrm>
            <a:off x="7234090" y="4280888"/>
            <a:ext cx="1580259" cy="27120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224509" y="4292006"/>
            <a:ext cx="951188" cy="260082"/>
          </a:xfrm>
          <a:prstGeom prst="rect">
            <a:avLst/>
          </a:prstGeom>
          <a:solidFill>
            <a:srgbClr val="009E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135482" y="4271557"/>
            <a:ext cx="689612" cy="307777"/>
          </a:xfrm>
          <a:prstGeom prst="rect">
            <a:avLst/>
          </a:prstGeom>
          <a:noFill/>
        </p:spPr>
        <p:txBody>
          <a:bodyPr wrap="none">
            <a:spAutoFit/>
          </a:bodyPr>
          <a:lstStyle/>
          <a:p>
            <a:pPr>
              <a:defRPr sz="919" b="1">
                <a:solidFill>
                  <a:srgbClr val="192332"/>
                </a:solidFill>
              </a:defRPr>
            </a:pPr>
            <a:r>
              <a:rPr sz="1400" dirty="0"/>
              <a:t>73.5M</a:t>
            </a:r>
          </a:p>
        </p:txBody>
      </p:sp>
      <p:sp>
        <p:nvSpPr>
          <p:cNvPr id="52" name="TextBox 51"/>
          <p:cNvSpPr txBox="1"/>
          <p:nvPr/>
        </p:nvSpPr>
        <p:spPr>
          <a:xfrm>
            <a:off x="6307491" y="4628360"/>
            <a:ext cx="745717" cy="253916"/>
          </a:xfrm>
          <a:prstGeom prst="rect">
            <a:avLst/>
          </a:prstGeom>
          <a:noFill/>
        </p:spPr>
        <p:txBody>
          <a:bodyPr wrap="none">
            <a:spAutoFit/>
          </a:bodyPr>
          <a:lstStyle/>
          <a:p>
            <a:pPr>
              <a:defRPr sz="919">
                <a:solidFill>
                  <a:srgbClr val="555F6E"/>
                </a:solidFill>
              </a:defRPr>
            </a:pPr>
            <a:r>
              <a:rPr sz="1050" dirty="0">
                <a:solidFill>
                  <a:schemeClr val="tx1">
                    <a:lumMod val="95000"/>
                    <a:lumOff val="5000"/>
                  </a:schemeClr>
                </a:solidFill>
              </a:rPr>
              <a:t>Peak 2019</a:t>
            </a:r>
          </a:p>
        </p:txBody>
      </p:sp>
      <p:sp>
        <p:nvSpPr>
          <p:cNvPr id="53" name="Rectangle 52"/>
          <p:cNvSpPr/>
          <p:nvPr/>
        </p:nvSpPr>
        <p:spPr>
          <a:xfrm>
            <a:off x="7234090" y="4664936"/>
            <a:ext cx="1580259" cy="27120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235987" y="4657698"/>
            <a:ext cx="256496" cy="27843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36063" y="4627655"/>
            <a:ext cx="689612" cy="307777"/>
          </a:xfrm>
          <a:prstGeom prst="rect">
            <a:avLst/>
          </a:prstGeom>
          <a:noFill/>
        </p:spPr>
        <p:txBody>
          <a:bodyPr wrap="none">
            <a:spAutoFit/>
          </a:bodyPr>
          <a:lstStyle/>
          <a:p>
            <a:pPr>
              <a:defRPr sz="919" b="1">
                <a:solidFill>
                  <a:srgbClr val="192332"/>
                </a:solidFill>
              </a:defRPr>
            </a:pPr>
            <a:r>
              <a:rPr sz="1400" dirty="0"/>
              <a:t>15.4M</a:t>
            </a:r>
          </a:p>
        </p:txBody>
      </p:sp>
      <p:sp>
        <p:nvSpPr>
          <p:cNvPr id="56" name="TextBox 55"/>
          <p:cNvSpPr txBox="1"/>
          <p:nvPr/>
        </p:nvSpPr>
        <p:spPr>
          <a:xfrm>
            <a:off x="6307491" y="5012407"/>
            <a:ext cx="745717" cy="253916"/>
          </a:xfrm>
          <a:prstGeom prst="rect">
            <a:avLst/>
          </a:prstGeom>
          <a:noFill/>
        </p:spPr>
        <p:txBody>
          <a:bodyPr wrap="none">
            <a:spAutoFit/>
          </a:bodyPr>
          <a:lstStyle/>
          <a:p>
            <a:pPr>
              <a:defRPr sz="919">
                <a:solidFill>
                  <a:srgbClr val="555F6E"/>
                </a:solidFill>
              </a:defRPr>
            </a:pPr>
            <a:r>
              <a:rPr sz="1050">
                <a:solidFill>
                  <a:schemeClr val="tx1">
                    <a:lumMod val="95000"/>
                    <a:lumOff val="5000"/>
                  </a:schemeClr>
                </a:solidFill>
              </a:rPr>
              <a:t>Peak 2020</a:t>
            </a:r>
          </a:p>
        </p:txBody>
      </p:sp>
      <p:sp>
        <p:nvSpPr>
          <p:cNvPr id="57" name="Rectangle 56"/>
          <p:cNvSpPr/>
          <p:nvPr/>
        </p:nvSpPr>
        <p:spPr>
          <a:xfrm>
            <a:off x="7287632" y="5048984"/>
            <a:ext cx="1580259" cy="271200"/>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232146" y="5048707"/>
            <a:ext cx="486990" cy="271199"/>
          </a:xfrm>
          <a:prstGeom prst="rect">
            <a:avLst/>
          </a:prstGeom>
          <a:solidFill>
            <a:srgbClr val="EB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12985" y="5012407"/>
            <a:ext cx="689612" cy="307777"/>
          </a:xfrm>
          <a:prstGeom prst="rect">
            <a:avLst/>
          </a:prstGeom>
          <a:noFill/>
        </p:spPr>
        <p:txBody>
          <a:bodyPr wrap="none">
            <a:spAutoFit/>
          </a:bodyPr>
          <a:lstStyle/>
          <a:p>
            <a:pPr>
              <a:defRPr sz="919" b="1">
                <a:solidFill>
                  <a:srgbClr val="192332"/>
                </a:solidFill>
              </a:defRPr>
            </a:pPr>
            <a:r>
              <a:rPr sz="1400" dirty="0"/>
              <a:t>19.4M</a:t>
            </a:r>
          </a:p>
        </p:txBody>
      </p:sp>
      <p:sp>
        <p:nvSpPr>
          <p:cNvPr id="60" name="Rounded Rectangle 59"/>
          <p:cNvSpPr/>
          <p:nvPr/>
        </p:nvSpPr>
        <p:spPr>
          <a:xfrm>
            <a:off x="6288829" y="5759788"/>
            <a:ext cx="2508073" cy="512063"/>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901052" y="5730871"/>
            <a:ext cx="1377685" cy="276999"/>
          </a:xfrm>
          <a:prstGeom prst="rect">
            <a:avLst/>
          </a:prstGeom>
          <a:noFill/>
        </p:spPr>
        <p:txBody>
          <a:bodyPr wrap="none">
            <a:spAutoFit/>
          </a:bodyPr>
          <a:lstStyle/>
          <a:p>
            <a:pPr algn="ctr">
              <a:defRPr sz="880" b="1">
                <a:solidFill>
                  <a:srgbClr val="102C54"/>
                </a:solidFill>
              </a:defRPr>
            </a:pPr>
            <a:r>
              <a:rPr sz="1200" dirty="0"/>
              <a:t>Headline growth</a:t>
            </a:r>
          </a:p>
        </p:txBody>
      </p:sp>
      <p:sp>
        <p:nvSpPr>
          <p:cNvPr id="62" name="TextBox 61"/>
          <p:cNvSpPr txBox="1"/>
          <p:nvPr/>
        </p:nvSpPr>
        <p:spPr>
          <a:xfrm>
            <a:off x="6339392" y="5895827"/>
            <a:ext cx="2501006" cy="230832"/>
          </a:xfrm>
          <a:prstGeom prst="rect">
            <a:avLst/>
          </a:prstGeom>
          <a:noFill/>
        </p:spPr>
        <p:txBody>
          <a:bodyPr wrap="none">
            <a:spAutoFit/>
          </a:bodyPr>
          <a:lstStyle/>
          <a:p>
            <a:pPr algn="ctr">
              <a:defRPr sz="720">
                <a:solidFill>
                  <a:srgbClr val="192332"/>
                </a:solidFill>
              </a:defRPr>
            </a:pPr>
            <a:r>
              <a:rPr sz="900" dirty="0"/>
              <a:t>2020 volume rose sharply above normal baseline.</a:t>
            </a:r>
          </a:p>
        </p:txBody>
      </p:sp>
      <p:sp>
        <p:nvSpPr>
          <p:cNvPr id="63" name="Rounded Rectangle 62"/>
          <p:cNvSpPr/>
          <p:nvPr/>
        </p:nvSpPr>
        <p:spPr>
          <a:xfrm>
            <a:off x="8972564" y="5750468"/>
            <a:ext cx="2647906" cy="512064"/>
          </a:xfrm>
          <a:prstGeom prst="roundRect">
            <a:avLst/>
          </a:prstGeom>
          <a:solidFill>
            <a:srgbClr val="E8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568602" y="5730871"/>
            <a:ext cx="1401346" cy="276999"/>
          </a:xfrm>
          <a:prstGeom prst="rect">
            <a:avLst/>
          </a:prstGeom>
          <a:noFill/>
        </p:spPr>
        <p:txBody>
          <a:bodyPr wrap="none">
            <a:spAutoFit/>
          </a:bodyPr>
          <a:lstStyle/>
          <a:p>
            <a:pPr algn="ctr">
              <a:defRPr sz="880" b="1">
                <a:solidFill>
                  <a:srgbClr val="102C54"/>
                </a:solidFill>
              </a:defRPr>
            </a:pPr>
            <a:r>
              <a:rPr sz="1200"/>
              <a:t>Customer action</a:t>
            </a:r>
          </a:p>
        </p:txBody>
      </p:sp>
      <p:sp>
        <p:nvSpPr>
          <p:cNvPr id="65" name="TextBox 64"/>
          <p:cNvSpPr txBox="1"/>
          <p:nvPr/>
        </p:nvSpPr>
        <p:spPr>
          <a:xfrm>
            <a:off x="8996328" y="5895837"/>
            <a:ext cx="2545890" cy="369332"/>
          </a:xfrm>
          <a:prstGeom prst="rect">
            <a:avLst/>
          </a:prstGeom>
          <a:noFill/>
        </p:spPr>
        <p:txBody>
          <a:bodyPr wrap="none">
            <a:spAutoFit/>
          </a:bodyPr>
          <a:lstStyle/>
          <a:p>
            <a:pPr algn="ctr">
              <a:defRPr sz="720">
                <a:solidFill>
                  <a:srgbClr val="192332"/>
                </a:solidFill>
              </a:defRPr>
            </a:pPr>
            <a:r>
              <a:rPr sz="900" dirty="0"/>
              <a:t>High-growth accounts should guide retention and </a:t>
            </a:r>
            <a:endParaRPr lang="en-US" sz="900" dirty="0"/>
          </a:p>
          <a:p>
            <a:pPr>
              <a:defRPr sz="720">
                <a:solidFill>
                  <a:srgbClr val="192332"/>
                </a:solidFill>
              </a:defRPr>
            </a:pPr>
            <a:r>
              <a:rPr sz="900" dirty="0"/>
              <a:t>capacity planning.</a:t>
            </a:r>
          </a:p>
        </p:txBody>
      </p:sp>
      <p:sp>
        <p:nvSpPr>
          <p:cNvPr id="66" name="TextBox 65"/>
          <p:cNvSpPr txBox="1"/>
          <p:nvPr/>
        </p:nvSpPr>
        <p:spPr>
          <a:xfrm>
            <a:off x="616757" y="6347763"/>
            <a:ext cx="9595512" cy="369332"/>
          </a:xfrm>
          <a:prstGeom prst="rect">
            <a:avLst/>
          </a:prstGeom>
          <a:noFill/>
        </p:spPr>
        <p:txBody>
          <a:bodyPr wrap="none">
            <a:spAutoFit/>
          </a:bodyPr>
          <a:lstStyle/>
          <a:p>
            <a:r>
              <a:rPr lang="en-US" dirty="0"/>
              <a:t>I</a:t>
            </a:r>
            <a:r>
              <a:rPr dirty="0"/>
              <a:t> Executive summary: dataset, baseline, COVID impact, customer </a:t>
            </a:r>
            <a:r>
              <a:rPr dirty="0" err="1"/>
              <a:t>behaviour</a:t>
            </a:r>
            <a:r>
              <a:rPr lang="en-US" dirty="0"/>
              <a:t> </a:t>
            </a:r>
            <a:r>
              <a:rPr dirty="0"/>
              <a:t>and business implication</a:t>
            </a:r>
            <a:r>
              <a:rPr lang="en-US" dirty="0"/>
              <a:t>.</a:t>
            </a:r>
            <a:endParaRPr dirty="0"/>
          </a:p>
        </p:txBody>
      </p:sp>
      <p:sp>
        <p:nvSpPr>
          <p:cNvPr id="67" name="TextBox 66"/>
          <p:cNvSpPr txBox="1"/>
          <p:nvPr/>
        </p:nvSpPr>
        <p:spPr>
          <a:xfrm>
            <a:off x="10766648" y="6358000"/>
            <a:ext cx="1400000" cy="300000"/>
          </a:xfrm>
          <a:prstGeom prst="rect">
            <a:avLst/>
          </a:prstGeom>
          <a:noFill/>
        </p:spPr>
        <p:txBody>
          <a:bodyPr wrap="none">
            <a:spAutoFit/>
          </a:bodyPr>
          <a:lstStyle/>
          <a:p>
            <a:r>
              <a:t>2 / 16</a:t>
            </a:r>
          </a:p>
        </p:txBody>
      </p:sp>
      <p:sp>
        <p:nvSpPr>
          <p:cNvPr id="68" name="TextBox 67">
            <a:extLst>
              <a:ext uri="{FF2B5EF4-FFF2-40B4-BE49-F238E27FC236}">
                <a16:creationId xmlns:a16="http://schemas.microsoft.com/office/drawing/2014/main" id="{9E263C2B-BA4D-847C-FEC0-CFF4F0DF8080}"/>
              </a:ext>
            </a:extLst>
          </p:cNvPr>
          <p:cNvSpPr txBox="1"/>
          <p:nvPr/>
        </p:nvSpPr>
        <p:spPr>
          <a:xfrm>
            <a:off x="9081025" y="4181800"/>
            <a:ext cx="958917" cy="253916"/>
          </a:xfrm>
          <a:prstGeom prst="rect">
            <a:avLst/>
          </a:prstGeom>
          <a:noFill/>
        </p:spPr>
        <p:txBody>
          <a:bodyPr wrap="none">
            <a:spAutoFit/>
          </a:bodyPr>
          <a:lstStyle/>
          <a:p>
            <a:pPr>
              <a:defRPr sz="919">
                <a:solidFill>
                  <a:srgbClr val="555F6E"/>
                </a:solidFill>
              </a:defRPr>
            </a:pPr>
            <a:r>
              <a:rPr sz="1050" dirty="0">
                <a:solidFill>
                  <a:schemeClr val="tx1">
                    <a:lumMod val="95000"/>
                    <a:lumOff val="5000"/>
                  </a:schemeClr>
                </a:solidFill>
              </a:rPr>
              <a:t>2019 </a:t>
            </a:r>
            <a:r>
              <a:rPr lang="en-US" sz="1050" dirty="0">
                <a:solidFill>
                  <a:schemeClr val="tx1">
                    <a:lumMod val="95000"/>
                    <a:lumOff val="5000"/>
                  </a:schemeClr>
                </a:solidFill>
              </a:rPr>
              <a:t>Revenue</a:t>
            </a:r>
            <a:endParaRPr sz="1050" dirty="0">
              <a:solidFill>
                <a:schemeClr val="tx1">
                  <a:lumMod val="95000"/>
                  <a:lumOff val="5000"/>
                </a:schemeClr>
              </a:solidFill>
            </a:endParaRPr>
          </a:p>
        </p:txBody>
      </p:sp>
      <p:sp>
        <p:nvSpPr>
          <p:cNvPr id="69" name="Rectangle 68">
            <a:extLst>
              <a:ext uri="{FF2B5EF4-FFF2-40B4-BE49-F238E27FC236}">
                <a16:creationId xmlns:a16="http://schemas.microsoft.com/office/drawing/2014/main" id="{A780C6E8-6C01-B9D7-5D39-6ADD02BF27B2}"/>
              </a:ext>
            </a:extLst>
          </p:cNvPr>
          <p:cNvSpPr/>
          <p:nvPr/>
        </p:nvSpPr>
        <p:spPr>
          <a:xfrm>
            <a:off x="10026286" y="4199713"/>
            <a:ext cx="1606308" cy="256407"/>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a:extLst>
              <a:ext uri="{FF2B5EF4-FFF2-40B4-BE49-F238E27FC236}">
                <a16:creationId xmlns:a16="http://schemas.microsoft.com/office/drawing/2014/main" id="{C86EDD5F-50EC-DFF0-E20D-9B34147AF876}"/>
              </a:ext>
            </a:extLst>
          </p:cNvPr>
          <p:cNvSpPr/>
          <p:nvPr/>
        </p:nvSpPr>
        <p:spPr>
          <a:xfrm>
            <a:off x="10009195" y="4209715"/>
            <a:ext cx="641160" cy="246405"/>
          </a:xfrm>
          <a:prstGeom prst="rect">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E4333047-11A4-A7A3-4F37-297CEE475985}"/>
              </a:ext>
            </a:extLst>
          </p:cNvPr>
          <p:cNvSpPr txBox="1"/>
          <p:nvPr/>
        </p:nvSpPr>
        <p:spPr>
          <a:xfrm>
            <a:off x="10878220" y="4180390"/>
            <a:ext cx="702436" cy="276999"/>
          </a:xfrm>
          <a:prstGeom prst="rect">
            <a:avLst/>
          </a:prstGeom>
          <a:noFill/>
        </p:spPr>
        <p:txBody>
          <a:bodyPr wrap="none">
            <a:spAutoFit/>
          </a:bodyPr>
          <a:lstStyle/>
          <a:p>
            <a:pPr>
              <a:defRPr sz="919" b="1">
                <a:solidFill>
                  <a:srgbClr val="192332"/>
                </a:solidFill>
              </a:defRPr>
            </a:pPr>
            <a:r>
              <a:rPr lang="en-US" sz="1200" dirty="0"/>
              <a:t>940.3</a:t>
            </a:r>
            <a:r>
              <a:rPr sz="1200" dirty="0"/>
              <a:t>M</a:t>
            </a:r>
          </a:p>
        </p:txBody>
      </p:sp>
      <p:sp>
        <p:nvSpPr>
          <p:cNvPr id="72" name="TextBox 71">
            <a:extLst>
              <a:ext uri="{FF2B5EF4-FFF2-40B4-BE49-F238E27FC236}">
                <a16:creationId xmlns:a16="http://schemas.microsoft.com/office/drawing/2014/main" id="{6CBAE2E1-D385-8F66-BDCB-AF2511FC89EA}"/>
              </a:ext>
            </a:extLst>
          </p:cNvPr>
          <p:cNvSpPr txBox="1"/>
          <p:nvPr/>
        </p:nvSpPr>
        <p:spPr>
          <a:xfrm>
            <a:off x="10076696" y="3845584"/>
            <a:ext cx="1539652" cy="338554"/>
          </a:xfrm>
          <a:prstGeom prst="rect">
            <a:avLst/>
          </a:prstGeom>
          <a:noFill/>
        </p:spPr>
        <p:txBody>
          <a:bodyPr wrap="none">
            <a:spAutoFit/>
          </a:bodyPr>
          <a:lstStyle/>
          <a:p>
            <a:pPr>
              <a:defRPr sz="1600" b="1">
                <a:solidFill>
                  <a:srgbClr val="102C54"/>
                </a:solidFill>
              </a:defRPr>
            </a:pPr>
            <a:r>
              <a:rPr lang="en-US" dirty="0"/>
              <a:t>Total Revenue</a:t>
            </a:r>
            <a:endParaRPr dirty="0"/>
          </a:p>
        </p:txBody>
      </p:sp>
      <p:sp>
        <p:nvSpPr>
          <p:cNvPr id="78" name="TextBox 77">
            <a:extLst>
              <a:ext uri="{FF2B5EF4-FFF2-40B4-BE49-F238E27FC236}">
                <a16:creationId xmlns:a16="http://schemas.microsoft.com/office/drawing/2014/main" id="{FAD1E2BA-8402-996E-9B3D-079419EC98BE}"/>
              </a:ext>
            </a:extLst>
          </p:cNvPr>
          <p:cNvSpPr txBox="1"/>
          <p:nvPr/>
        </p:nvSpPr>
        <p:spPr>
          <a:xfrm>
            <a:off x="9098116" y="4651769"/>
            <a:ext cx="958917" cy="253916"/>
          </a:xfrm>
          <a:prstGeom prst="rect">
            <a:avLst/>
          </a:prstGeom>
          <a:noFill/>
        </p:spPr>
        <p:txBody>
          <a:bodyPr wrap="none">
            <a:spAutoFit/>
          </a:bodyPr>
          <a:lstStyle/>
          <a:p>
            <a:pPr>
              <a:defRPr sz="919">
                <a:solidFill>
                  <a:srgbClr val="555F6E"/>
                </a:solidFill>
              </a:defRPr>
            </a:pPr>
            <a:r>
              <a:rPr sz="1050" dirty="0">
                <a:solidFill>
                  <a:schemeClr val="tx1">
                    <a:lumMod val="95000"/>
                    <a:lumOff val="5000"/>
                  </a:schemeClr>
                </a:solidFill>
              </a:rPr>
              <a:t>20</a:t>
            </a:r>
            <a:r>
              <a:rPr lang="en-US" sz="1050" dirty="0">
                <a:solidFill>
                  <a:schemeClr val="tx1">
                    <a:lumMod val="95000"/>
                    <a:lumOff val="5000"/>
                  </a:schemeClr>
                </a:solidFill>
              </a:rPr>
              <a:t>20</a:t>
            </a:r>
            <a:r>
              <a:rPr sz="1050" dirty="0">
                <a:solidFill>
                  <a:schemeClr val="tx1">
                    <a:lumMod val="95000"/>
                    <a:lumOff val="5000"/>
                  </a:schemeClr>
                </a:solidFill>
              </a:rPr>
              <a:t> </a:t>
            </a:r>
            <a:r>
              <a:rPr lang="en-US" sz="1050" dirty="0">
                <a:solidFill>
                  <a:schemeClr val="tx1">
                    <a:lumMod val="95000"/>
                    <a:lumOff val="5000"/>
                  </a:schemeClr>
                </a:solidFill>
              </a:rPr>
              <a:t>Revenue</a:t>
            </a:r>
            <a:endParaRPr sz="1050" dirty="0">
              <a:solidFill>
                <a:schemeClr val="tx1">
                  <a:lumMod val="95000"/>
                  <a:lumOff val="5000"/>
                </a:schemeClr>
              </a:solidFill>
            </a:endParaRPr>
          </a:p>
        </p:txBody>
      </p:sp>
      <p:sp>
        <p:nvSpPr>
          <p:cNvPr id="79" name="Rectangle 78">
            <a:extLst>
              <a:ext uri="{FF2B5EF4-FFF2-40B4-BE49-F238E27FC236}">
                <a16:creationId xmlns:a16="http://schemas.microsoft.com/office/drawing/2014/main" id="{5F90E01B-701D-7FB8-C1D1-C34155182971}"/>
              </a:ext>
            </a:extLst>
          </p:cNvPr>
          <p:cNvSpPr/>
          <p:nvPr/>
        </p:nvSpPr>
        <p:spPr>
          <a:xfrm>
            <a:off x="10043377" y="4669682"/>
            <a:ext cx="1606308" cy="256407"/>
          </a:xfrm>
          <a:prstGeom prst="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a:extLst>
              <a:ext uri="{FF2B5EF4-FFF2-40B4-BE49-F238E27FC236}">
                <a16:creationId xmlns:a16="http://schemas.microsoft.com/office/drawing/2014/main" id="{26C6772D-A4B3-5162-71A3-72777FA1704C}"/>
              </a:ext>
            </a:extLst>
          </p:cNvPr>
          <p:cNvSpPr/>
          <p:nvPr/>
        </p:nvSpPr>
        <p:spPr>
          <a:xfrm>
            <a:off x="10026286" y="4679684"/>
            <a:ext cx="976008" cy="246405"/>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537DFB5C-B50D-B0CD-7076-95E8F0A5ECEF}"/>
              </a:ext>
            </a:extLst>
          </p:cNvPr>
          <p:cNvSpPr txBox="1"/>
          <p:nvPr/>
        </p:nvSpPr>
        <p:spPr>
          <a:xfrm>
            <a:off x="10903937" y="4658985"/>
            <a:ext cx="829073" cy="276999"/>
          </a:xfrm>
          <a:prstGeom prst="rect">
            <a:avLst/>
          </a:prstGeom>
          <a:noFill/>
        </p:spPr>
        <p:txBody>
          <a:bodyPr wrap="none">
            <a:spAutoFit/>
          </a:bodyPr>
          <a:lstStyle/>
          <a:p>
            <a:pPr>
              <a:defRPr sz="919" b="1">
                <a:solidFill>
                  <a:srgbClr val="192332"/>
                </a:solidFill>
              </a:defRPr>
            </a:pPr>
            <a:r>
              <a:rPr lang="en-US" sz="1200" dirty="0"/>
              <a:t>1,309.5</a:t>
            </a:r>
            <a:r>
              <a:rPr sz="1200" dirty="0"/>
              <a:t>M</a:t>
            </a:r>
          </a:p>
        </p:txBody>
      </p:sp>
      <p:sp>
        <p:nvSpPr>
          <p:cNvPr id="73" name="TextBox 72">
            <a:extLst>
              <a:ext uri="{FF2B5EF4-FFF2-40B4-BE49-F238E27FC236}">
                <a16:creationId xmlns:a16="http://schemas.microsoft.com/office/drawing/2014/main" id="{400BF9C7-8F27-C123-BF93-7A3D0D0A51BF}"/>
              </a:ext>
            </a:extLst>
          </p:cNvPr>
          <p:cNvSpPr txBox="1"/>
          <p:nvPr/>
        </p:nvSpPr>
        <p:spPr>
          <a:xfrm>
            <a:off x="10225537" y="5000118"/>
            <a:ext cx="1178528" cy="461665"/>
          </a:xfrm>
          <a:prstGeom prst="rect">
            <a:avLst/>
          </a:prstGeom>
          <a:noFill/>
        </p:spPr>
        <p:txBody>
          <a:bodyPr wrap="square">
            <a:spAutoFit/>
          </a:bodyPr>
          <a:lstStyle/>
          <a:p>
            <a:pPr algn="ctr">
              <a:defRPr sz="2200" b="1">
                <a:solidFill>
                  <a:srgbClr val="EB8737"/>
                </a:solidFill>
              </a:defRPr>
            </a:pPr>
            <a:r>
              <a:rPr sz="2400" dirty="0">
                <a:solidFill>
                  <a:schemeClr val="tx1">
                    <a:lumMod val="75000"/>
                    <a:lumOff val="25000"/>
                  </a:schemeClr>
                </a:solidFill>
              </a:rPr>
              <a:t>+</a:t>
            </a:r>
            <a:r>
              <a:rPr lang="en-US" sz="2400" dirty="0">
                <a:solidFill>
                  <a:schemeClr val="tx1">
                    <a:lumMod val="75000"/>
                    <a:lumOff val="25000"/>
                  </a:schemeClr>
                </a:solidFill>
              </a:rPr>
              <a:t>39.3</a:t>
            </a:r>
            <a:r>
              <a:rPr sz="2400" dirty="0">
                <a:solidFill>
                  <a:schemeClr val="tx1">
                    <a:lumMod val="75000"/>
                    <a:lumOff val="25000"/>
                  </a:schemeClr>
                </a:solidFill>
              </a:rPr>
              <a:t>%</a:t>
            </a:r>
          </a:p>
        </p:txBody>
      </p:sp>
      <p:cxnSp>
        <p:nvCxnSpPr>
          <p:cNvPr id="75" name="Straight Arrow Connector 74">
            <a:extLst>
              <a:ext uri="{FF2B5EF4-FFF2-40B4-BE49-F238E27FC236}">
                <a16:creationId xmlns:a16="http://schemas.microsoft.com/office/drawing/2014/main" id="{70BA100C-D263-F3E2-0534-89D82BABDDE8}"/>
              </a:ext>
            </a:extLst>
          </p:cNvPr>
          <p:cNvCxnSpPr>
            <a:cxnSpLocks/>
          </p:cNvCxnSpPr>
          <p:nvPr/>
        </p:nvCxnSpPr>
        <p:spPr>
          <a:xfrm flipV="1">
            <a:off x="11386761" y="5098213"/>
            <a:ext cx="0" cy="22428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2524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F5CD2-E742-79E3-4487-486283ED4409}"/>
              </a:ext>
            </a:extLst>
          </p:cNvPr>
          <p:cNvSpPr>
            <a:spLocks noGrp="1"/>
          </p:cNvSpPr>
          <p:nvPr>
            <p:ph type="title"/>
          </p:nvPr>
        </p:nvSpPr>
        <p:spPr>
          <a:xfrm>
            <a:off x="581192" y="946514"/>
            <a:ext cx="3738881" cy="538609"/>
          </a:xfrm>
          <a:noFill/>
        </p:spPr>
        <p:txBody>
          <a:bodyPr wrap="square">
            <a:spAutoFit/>
          </a:bodyPr>
          <a:lstStyle/>
          <a:p>
            <a:r>
              <a:rPr lang="en-US" sz="2900" b="1" cap="none" dirty="0">
                <a:solidFill>
                  <a:srgbClr val="FFFFFF"/>
                </a:solidFill>
                <a:latin typeface="Aptos Display" panose="020B0004020202020204" pitchFamily="34" charset="0"/>
                <a:ea typeface="+mn-ea"/>
                <a:cs typeface="+mn-cs"/>
              </a:rPr>
              <a:t>Objective</a:t>
            </a:r>
          </a:p>
        </p:txBody>
      </p:sp>
      <p:sp>
        <p:nvSpPr>
          <p:cNvPr id="4" name="Content Placeholder 3">
            <a:extLst>
              <a:ext uri="{FF2B5EF4-FFF2-40B4-BE49-F238E27FC236}">
                <a16:creationId xmlns:a16="http://schemas.microsoft.com/office/drawing/2014/main" id="{4A45C834-35A2-C126-9EEC-EDB9B6741419}"/>
              </a:ext>
            </a:extLst>
          </p:cNvPr>
          <p:cNvSpPr>
            <a:spLocks noGrp="1"/>
          </p:cNvSpPr>
          <p:nvPr>
            <p:ph idx="1"/>
          </p:nvPr>
        </p:nvSpPr>
        <p:spPr/>
        <p:txBody>
          <a:bodyPr>
            <a:normAutofit lnSpcReduction="10000"/>
          </a:bodyPr>
          <a:lstStyle/>
          <a:p>
            <a:pPr marL="0" indent="0">
              <a:buNone/>
            </a:pPr>
            <a:r>
              <a:rPr lang="en-US" dirty="0"/>
              <a:t>This analysis examines the impact of COVID-19 on ABC Company’s parcel delivery business.</a:t>
            </a:r>
          </a:p>
          <a:p>
            <a:endParaRPr lang="en-US" dirty="0"/>
          </a:p>
          <a:p>
            <a:pPr marL="0" indent="0">
              <a:buNone/>
            </a:pPr>
            <a:r>
              <a:rPr lang="en-US" dirty="0"/>
              <a:t>We aim to:</a:t>
            </a:r>
          </a:p>
          <a:p>
            <a:endParaRPr lang="en-US" dirty="0"/>
          </a:p>
          <a:p>
            <a:r>
              <a:rPr lang="en-US" dirty="0"/>
              <a:t> Evaluate changes in parcel volumes before and during COVID-19</a:t>
            </a:r>
          </a:p>
          <a:p>
            <a:r>
              <a:rPr lang="en-US" dirty="0"/>
              <a:t>Identify when the impact began</a:t>
            </a:r>
          </a:p>
          <a:p>
            <a:r>
              <a:rPr lang="en-US" dirty="0"/>
              <a:t>Analyze peak season performance</a:t>
            </a:r>
          </a:p>
          <a:p>
            <a:r>
              <a:rPr lang="en-US" dirty="0"/>
              <a:t>Identity how revenue was impacted</a:t>
            </a:r>
          </a:p>
          <a:p>
            <a:r>
              <a:rPr lang="en-US" dirty="0"/>
              <a:t>Assess customer growth and behavior across customer segments.</a:t>
            </a:r>
          </a:p>
          <a:p>
            <a:endParaRPr lang="en-US" dirty="0"/>
          </a:p>
        </p:txBody>
      </p:sp>
      <p:sp>
        <p:nvSpPr>
          <p:cNvPr id="5" name="TextBox 4"/>
          <p:cNvSpPr txBox="1"/>
          <p:nvPr/>
        </p:nvSpPr>
        <p:spPr>
          <a:xfrm>
            <a:off x="10692000" y="6358000"/>
            <a:ext cx="1400000" cy="300000"/>
          </a:xfrm>
          <a:prstGeom prst="rect">
            <a:avLst/>
          </a:prstGeom>
          <a:noFill/>
        </p:spPr>
        <p:txBody>
          <a:bodyPr wrap="none">
            <a:spAutoFit/>
          </a:bodyPr>
          <a:lstStyle/>
          <a:p>
            <a:r>
              <a:t>3 / 16</a:t>
            </a:r>
          </a:p>
        </p:txBody>
      </p:sp>
      <p:sp>
        <p:nvSpPr>
          <p:cNvPr id="2" name="Text 5">
            <a:extLst>
              <a:ext uri="{FF2B5EF4-FFF2-40B4-BE49-F238E27FC236}">
                <a16:creationId xmlns:a16="http://schemas.microsoft.com/office/drawing/2014/main" id="{29AD9644-B9DD-D578-30CF-8E7426DB784E}"/>
              </a:ext>
            </a:extLst>
          </p:cNvPr>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Tree>
    <p:extLst>
      <p:ext uri="{BB962C8B-B14F-4D97-AF65-F5344CB8AC3E}">
        <p14:creationId xmlns:p14="http://schemas.microsoft.com/office/powerpoint/2010/main" val="3710104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23649"/>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609101"/>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Dataset overview and analytical scope</a:t>
            </a:r>
            <a:endParaRPr lang="en-US" sz="2900" dirty="0"/>
          </a:p>
        </p:txBody>
      </p:sp>
      <p:sp>
        <p:nvSpPr>
          <p:cNvPr id="6" name="Text 4"/>
          <p:cNvSpPr/>
          <p:nvPr/>
        </p:nvSpPr>
        <p:spPr>
          <a:xfrm>
            <a:off x="521208" y="1066301"/>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Weekly parcel shipments by customer, year, week, and volume.</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sp>
        <p:nvSpPr>
          <p:cNvPr id="9" name="Text 7"/>
          <p:cNvSpPr/>
          <p:nvPr/>
        </p:nvSpPr>
        <p:spPr>
          <a:xfrm>
            <a:off x="1153269" y="1737360"/>
            <a:ext cx="2057400" cy="384048"/>
          </a:xfrm>
          <a:prstGeom prst="rect">
            <a:avLst/>
          </a:prstGeom>
          <a:noFill/>
          <a:ln/>
        </p:spPr>
        <p:txBody>
          <a:bodyPr wrap="square" lIns="127" tIns="127" rIns="127" bIns="127" rtlCol="0" anchor="t">
            <a:noAutofit/>
          </a:bodyPr>
          <a:lstStyle/>
          <a:p>
            <a:pPr marL="0" indent="0" algn="l">
              <a:buNone/>
            </a:pPr>
            <a:r>
              <a:rPr lang="en-US" sz="3000" b="1" dirty="0">
                <a:solidFill>
                  <a:srgbClr val="145DA0"/>
                </a:solidFill>
                <a:latin typeface="Aptos Display" pitchFamily="34" charset="0"/>
                <a:ea typeface="Aptos Display" pitchFamily="34" charset="-122"/>
                <a:cs typeface="Aptos Display" pitchFamily="34" charset="-120"/>
              </a:rPr>
              <a:t>190,719</a:t>
            </a:r>
            <a:endParaRPr lang="en-US" sz="3000" dirty="0"/>
          </a:p>
        </p:txBody>
      </p:sp>
      <p:sp>
        <p:nvSpPr>
          <p:cNvPr id="10" name="Text 8"/>
          <p:cNvSpPr/>
          <p:nvPr/>
        </p:nvSpPr>
        <p:spPr>
          <a:xfrm>
            <a:off x="1153269" y="2154326"/>
            <a:ext cx="2057400" cy="263347"/>
          </a:xfrm>
          <a:prstGeom prst="rect">
            <a:avLst/>
          </a:prstGeom>
          <a:noFill/>
          <a:ln/>
        </p:spPr>
        <p:txBody>
          <a:bodyPr wrap="square" lIns="127" tIns="127" rIns="127" bIns="127"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Rows</a:t>
            </a:r>
            <a:endParaRPr lang="en-US" sz="1600" dirty="0"/>
          </a:p>
        </p:txBody>
      </p:sp>
      <p:sp>
        <p:nvSpPr>
          <p:cNvPr id="11" name="Text 9"/>
          <p:cNvSpPr/>
          <p:nvPr/>
        </p:nvSpPr>
        <p:spPr>
          <a:xfrm>
            <a:off x="1153269" y="2461565"/>
            <a:ext cx="2057400" cy="329184"/>
          </a:xfrm>
          <a:prstGeom prst="rect">
            <a:avLst/>
          </a:prstGeom>
          <a:noFill/>
          <a:ln/>
        </p:spPr>
        <p:txBody>
          <a:bodyPr wrap="square" lIns="127" tIns="127" rIns="127" bIns="127" rtlCol="0" anchor="t">
            <a:normAutofit/>
          </a:bodyPr>
          <a:lstStyle/>
          <a:p>
            <a:pPr marL="0" indent="0" algn="l">
              <a:buNone/>
            </a:pPr>
            <a:r>
              <a:rPr lang="en-US" sz="1300" dirty="0">
                <a:solidFill>
                  <a:srgbClr val="5B6770"/>
                </a:solidFill>
                <a:latin typeface="Aptos" pitchFamily="34" charset="0"/>
                <a:ea typeface="Aptos" pitchFamily="34" charset="-122"/>
                <a:cs typeface="Aptos" pitchFamily="34" charset="-120"/>
              </a:rPr>
              <a:t>Granular weekly records</a:t>
            </a:r>
            <a:endParaRPr lang="en-US" sz="1300" dirty="0"/>
          </a:p>
        </p:txBody>
      </p:sp>
      <p:sp>
        <p:nvSpPr>
          <p:cNvPr id="12" name="Text 10"/>
          <p:cNvSpPr/>
          <p:nvPr/>
        </p:nvSpPr>
        <p:spPr>
          <a:xfrm>
            <a:off x="3484989" y="1737360"/>
            <a:ext cx="2057400" cy="384048"/>
          </a:xfrm>
          <a:prstGeom prst="rect">
            <a:avLst/>
          </a:prstGeom>
          <a:noFill/>
          <a:ln/>
        </p:spPr>
        <p:txBody>
          <a:bodyPr wrap="square" lIns="127" tIns="127" rIns="127" bIns="127" rtlCol="0" anchor="t">
            <a:noAutofit/>
          </a:bodyPr>
          <a:lstStyle/>
          <a:p>
            <a:pPr marL="0" indent="0" algn="l">
              <a:buNone/>
            </a:pPr>
            <a:r>
              <a:rPr lang="en-US" sz="3000" b="1" dirty="0">
                <a:solidFill>
                  <a:srgbClr val="00A6A6"/>
                </a:solidFill>
                <a:latin typeface="Aptos Display" pitchFamily="34" charset="0"/>
                <a:ea typeface="Aptos Display" pitchFamily="34" charset="-122"/>
                <a:cs typeface="Aptos Display" pitchFamily="34" charset="-120"/>
              </a:rPr>
              <a:t>1,061</a:t>
            </a:r>
            <a:endParaRPr lang="en-US" sz="3000" dirty="0"/>
          </a:p>
        </p:txBody>
      </p:sp>
      <p:sp>
        <p:nvSpPr>
          <p:cNvPr id="13" name="Text 11"/>
          <p:cNvSpPr/>
          <p:nvPr/>
        </p:nvSpPr>
        <p:spPr>
          <a:xfrm>
            <a:off x="3484989" y="2154326"/>
            <a:ext cx="2057400" cy="263347"/>
          </a:xfrm>
          <a:prstGeom prst="rect">
            <a:avLst/>
          </a:prstGeom>
          <a:noFill/>
          <a:ln/>
        </p:spPr>
        <p:txBody>
          <a:bodyPr wrap="square" lIns="127" tIns="127" rIns="127" bIns="127"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Unique customers</a:t>
            </a:r>
            <a:endParaRPr lang="en-US" sz="1600" dirty="0"/>
          </a:p>
        </p:txBody>
      </p:sp>
      <p:sp>
        <p:nvSpPr>
          <p:cNvPr id="14" name="Text 12"/>
          <p:cNvSpPr/>
          <p:nvPr/>
        </p:nvSpPr>
        <p:spPr>
          <a:xfrm>
            <a:off x="3484989" y="2461565"/>
            <a:ext cx="2057400" cy="329184"/>
          </a:xfrm>
          <a:prstGeom prst="rect">
            <a:avLst/>
          </a:prstGeom>
          <a:noFill/>
          <a:ln/>
        </p:spPr>
        <p:txBody>
          <a:bodyPr wrap="square" lIns="127" tIns="127" rIns="127" bIns="127" rtlCol="0" anchor="t">
            <a:normAutofit/>
          </a:bodyPr>
          <a:lstStyle/>
          <a:p>
            <a:pPr marL="0" indent="0" algn="l">
              <a:buNone/>
            </a:pPr>
            <a:r>
              <a:rPr lang="en-US" sz="1300" dirty="0">
                <a:solidFill>
                  <a:srgbClr val="5B6770"/>
                </a:solidFill>
                <a:latin typeface="Aptos" pitchFamily="34" charset="0"/>
                <a:ea typeface="Aptos" pitchFamily="34" charset="-122"/>
                <a:cs typeface="Aptos" pitchFamily="34" charset="-120"/>
              </a:rPr>
              <a:t>Customer-level tracking</a:t>
            </a:r>
            <a:endParaRPr lang="en-US" sz="1300" dirty="0"/>
          </a:p>
        </p:txBody>
      </p:sp>
      <p:sp>
        <p:nvSpPr>
          <p:cNvPr id="15" name="Text 13"/>
          <p:cNvSpPr/>
          <p:nvPr/>
        </p:nvSpPr>
        <p:spPr>
          <a:xfrm>
            <a:off x="5816709" y="1737360"/>
            <a:ext cx="2057400" cy="384048"/>
          </a:xfrm>
          <a:prstGeom prst="rect">
            <a:avLst/>
          </a:prstGeom>
          <a:noFill/>
          <a:ln/>
        </p:spPr>
        <p:txBody>
          <a:bodyPr wrap="square" lIns="127" tIns="127" rIns="127" bIns="127" rtlCol="0" anchor="t">
            <a:noAutofit/>
          </a:bodyPr>
          <a:lstStyle/>
          <a:p>
            <a:pPr marL="0" indent="0" algn="l">
              <a:buNone/>
            </a:pPr>
            <a:r>
              <a:rPr lang="en-US" sz="3000" b="1" dirty="0">
                <a:solidFill>
                  <a:srgbClr val="F28C28"/>
                </a:solidFill>
                <a:latin typeface="Aptos Display" pitchFamily="34" charset="0"/>
                <a:ea typeface="Aptos Display" pitchFamily="34" charset="-122"/>
                <a:cs typeface="Aptos Display" pitchFamily="34" charset="-120"/>
              </a:rPr>
              <a:t>2018–2021</a:t>
            </a:r>
            <a:endParaRPr lang="en-US" sz="3000" dirty="0"/>
          </a:p>
        </p:txBody>
      </p:sp>
      <p:sp>
        <p:nvSpPr>
          <p:cNvPr id="16" name="Text 14"/>
          <p:cNvSpPr/>
          <p:nvPr/>
        </p:nvSpPr>
        <p:spPr>
          <a:xfrm>
            <a:off x="5816709" y="2154326"/>
            <a:ext cx="2057400" cy="263347"/>
          </a:xfrm>
          <a:prstGeom prst="rect">
            <a:avLst/>
          </a:prstGeom>
          <a:noFill/>
          <a:ln/>
        </p:spPr>
        <p:txBody>
          <a:bodyPr wrap="square" lIns="127" tIns="127" rIns="127" bIns="127"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Time coverage</a:t>
            </a:r>
            <a:endParaRPr lang="en-US" sz="1600" dirty="0"/>
          </a:p>
        </p:txBody>
      </p:sp>
      <p:sp>
        <p:nvSpPr>
          <p:cNvPr id="17" name="Text 15"/>
          <p:cNvSpPr/>
          <p:nvPr/>
        </p:nvSpPr>
        <p:spPr>
          <a:xfrm>
            <a:off x="5816709" y="2461565"/>
            <a:ext cx="2057400" cy="329184"/>
          </a:xfrm>
          <a:prstGeom prst="rect">
            <a:avLst/>
          </a:prstGeom>
          <a:noFill/>
          <a:ln/>
        </p:spPr>
        <p:txBody>
          <a:bodyPr wrap="square" lIns="127" tIns="127" rIns="127" bIns="127" rtlCol="0" anchor="t">
            <a:normAutofit/>
          </a:bodyPr>
          <a:lstStyle/>
          <a:p>
            <a:pPr marL="0" indent="0" algn="l">
              <a:buNone/>
            </a:pPr>
            <a:r>
              <a:rPr lang="en-US" sz="1300" dirty="0">
                <a:solidFill>
                  <a:srgbClr val="5B6770"/>
                </a:solidFill>
                <a:latin typeface="Aptos" pitchFamily="34" charset="0"/>
                <a:ea typeface="Aptos" pitchFamily="34" charset="-122"/>
                <a:cs typeface="Aptos" pitchFamily="34" charset="-120"/>
              </a:rPr>
              <a:t>Before, during, after COVID</a:t>
            </a:r>
            <a:endParaRPr lang="en-US" sz="1300" dirty="0"/>
          </a:p>
        </p:txBody>
      </p:sp>
      <p:sp>
        <p:nvSpPr>
          <p:cNvPr id="18" name="Text 16"/>
          <p:cNvSpPr/>
          <p:nvPr/>
        </p:nvSpPr>
        <p:spPr>
          <a:xfrm>
            <a:off x="8148429" y="1737360"/>
            <a:ext cx="2057400" cy="384048"/>
          </a:xfrm>
          <a:prstGeom prst="rect">
            <a:avLst/>
          </a:prstGeom>
          <a:noFill/>
          <a:ln/>
        </p:spPr>
        <p:txBody>
          <a:bodyPr wrap="square" lIns="127" tIns="127" rIns="127" bIns="127" rtlCol="0" anchor="t">
            <a:noAutofit/>
          </a:bodyPr>
          <a:lstStyle/>
          <a:p>
            <a:pPr marL="0" indent="0" algn="l">
              <a:buNone/>
            </a:pPr>
            <a:r>
              <a:rPr lang="en-US" sz="3000" b="1" dirty="0">
                <a:solidFill>
                  <a:srgbClr val="1F4E79"/>
                </a:solidFill>
                <a:latin typeface="Aptos Display" pitchFamily="34" charset="0"/>
                <a:ea typeface="Aptos Display" pitchFamily="34" charset="-122"/>
                <a:cs typeface="Aptos Display" pitchFamily="34" charset="-120"/>
              </a:rPr>
              <a:t>640,590</a:t>
            </a:r>
            <a:endParaRPr lang="en-US" sz="3000" dirty="0"/>
          </a:p>
        </p:txBody>
      </p:sp>
      <p:sp>
        <p:nvSpPr>
          <p:cNvPr id="19" name="Text 17"/>
          <p:cNvSpPr/>
          <p:nvPr/>
        </p:nvSpPr>
        <p:spPr>
          <a:xfrm>
            <a:off x="8148429" y="2154326"/>
            <a:ext cx="2057400" cy="263347"/>
          </a:xfrm>
          <a:prstGeom prst="rect">
            <a:avLst/>
          </a:prstGeom>
          <a:noFill/>
          <a:ln/>
        </p:spPr>
        <p:txBody>
          <a:bodyPr wrap="square" lIns="127" tIns="127" rIns="127" bIns="127" rtlCol="0" anchor="t">
            <a:normAutofit/>
          </a:bodyPr>
          <a:lstStyle/>
          <a:p>
            <a:pPr marL="0" indent="0" algn="l">
              <a:buNone/>
            </a:pPr>
            <a:r>
              <a:rPr lang="en-US" sz="1600" b="1" dirty="0">
                <a:solidFill>
                  <a:srgbClr val="0B1F3A"/>
                </a:solidFill>
                <a:latin typeface="Aptos" pitchFamily="34" charset="0"/>
                <a:ea typeface="Aptos" pitchFamily="34" charset="-122"/>
                <a:cs typeface="Aptos" pitchFamily="34" charset="-120"/>
              </a:rPr>
              <a:t>Max weekly volume</a:t>
            </a:r>
            <a:endParaRPr lang="en-US" sz="1600" dirty="0"/>
          </a:p>
        </p:txBody>
      </p:sp>
      <p:sp>
        <p:nvSpPr>
          <p:cNvPr id="20" name="Text 18"/>
          <p:cNvSpPr/>
          <p:nvPr/>
        </p:nvSpPr>
        <p:spPr>
          <a:xfrm>
            <a:off x="8148429" y="2461565"/>
            <a:ext cx="2057400" cy="329184"/>
          </a:xfrm>
          <a:prstGeom prst="rect">
            <a:avLst/>
          </a:prstGeom>
          <a:noFill/>
          <a:ln/>
        </p:spPr>
        <p:txBody>
          <a:bodyPr wrap="square" lIns="127" tIns="127" rIns="127" bIns="127" rtlCol="0" anchor="t">
            <a:normAutofit/>
          </a:bodyPr>
          <a:lstStyle/>
          <a:p>
            <a:pPr marL="0" indent="0" algn="l">
              <a:buNone/>
            </a:pPr>
            <a:r>
              <a:rPr lang="en-US" sz="1300" dirty="0">
                <a:solidFill>
                  <a:srgbClr val="5B6770"/>
                </a:solidFill>
                <a:latin typeface="Aptos" pitchFamily="34" charset="0"/>
                <a:ea typeface="Aptos" pitchFamily="34" charset="-122"/>
                <a:cs typeface="Aptos" pitchFamily="34" charset="-120"/>
              </a:rPr>
              <a:t>Largest row volume</a:t>
            </a:r>
            <a:endParaRPr lang="en-US" sz="1300" dirty="0"/>
          </a:p>
        </p:txBody>
      </p:sp>
      <p:sp>
        <p:nvSpPr>
          <p:cNvPr id="21" name="Shape 19"/>
          <p:cNvSpPr/>
          <p:nvPr/>
        </p:nvSpPr>
        <p:spPr>
          <a:xfrm>
            <a:off x="777240" y="3163824"/>
            <a:ext cx="10607040" cy="1499616"/>
          </a:xfrm>
          <a:prstGeom prst="roundRect">
            <a:avLst/>
          </a:prstGeom>
          <a:solidFill>
            <a:srgbClr val="FFFFFF"/>
          </a:solidFill>
          <a:ln w="12700">
            <a:solidFill>
              <a:srgbClr val="D6DEE8"/>
            </a:solidFill>
            <a:prstDash val="solid"/>
          </a:ln>
        </p:spPr>
        <p:txBody>
          <a:bodyPr/>
          <a:lstStyle/>
          <a:p>
            <a:endParaRPr lang="en-US" dirty="0"/>
          </a:p>
        </p:txBody>
      </p:sp>
      <p:sp>
        <p:nvSpPr>
          <p:cNvPr id="22" name="Text 20"/>
          <p:cNvSpPr/>
          <p:nvPr/>
        </p:nvSpPr>
        <p:spPr>
          <a:xfrm>
            <a:off x="1005839" y="3639312"/>
            <a:ext cx="2766065" cy="256032"/>
          </a:xfrm>
          <a:prstGeom prst="rect">
            <a:avLst/>
          </a:prstGeom>
          <a:noFill/>
          <a:ln/>
        </p:spPr>
        <p:txBody>
          <a:bodyPr wrap="square" lIns="508" tIns="508" rIns="508" bIns="508" rtlCol="0" anchor="t">
            <a:noAutofit/>
          </a:bodyPr>
          <a:lstStyle/>
          <a:p>
            <a:pPr marL="0" indent="0" algn="l">
              <a:buNone/>
            </a:pPr>
            <a:r>
              <a:rPr lang="en-US" sz="1600" b="1" dirty="0">
                <a:solidFill>
                  <a:srgbClr val="0B1F3A"/>
                </a:solidFill>
                <a:latin typeface="Aptos" pitchFamily="34" charset="0"/>
                <a:ea typeface="Aptos" pitchFamily="34" charset="-122"/>
                <a:cs typeface="Aptos" pitchFamily="34" charset="-120"/>
              </a:rPr>
              <a:t>Fields used in this analysis</a:t>
            </a:r>
            <a:endParaRPr lang="en-US" sz="1600" dirty="0"/>
          </a:p>
        </p:txBody>
      </p:sp>
      <p:sp>
        <p:nvSpPr>
          <p:cNvPr id="23" name="Text 21"/>
          <p:cNvSpPr/>
          <p:nvPr/>
        </p:nvSpPr>
        <p:spPr>
          <a:xfrm>
            <a:off x="4071881" y="3526971"/>
            <a:ext cx="1663183" cy="450669"/>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FakeCustomerID</a:t>
            </a:r>
            <a:endParaRPr lang="en-US" sz="1600" dirty="0"/>
          </a:p>
        </p:txBody>
      </p:sp>
      <p:sp>
        <p:nvSpPr>
          <p:cNvPr id="24" name="Text 22"/>
          <p:cNvSpPr/>
          <p:nvPr/>
        </p:nvSpPr>
        <p:spPr>
          <a:xfrm>
            <a:off x="5854961" y="3526971"/>
            <a:ext cx="1663183" cy="450669"/>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THE_YEAR</a:t>
            </a:r>
            <a:endParaRPr lang="en-US" sz="1600" dirty="0"/>
          </a:p>
        </p:txBody>
      </p:sp>
      <p:sp>
        <p:nvSpPr>
          <p:cNvPr id="25" name="Text 23"/>
          <p:cNvSpPr/>
          <p:nvPr/>
        </p:nvSpPr>
        <p:spPr>
          <a:xfrm>
            <a:off x="7638041" y="3526971"/>
            <a:ext cx="1663183" cy="450669"/>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THE_WEEK</a:t>
            </a:r>
            <a:endParaRPr lang="en-US" sz="1600" dirty="0"/>
          </a:p>
        </p:txBody>
      </p:sp>
      <p:sp>
        <p:nvSpPr>
          <p:cNvPr id="26" name="Text 24"/>
          <p:cNvSpPr/>
          <p:nvPr/>
        </p:nvSpPr>
        <p:spPr>
          <a:xfrm>
            <a:off x="9421121" y="3526971"/>
            <a:ext cx="1663183" cy="450669"/>
          </a:xfrm>
          <a:prstGeom prst="roundRect">
            <a:avLst/>
          </a:prstGeom>
          <a:solidFill>
            <a:srgbClr val="F28C28"/>
          </a:solidFill>
          <a:ln>
            <a:solidFill>
              <a:srgbClr val="F28C28"/>
            </a:solidFill>
          </a:ln>
        </p:spPr>
        <p:txBody>
          <a:bodyPr wrap="square" lIns="254" tIns="254" rIns="254" bIns="254"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VOLUME</a:t>
            </a:r>
            <a:endParaRPr lang="en-US" sz="1600" dirty="0"/>
          </a:p>
        </p:txBody>
      </p:sp>
      <p:sp>
        <p:nvSpPr>
          <p:cNvPr id="27" name="Text 25"/>
          <p:cNvSpPr/>
          <p:nvPr/>
        </p:nvSpPr>
        <p:spPr>
          <a:xfrm>
            <a:off x="1005840" y="4160520"/>
            <a:ext cx="9692640" cy="256032"/>
          </a:xfrm>
          <a:prstGeom prst="rect">
            <a:avLst/>
          </a:prstGeom>
          <a:noFill/>
          <a:ln/>
        </p:spPr>
        <p:txBody>
          <a:bodyPr wrap="square" lIns="508" tIns="508" rIns="508" bIns="508" rtlCol="0" anchor="t">
            <a:normAutofit fontScale="92500"/>
          </a:bodyPr>
          <a:lstStyle/>
          <a:p>
            <a:pPr marL="0" indent="0" algn="l">
              <a:buNone/>
            </a:pPr>
            <a:r>
              <a:rPr lang="en-US" sz="1600" dirty="0">
                <a:solidFill>
                  <a:srgbClr val="5B6770"/>
                </a:solidFill>
                <a:latin typeface="Aptos" pitchFamily="34" charset="0"/>
                <a:ea typeface="Aptos" pitchFamily="34" charset="-122"/>
                <a:cs typeface="Aptos" pitchFamily="34" charset="-120"/>
              </a:rPr>
              <a:t>Analysis period split: Pre-COVID baseline, COVID observation period, peak season, and post-2020 normalization.</a:t>
            </a:r>
            <a:endParaRPr lang="en-US" sz="1600" dirty="0"/>
          </a:p>
        </p:txBody>
      </p:sp>
      <p:sp>
        <p:nvSpPr>
          <p:cNvPr id="28" name="Text 26"/>
          <p:cNvSpPr/>
          <p:nvPr/>
        </p:nvSpPr>
        <p:spPr>
          <a:xfrm>
            <a:off x="777240" y="5444337"/>
            <a:ext cx="10789920" cy="402336"/>
          </a:xfrm>
          <a:prstGeom prst="roundRect">
            <a:avLst/>
          </a:prstGeom>
          <a:solidFill>
            <a:srgbClr val="EAF4FF"/>
          </a:solidFill>
          <a:ln>
            <a:solidFill>
              <a:srgbClr val="C9DDF4"/>
            </a:solidFill>
          </a:ln>
        </p:spPr>
        <p:txBody>
          <a:bodyPr wrap="square" lIns="1016" tIns="1016" rIns="1016" bIns="1016" rtlCol="0" anchor="ctr">
            <a:normAutofit fontScale="85000" lnSpcReduction="10000"/>
          </a:bodyPr>
          <a:lstStyle/>
          <a:p>
            <a:pPr marL="0" indent="0">
              <a:buNone/>
            </a:pPr>
            <a:r>
              <a:rPr lang="en-US" sz="1600" b="1" dirty="0">
                <a:solidFill>
                  <a:srgbClr val="0B1F3A"/>
                </a:solidFill>
                <a:latin typeface="Aptos" pitchFamily="34" charset="0"/>
                <a:ea typeface="Aptos" pitchFamily="34" charset="-122"/>
                <a:cs typeface="Aptos" pitchFamily="34" charset="-120"/>
              </a:rPr>
              <a:t>Key takeaway: The dataset supports robust trend and segmentation analysis, but it does not include a direct revenue column.</a:t>
            </a:r>
            <a:endParaRPr lang="en-US" sz="1600" dirty="0"/>
          </a:p>
        </p:txBody>
      </p:sp>
      <p:sp>
        <p:nvSpPr>
          <p:cNvPr id="29" name="TextBox 28"/>
          <p:cNvSpPr txBox="1"/>
          <p:nvPr/>
        </p:nvSpPr>
        <p:spPr>
          <a:xfrm>
            <a:off x="10692000" y="6358000"/>
            <a:ext cx="1400000" cy="300000"/>
          </a:xfrm>
          <a:prstGeom prst="rect">
            <a:avLst/>
          </a:prstGeom>
          <a:noFill/>
        </p:spPr>
        <p:txBody>
          <a:bodyPr wrap="none">
            <a:spAutoFit/>
          </a:bodyPr>
          <a:lstStyle/>
          <a:p>
            <a:r>
              <a:t>4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8769"/>
            <a:ext cx="12191695" cy="6858000"/>
          </a:xfrm>
          <a:prstGeom prst="rect">
            <a:avLst/>
          </a:prstGeom>
          <a:solidFill>
            <a:srgbClr val="F6F8FB"/>
          </a:solidFill>
          <a:ln w="12700">
            <a:solidFill>
              <a:srgbClr val="FFFFFF">
                <a:alpha val="0"/>
              </a:srgbClr>
            </a:solidFill>
            <a:prstDash val="solid"/>
          </a:ln>
        </p:spPr>
        <p:txBody>
          <a:bodyPr/>
          <a:lstStyle/>
          <a:p>
            <a:endParaRPr lang="en-US" dirty="0"/>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665083"/>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Annual parcel volume: 2020 is the major inflection point</a:t>
            </a:r>
            <a:endParaRPr lang="en-US" sz="2900" dirty="0"/>
          </a:p>
        </p:txBody>
      </p:sp>
      <p:sp>
        <p:nvSpPr>
          <p:cNvPr id="6" name="Text 4"/>
          <p:cNvSpPr/>
          <p:nvPr/>
        </p:nvSpPr>
        <p:spPr>
          <a:xfrm>
            <a:off x="521208" y="1122283"/>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Volumes surged in 2020, then normalized in 2021.</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graphicFrame>
        <p:nvGraphicFramePr>
          <p:cNvPr id="9" name="Chart 0"/>
          <p:cNvGraphicFramePr/>
          <p:nvPr>
            <p:extLst>
              <p:ext uri="{D42A27DB-BD31-4B8C-83A1-F6EECF244321}">
                <p14:modId xmlns:p14="http://schemas.microsoft.com/office/powerpoint/2010/main" val="2141782054"/>
              </p:ext>
            </p:extLst>
          </p:nvPr>
        </p:nvGraphicFramePr>
        <p:xfrm>
          <a:off x="685800" y="1783080"/>
          <a:ext cx="658368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7726680" y="1828800"/>
            <a:ext cx="3977640" cy="300000"/>
          </a:xfrm>
          <a:prstGeom prst="rect">
            <a:avLst/>
          </a:prstGeom>
          <a:noFill/>
          <a:ln/>
        </p:spPr>
        <p:txBody>
          <a:bodyPr wrap="square" lIns="508" tIns="508" rIns="508" bIns="508" rtlCol="0" anchor="t">
            <a:noAutofit/>
          </a:bodyPr>
          <a:lstStyle/>
          <a:p>
            <a:pPr marL="0" indent="0" algn="l">
              <a:buNone/>
            </a:pPr>
            <a:r>
              <a:rPr lang="en-US" sz="2800" b="1" dirty="0">
                <a:solidFill>
                  <a:srgbClr val="0B1F3A"/>
                </a:solidFill>
                <a:latin typeface="Aptos" pitchFamily="34" charset="0"/>
                <a:ea typeface="Aptos" pitchFamily="34" charset="-122"/>
                <a:cs typeface="Aptos" pitchFamily="34" charset="-120"/>
              </a:rPr>
              <a:t>Year-over-year change</a:t>
            </a:r>
            <a:endParaRPr lang="en-US" sz="2800" dirty="0"/>
          </a:p>
        </p:txBody>
      </p:sp>
      <p:sp>
        <p:nvSpPr>
          <p:cNvPr id="11" name="Text 8"/>
          <p:cNvSpPr/>
          <p:nvPr/>
        </p:nvSpPr>
        <p:spPr>
          <a:xfrm>
            <a:off x="7818120" y="2676958"/>
            <a:ext cx="1417320" cy="228600"/>
          </a:xfrm>
          <a:prstGeom prst="rect">
            <a:avLst/>
          </a:prstGeom>
          <a:noFill/>
          <a:ln/>
        </p:spPr>
        <p:txBody>
          <a:bodyPr wrap="square" lIns="508" tIns="508" rIns="508" bIns="508" rtlCol="0" anchor="t">
            <a:normAutofit fontScale="92500" lnSpcReduction="20000"/>
          </a:bodyPr>
          <a:lstStyle/>
          <a:p>
            <a:pPr marL="0" indent="0" algn="l">
              <a:buNone/>
            </a:pPr>
            <a:r>
              <a:rPr lang="en-US" dirty="0">
                <a:solidFill>
                  <a:srgbClr val="5B6770"/>
                </a:solidFill>
                <a:latin typeface="Aptos" pitchFamily="34" charset="0"/>
                <a:ea typeface="Aptos" pitchFamily="34" charset="-122"/>
                <a:cs typeface="Aptos" pitchFamily="34" charset="-120"/>
              </a:rPr>
              <a:t>2019 vs 2018</a:t>
            </a:r>
            <a:endParaRPr lang="en-US" dirty="0"/>
          </a:p>
        </p:txBody>
      </p:sp>
      <p:sp>
        <p:nvSpPr>
          <p:cNvPr id="12" name="Text 9"/>
          <p:cNvSpPr/>
          <p:nvPr/>
        </p:nvSpPr>
        <p:spPr>
          <a:xfrm>
            <a:off x="9284886" y="2454324"/>
            <a:ext cx="1911096" cy="320040"/>
          </a:xfrm>
          <a:prstGeom prst="rect">
            <a:avLst/>
          </a:prstGeom>
          <a:noFill/>
          <a:ln/>
        </p:spPr>
        <p:txBody>
          <a:bodyPr wrap="square" lIns="508" tIns="508" rIns="508" bIns="508" rtlCol="0" anchor="t">
            <a:noAutofit/>
          </a:bodyPr>
          <a:lstStyle/>
          <a:p>
            <a:pPr marL="0" indent="0" algn="r">
              <a:buNone/>
            </a:pPr>
            <a:r>
              <a:rPr lang="en-US" sz="3600" b="1" dirty="0">
                <a:solidFill>
                  <a:srgbClr val="00A6A6"/>
                </a:solidFill>
                <a:latin typeface="Aptos" pitchFamily="34" charset="0"/>
                <a:ea typeface="Aptos" pitchFamily="34" charset="-122"/>
                <a:cs typeface="Aptos" pitchFamily="34" charset="-120"/>
              </a:rPr>
              <a:t>+7.6%</a:t>
            </a:r>
            <a:endParaRPr lang="en-US" sz="3600" dirty="0"/>
          </a:p>
        </p:txBody>
      </p:sp>
      <p:sp>
        <p:nvSpPr>
          <p:cNvPr id="13" name="Text 10"/>
          <p:cNvSpPr/>
          <p:nvPr/>
        </p:nvSpPr>
        <p:spPr>
          <a:xfrm>
            <a:off x="7818120" y="3408478"/>
            <a:ext cx="1417320" cy="228600"/>
          </a:xfrm>
          <a:prstGeom prst="rect">
            <a:avLst/>
          </a:prstGeom>
          <a:noFill/>
          <a:ln/>
        </p:spPr>
        <p:txBody>
          <a:bodyPr wrap="square" lIns="508" tIns="508" rIns="508" bIns="508" rtlCol="0" anchor="t">
            <a:normAutofit fontScale="92500" lnSpcReduction="20000"/>
          </a:bodyPr>
          <a:lstStyle/>
          <a:p>
            <a:pPr marL="0" indent="0" algn="l">
              <a:buNone/>
            </a:pPr>
            <a:r>
              <a:rPr lang="en-US" dirty="0">
                <a:solidFill>
                  <a:srgbClr val="5B6770"/>
                </a:solidFill>
                <a:latin typeface="Aptos" pitchFamily="34" charset="0"/>
                <a:ea typeface="Aptos" pitchFamily="34" charset="-122"/>
                <a:cs typeface="Aptos" pitchFamily="34" charset="-120"/>
              </a:rPr>
              <a:t>2020 vs 2019</a:t>
            </a:r>
            <a:endParaRPr lang="en-US" dirty="0"/>
          </a:p>
        </p:txBody>
      </p:sp>
      <p:sp>
        <p:nvSpPr>
          <p:cNvPr id="14" name="Text 11"/>
          <p:cNvSpPr/>
          <p:nvPr/>
        </p:nvSpPr>
        <p:spPr>
          <a:xfrm>
            <a:off x="9284886" y="3185844"/>
            <a:ext cx="1950720" cy="320040"/>
          </a:xfrm>
          <a:prstGeom prst="rect">
            <a:avLst/>
          </a:prstGeom>
          <a:noFill/>
          <a:ln/>
        </p:spPr>
        <p:txBody>
          <a:bodyPr wrap="square" lIns="508" tIns="508" rIns="508" bIns="508" rtlCol="0" anchor="t">
            <a:noAutofit/>
          </a:bodyPr>
          <a:lstStyle/>
          <a:p>
            <a:pPr marL="0" indent="0" algn="r">
              <a:buNone/>
            </a:pPr>
            <a:r>
              <a:rPr lang="en-US" sz="3600" b="1" dirty="0">
                <a:solidFill>
                  <a:srgbClr val="F28C28"/>
                </a:solidFill>
                <a:latin typeface="Aptos" pitchFamily="34" charset="0"/>
                <a:ea typeface="Aptos" pitchFamily="34" charset="-122"/>
                <a:cs typeface="Aptos" pitchFamily="34" charset="-120"/>
              </a:rPr>
              <a:t>+39.1%</a:t>
            </a:r>
            <a:endParaRPr lang="en-US" sz="3600" dirty="0"/>
          </a:p>
        </p:txBody>
      </p:sp>
      <p:sp>
        <p:nvSpPr>
          <p:cNvPr id="15" name="Text 12"/>
          <p:cNvSpPr/>
          <p:nvPr/>
        </p:nvSpPr>
        <p:spPr>
          <a:xfrm>
            <a:off x="7818120" y="3794760"/>
            <a:ext cx="1417320" cy="228600"/>
          </a:xfrm>
          <a:prstGeom prst="rect">
            <a:avLst/>
          </a:prstGeom>
          <a:noFill/>
          <a:ln/>
        </p:spPr>
        <p:txBody>
          <a:bodyPr wrap="square" lIns="508" tIns="508" rIns="508" bIns="508" rtlCol="0" anchor="t">
            <a:normAutofit/>
          </a:bodyPr>
          <a:lstStyle/>
          <a:p>
            <a:pPr marL="0" indent="0" algn="l">
              <a:buNone/>
            </a:pPr>
            <a:endParaRPr lang="en-US" sz="1220" dirty="0"/>
          </a:p>
        </p:txBody>
      </p:sp>
      <p:sp>
        <p:nvSpPr>
          <p:cNvPr id="16" name="Text 13"/>
          <p:cNvSpPr/>
          <p:nvPr/>
        </p:nvSpPr>
        <p:spPr>
          <a:xfrm>
            <a:off x="9555480" y="3730752"/>
            <a:ext cx="1143000" cy="320040"/>
          </a:xfrm>
          <a:prstGeom prst="rect">
            <a:avLst/>
          </a:prstGeom>
          <a:noFill/>
          <a:ln/>
        </p:spPr>
        <p:txBody>
          <a:bodyPr wrap="square" lIns="508" tIns="508" rIns="508" bIns="508" rtlCol="0" anchor="t">
            <a:normAutofit/>
          </a:bodyPr>
          <a:lstStyle/>
          <a:p>
            <a:pPr marL="0" indent="0" algn="r">
              <a:buNone/>
            </a:pPr>
            <a:endParaRPr lang="en-US" sz="2000" dirty="0"/>
          </a:p>
        </p:txBody>
      </p:sp>
      <p:sp>
        <p:nvSpPr>
          <p:cNvPr id="17" name="Text 14"/>
          <p:cNvSpPr/>
          <p:nvPr/>
        </p:nvSpPr>
        <p:spPr>
          <a:xfrm>
            <a:off x="7839723" y="4366360"/>
            <a:ext cx="3663315" cy="777240"/>
          </a:xfrm>
          <a:prstGeom prst="rect">
            <a:avLst/>
          </a:prstGeom>
          <a:noFill/>
          <a:ln/>
        </p:spPr>
        <p:txBody>
          <a:bodyPr wrap="square" lIns="508" tIns="508" rIns="508" bIns="508" rtlCol="0" anchor="t">
            <a:normAutofit fontScale="92500" lnSpcReduction="10000"/>
          </a:bodyPr>
          <a:lstStyle/>
          <a:p>
            <a:pPr marL="0" indent="0" algn="l">
              <a:buNone/>
            </a:pPr>
            <a:r>
              <a:rPr lang="en-US" sz="1400" b="1" dirty="0">
                <a:solidFill>
                  <a:srgbClr val="5B6770"/>
                </a:solidFill>
                <a:latin typeface="Aptos" pitchFamily="34" charset="0"/>
                <a:ea typeface="Aptos" pitchFamily="34" charset="-122"/>
                <a:cs typeface="Aptos" pitchFamily="34" charset="-120"/>
              </a:rPr>
              <a:t>Interpretation: </a:t>
            </a:r>
            <a:r>
              <a:rPr lang="en-US" sz="1400" dirty="0">
                <a:solidFill>
                  <a:srgbClr val="5B6770"/>
                </a:solidFill>
                <a:latin typeface="Aptos" pitchFamily="34" charset="0"/>
                <a:ea typeface="Aptos" pitchFamily="34" charset="-122"/>
                <a:cs typeface="Aptos" pitchFamily="34" charset="-120"/>
              </a:rPr>
              <a:t>2020 shows a structural demand shock consistent with COVID-driven e-commerce and delivery demand. The 2021 decline suggests normalization after the peak..</a:t>
            </a:r>
            <a:endParaRPr lang="en-US" sz="1400" dirty="0"/>
          </a:p>
        </p:txBody>
      </p:sp>
      <p:sp>
        <p:nvSpPr>
          <p:cNvPr id="18" name="Text 15"/>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b="1" dirty="0">
                <a:solidFill>
                  <a:srgbClr val="0B1F3A"/>
                </a:solidFill>
                <a:latin typeface="Aptos" pitchFamily="34" charset="0"/>
                <a:ea typeface="Aptos" pitchFamily="34" charset="-122"/>
                <a:cs typeface="Aptos" pitchFamily="34" charset="-120"/>
              </a:rPr>
              <a:t>Key takeaway: 2020 volume was 73.5M parcels, up 39.1% from 2019.</a:t>
            </a:r>
            <a:endParaRPr lang="en-US" dirty="0"/>
          </a:p>
        </p:txBody>
      </p:sp>
      <p:sp>
        <p:nvSpPr>
          <p:cNvPr id="19" name="TextBox 18"/>
          <p:cNvSpPr txBox="1"/>
          <p:nvPr/>
        </p:nvSpPr>
        <p:spPr>
          <a:xfrm>
            <a:off x="10692000" y="6358000"/>
            <a:ext cx="1400000" cy="300000"/>
          </a:xfrm>
          <a:prstGeom prst="rect">
            <a:avLst/>
          </a:prstGeom>
          <a:noFill/>
        </p:spPr>
        <p:txBody>
          <a:bodyPr wrap="none">
            <a:spAutoFit/>
          </a:bodyPr>
          <a:lstStyle/>
          <a:p>
            <a:r>
              <a:t>5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9331"/>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Weekly trend: the COVID impact begins around Week 12</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The divergence between 2019 and 2020 becomes clear after the lockdown period.</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pic>
        <p:nvPicPr>
          <p:cNvPr id="9" name="Image 0" descr="/mnt/data/extracted_assets/cell20_out0.png"/>
          <p:cNvPicPr>
            <a:picLocks noChangeAspect="1"/>
          </p:cNvPicPr>
          <p:nvPr/>
        </p:nvPicPr>
        <p:blipFill>
          <a:blip r:embed="rId3"/>
          <a:stretch>
            <a:fillRect/>
          </a:stretch>
        </p:blipFill>
        <p:spPr>
          <a:xfrm>
            <a:off x="61422" y="1792224"/>
            <a:ext cx="7555268" cy="3749040"/>
          </a:xfrm>
          <a:prstGeom prst="rect">
            <a:avLst/>
          </a:prstGeom>
        </p:spPr>
      </p:pic>
      <p:sp>
        <p:nvSpPr>
          <p:cNvPr id="10" name="Text 7"/>
          <p:cNvSpPr/>
          <p:nvPr/>
        </p:nvSpPr>
        <p:spPr>
          <a:xfrm>
            <a:off x="7810656" y="1791103"/>
            <a:ext cx="3200400" cy="274320"/>
          </a:xfrm>
          <a:prstGeom prst="rect">
            <a:avLst/>
          </a:prstGeom>
          <a:noFill/>
          <a:ln/>
        </p:spPr>
        <p:txBody>
          <a:bodyPr wrap="square" lIns="508" tIns="508" rIns="508" bIns="508" rtlCol="0" anchor="t">
            <a:noAutofit/>
          </a:bodyPr>
          <a:lstStyle/>
          <a:p>
            <a:pPr marL="0" indent="0" algn="l">
              <a:buNone/>
            </a:pPr>
            <a:r>
              <a:rPr lang="en-US" sz="2000" b="1" dirty="0">
                <a:solidFill>
                  <a:srgbClr val="0B1F3A"/>
                </a:solidFill>
                <a:latin typeface="Aptos" pitchFamily="34" charset="0"/>
                <a:ea typeface="Aptos" pitchFamily="34" charset="-122"/>
                <a:cs typeface="Aptos" pitchFamily="34" charset="-120"/>
              </a:rPr>
              <a:t>Evidence around onset</a:t>
            </a:r>
            <a:endParaRPr lang="en-US" sz="2000" dirty="0"/>
          </a:p>
        </p:txBody>
      </p:sp>
      <p:sp>
        <p:nvSpPr>
          <p:cNvPr id="11" name="Text 8"/>
          <p:cNvSpPr/>
          <p:nvPr/>
        </p:nvSpPr>
        <p:spPr>
          <a:xfrm>
            <a:off x="7818120" y="2331720"/>
            <a:ext cx="594360" cy="301752"/>
          </a:xfrm>
          <a:prstGeom prst="roundRect">
            <a:avLst/>
          </a:prstGeom>
          <a:solidFill>
            <a:srgbClr val="00A6A6"/>
          </a:solidFill>
          <a:ln>
            <a:solidFill>
              <a:srgbClr val="00A6A6"/>
            </a:solidFill>
          </a:ln>
        </p:spPr>
        <p:txBody>
          <a:bodyPr wrap="square" lIns="254" tIns="254" rIns="254" bIns="254"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W12</a:t>
            </a:r>
            <a:endParaRPr lang="en-US" sz="1400" dirty="0"/>
          </a:p>
        </p:txBody>
      </p:sp>
      <p:sp>
        <p:nvSpPr>
          <p:cNvPr id="12" name="Text 9"/>
          <p:cNvSpPr/>
          <p:nvPr/>
        </p:nvSpPr>
        <p:spPr>
          <a:xfrm>
            <a:off x="8549640" y="2295144"/>
            <a:ext cx="960120" cy="256032"/>
          </a:xfrm>
          <a:prstGeom prst="rect">
            <a:avLst/>
          </a:prstGeom>
          <a:noFill/>
          <a:ln/>
        </p:spPr>
        <p:txBody>
          <a:bodyPr wrap="square" lIns="508" tIns="508" rIns="508" bIns="508" rtlCol="0" anchor="t">
            <a:noAutofit/>
          </a:bodyPr>
          <a:lstStyle/>
          <a:p>
            <a:pPr marL="0" indent="0" algn="l">
              <a:buNone/>
            </a:pPr>
            <a:r>
              <a:rPr lang="en-US" sz="2000" b="1" dirty="0">
                <a:solidFill>
                  <a:srgbClr val="00A6A6"/>
                </a:solidFill>
                <a:latin typeface="Aptos" pitchFamily="34" charset="0"/>
                <a:ea typeface="Aptos" pitchFamily="34" charset="-122"/>
                <a:cs typeface="Aptos" pitchFamily="34" charset="-120"/>
              </a:rPr>
              <a:t>+11.9%</a:t>
            </a:r>
            <a:endParaRPr lang="en-US" sz="2000" dirty="0"/>
          </a:p>
        </p:txBody>
      </p:sp>
      <p:sp>
        <p:nvSpPr>
          <p:cNvPr id="13" name="Text 10"/>
          <p:cNvSpPr/>
          <p:nvPr/>
        </p:nvSpPr>
        <p:spPr>
          <a:xfrm>
            <a:off x="9852198" y="2350008"/>
            <a:ext cx="1554480" cy="228600"/>
          </a:xfrm>
          <a:prstGeom prst="rect">
            <a:avLst/>
          </a:prstGeom>
          <a:noFill/>
          <a:ln/>
        </p:spPr>
        <p:txBody>
          <a:bodyPr wrap="square" lIns="508" tIns="508" rIns="508" bIns="508" rtlCol="0" anchor="t">
            <a:normAutofit/>
          </a:bodyPr>
          <a:lstStyle/>
          <a:p>
            <a:pPr marL="0" indent="0" algn="l">
              <a:buNone/>
            </a:pPr>
            <a:r>
              <a:rPr lang="en-US" sz="1200" dirty="0">
                <a:solidFill>
                  <a:srgbClr val="5B6770"/>
                </a:solidFill>
                <a:latin typeface="Aptos" pitchFamily="34" charset="0"/>
                <a:ea typeface="Aptos" pitchFamily="34" charset="-122"/>
                <a:cs typeface="Aptos" pitchFamily="34" charset="-120"/>
              </a:rPr>
              <a:t>COVID onset marker</a:t>
            </a:r>
            <a:endParaRPr lang="en-US" sz="1200" dirty="0"/>
          </a:p>
        </p:txBody>
      </p:sp>
      <p:sp>
        <p:nvSpPr>
          <p:cNvPr id="14" name="Text 11"/>
          <p:cNvSpPr/>
          <p:nvPr/>
        </p:nvSpPr>
        <p:spPr>
          <a:xfrm>
            <a:off x="7818120" y="2990088"/>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W14</a:t>
            </a:r>
            <a:endParaRPr lang="en-US" sz="1400" dirty="0"/>
          </a:p>
        </p:txBody>
      </p:sp>
      <p:sp>
        <p:nvSpPr>
          <p:cNvPr id="15" name="Text 12"/>
          <p:cNvSpPr/>
          <p:nvPr/>
        </p:nvSpPr>
        <p:spPr>
          <a:xfrm>
            <a:off x="8549640" y="2953512"/>
            <a:ext cx="960120" cy="256032"/>
          </a:xfrm>
          <a:prstGeom prst="rect">
            <a:avLst/>
          </a:prstGeom>
          <a:noFill/>
          <a:ln/>
        </p:spPr>
        <p:txBody>
          <a:bodyPr wrap="square" lIns="508" tIns="508" rIns="508" bIns="508" rtlCol="0" anchor="t">
            <a:noAutofit/>
          </a:bodyPr>
          <a:lstStyle/>
          <a:p>
            <a:pPr marL="0" indent="0" algn="l">
              <a:buNone/>
            </a:pPr>
            <a:r>
              <a:rPr lang="en-US" sz="2000" b="1" dirty="0">
                <a:solidFill>
                  <a:srgbClr val="F28C28"/>
                </a:solidFill>
                <a:latin typeface="Aptos" pitchFamily="34" charset="0"/>
                <a:ea typeface="Aptos" pitchFamily="34" charset="-122"/>
                <a:cs typeface="Aptos" pitchFamily="34" charset="-120"/>
              </a:rPr>
              <a:t>+64.6%</a:t>
            </a:r>
            <a:endParaRPr lang="en-US" sz="2000" dirty="0"/>
          </a:p>
        </p:txBody>
      </p:sp>
      <p:sp>
        <p:nvSpPr>
          <p:cNvPr id="16" name="Text 13"/>
          <p:cNvSpPr/>
          <p:nvPr/>
        </p:nvSpPr>
        <p:spPr>
          <a:xfrm>
            <a:off x="9852198" y="3008376"/>
            <a:ext cx="1554480" cy="228600"/>
          </a:xfrm>
          <a:prstGeom prst="rect">
            <a:avLst/>
          </a:prstGeom>
          <a:noFill/>
          <a:ln/>
        </p:spPr>
        <p:txBody>
          <a:bodyPr wrap="square" lIns="508" tIns="508" rIns="508" bIns="508" rtlCol="0" anchor="t">
            <a:normAutofit/>
          </a:bodyPr>
          <a:lstStyle/>
          <a:p>
            <a:pPr marL="0" indent="0" algn="l">
              <a:buNone/>
            </a:pPr>
            <a:r>
              <a:rPr lang="en-US" sz="1200" dirty="0">
                <a:solidFill>
                  <a:srgbClr val="5B6770"/>
                </a:solidFill>
                <a:latin typeface="Aptos" pitchFamily="34" charset="0"/>
                <a:ea typeface="Aptos" pitchFamily="34" charset="-122"/>
                <a:cs typeface="Aptos" pitchFamily="34" charset="-120"/>
              </a:rPr>
              <a:t>Sharp acceleration</a:t>
            </a:r>
            <a:endParaRPr lang="en-US" sz="1200" dirty="0"/>
          </a:p>
        </p:txBody>
      </p:sp>
      <p:sp>
        <p:nvSpPr>
          <p:cNvPr id="17" name="Text 14"/>
          <p:cNvSpPr/>
          <p:nvPr/>
        </p:nvSpPr>
        <p:spPr>
          <a:xfrm>
            <a:off x="7818120" y="3648456"/>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W16</a:t>
            </a:r>
            <a:endParaRPr lang="en-US" sz="1400" dirty="0"/>
          </a:p>
        </p:txBody>
      </p:sp>
      <p:sp>
        <p:nvSpPr>
          <p:cNvPr id="18" name="Text 15"/>
          <p:cNvSpPr/>
          <p:nvPr/>
        </p:nvSpPr>
        <p:spPr>
          <a:xfrm>
            <a:off x="8549640" y="3611880"/>
            <a:ext cx="1107544" cy="301752"/>
          </a:xfrm>
          <a:prstGeom prst="rect">
            <a:avLst/>
          </a:prstGeom>
          <a:noFill/>
          <a:ln/>
        </p:spPr>
        <p:txBody>
          <a:bodyPr wrap="square" lIns="508" tIns="508" rIns="508" bIns="508" rtlCol="0" anchor="t">
            <a:noAutofit/>
          </a:bodyPr>
          <a:lstStyle/>
          <a:p>
            <a:pPr marL="0" indent="0" algn="l">
              <a:buNone/>
            </a:pPr>
            <a:r>
              <a:rPr lang="en-US" sz="2000" b="1" dirty="0">
                <a:solidFill>
                  <a:srgbClr val="F28C28"/>
                </a:solidFill>
                <a:latin typeface="Aptos" pitchFamily="34" charset="0"/>
                <a:ea typeface="Aptos" pitchFamily="34" charset="-122"/>
                <a:cs typeface="Aptos" pitchFamily="34" charset="-120"/>
              </a:rPr>
              <a:t>+127.9%</a:t>
            </a:r>
            <a:endParaRPr lang="en-US" sz="2000" dirty="0"/>
          </a:p>
        </p:txBody>
      </p:sp>
      <p:sp>
        <p:nvSpPr>
          <p:cNvPr id="19" name="Text 16"/>
          <p:cNvSpPr/>
          <p:nvPr/>
        </p:nvSpPr>
        <p:spPr>
          <a:xfrm>
            <a:off x="9852198" y="3666744"/>
            <a:ext cx="1554480" cy="228600"/>
          </a:xfrm>
          <a:prstGeom prst="rect">
            <a:avLst/>
          </a:prstGeom>
          <a:noFill/>
          <a:ln/>
        </p:spPr>
        <p:txBody>
          <a:bodyPr wrap="square" lIns="508" tIns="508" rIns="508" bIns="508" rtlCol="0" anchor="t">
            <a:normAutofit fontScale="92500"/>
          </a:bodyPr>
          <a:lstStyle/>
          <a:p>
            <a:pPr marL="0" indent="0" algn="l">
              <a:buNone/>
            </a:pPr>
            <a:r>
              <a:rPr lang="en-US" sz="1200" dirty="0">
                <a:solidFill>
                  <a:srgbClr val="5B6770"/>
                </a:solidFill>
                <a:latin typeface="Aptos" pitchFamily="34" charset="0"/>
                <a:ea typeface="Aptos" pitchFamily="34" charset="-122"/>
                <a:cs typeface="Aptos" pitchFamily="34" charset="-120"/>
              </a:rPr>
              <a:t>Largest early divergence</a:t>
            </a:r>
            <a:endParaRPr lang="en-US" sz="1200" dirty="0"/>
          </a:p>
        </p:txBody>
      </p:sp>
      <p:sp>
        <p:nvSpPr>
          <p:cNvPr id="20" name="Text 17"/>
          <p:cNvSpPr/>
          <p:nvPr/>
        </p:nvSpPr>
        <p:spPr>
          <a:xfrm>
            <a:off x="7818120" y="4306824"/>
            <a:ext cx="594360" cy="301752"/>
          </a:xfrm>
          <a:prstGeom prst="roundRect">
            <a:avLst/>
          </a:prstGeom>
          <a:solidFill>
            <a:srgbClr val="145DA0"/>
          </a:solidFill>
          <a:ln>
            <a:solidFill>
              <a:srgbClr val="145DA0"/>
            </a:solidFill>
          </a:ln>
        </p:spPr>
        <p:txBody>
          <a:bodyPr wrap="square" lIns="254" tIns="254" rIns="254" bIns="254"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W20</a:t>
            </a:r>
            <a:endParaRPr lang="en-US" sz="1400" dirty="0"/>
          </a:p>
        </p:txBody>
      </p:sp>
      <p:sp>
        <p:nvSpPr>
          <p:cNvPr id="21" name="Text 18"/>
          <p:cNvSpPr/>
          <p:nvPr/>
        </p:nvSpPr>
        <p:spPr>
          <a:xfrm>
            <a:off x="8549640" y="4270248"/>
            <a:ext cx="1172858" cy="338328"/>
          </a:xfrm>
          <a:prstGeom prst="rect">
            <a:avLst/>
          </a:prstGeom>
          <a:noFill/>
          <a:ln/>
        </p:spPr>
        <p:txBody>
          <a:bodyPr wrap="square" lIns="508" tIns="508" rIns="508" bIns="508" rtlCol="0" anchor="t">
            <a:noAutofit/>
          </a:bodyPr>
          <a:lstStyle/>
          <a:p>
            <a:pPr marL="0" indent="0" algn="l">
              <a:buNone/>
            </a:pPr>
            <a:r>
              <a:rPr lang="en-US" sz="2000" b="1" dirty="0">
                <a:solidFill>
                  <a:srgbClr val="F28C28"/>
                </a:solidFill>
                <a:latin typeface="Aptos" pitchFamily="34" charset="0"/>
                <a:ea typeface="Aptos" pitchFamily="34" charset="-122"/>
                <a:cs typeface="Aptos" pitchFamily="34" charset="-120"/>
              </a:rPr>
              <a:t>+115.4%</a:t>
            </a:r>
            <a:endParaRPr lang="en-US" sz="2000" dirty="0"/>
          </a:p>
        </p:txBody>
      </p:sp>
      <p:sp>
        <p:nvSpPr>
          <p:cNvPr id="22" name="Text 19"/>
          <p:cNvSpPr/>
          <p:nvPr/>
        </p:nvSpPr>
        <p:spPr>
          <a:xfrm>
            <a:off x="9852198" y="4325112"/>
            <a:ext cx="1554480" cy="228600"/>
          </a:xfrm>
          <a:prstGeom prst="rect">
            <a:avLst/>
          </a:prstGeom>
          <a:noFill/>
          <a:ln/>
        </p:spPr>
        <p:txBody>
          <a:bodyPr wrap="square" lIns="508" tIns="508" rIns="508" bIns="508" rtlCol="0" anchor="t">
            <a:normAutofit fontScale="92500"/>
          </a:bodyPr>
          <a:lstStyle/>
          <a:p>
            <a:pPr marL="0" indent="0" algn="l">
              <a:buNone/>
            </a:pPr>
            <a:r>
              <a:rPr lang="en-US" sz="1100" dirty="0">
                <a:solidFill>
                  <a:srgbClr val="5B6770"/>
                </a:solidFill>
                <a:latin typeface="Aptos" pitchFamily="34" charset="0"/>
                <a:ea typeface="Aptos" pitchFamily="34" charset="-122"/>
                <a:cs typeface="Aptos" pitchFamily="34" charset="-120"/>
              </a:rPr>
              <a:t>Demand remained elevated</a:t>
            </a:r>
            <a:endParaRPr lang="en-US" sz="1100" dirty="0"/>
          </a:p>
        </p:txBody>
      </p:sp>
      <p:sp>
        <p:nvSpPr>
          <p:cNvPr id="23" name="Text 20"/>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600" b="1" dirty="0">
                <a:solidFill>
                  <a:srgbClr val="0B1F3A"/>
                </a:solidFill>
                <a:latin typeface="Aptos" pitchFamily="34" charset="0"/>
                <a:ea typeface="Aptos" pitchFamily="34" charset="-122"/>
                <a:cs typeface="Aptos" pitchFamily="34" charset="-120"/>
              </a:rPr>
              <a:t>Key takeaway: After Week 12, 2020 volumes stay consistently above 2019, signaling a sustained behavioral shift.</a:t>
            </a:r>
            <a:endParaRPr lang="en-US" sz="1600" dirty="0"/>
          </a:p>
        </p:txBody>
      </p:sp>
      <p:sp>
        <p:nvSpPr>
          <p:cNvPr id="24" name="TextBox 23"/>
          <p:cNvSpPr txBox="1"/>
          <p:nvPr/>
        </p:nvSpPr>
        <p:spPr>
          <a:xfrm>
            <a:off x="10692000" y="6358000"/>
            <a:ext cx="1400000" cy="300000"/>
          </a:xfrm>
          <a:prstGeom prst="rect">
            <a:avLst/>
          </a:prstGeom>
          <a:noFill/>
        </p:spPr>
        <p:txBody>
          <a:bodyPr wrap="none">
            <a:spAutoFit/>
          </a:bodyPr>
          <a:lstStyle/>
          <a:p>
            <a:r>
              <a:t>6 /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Peak season: 2020 outperformed 2019 by 26.5%</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Holiday-season parcel demand intensified during the pandemic year.</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pic>
        <p:nvPicPr>
          <p:cNvPr id="9" name="Image 0" descr="/mnt/data/extracted_assets/cell31_out1.png"/>
          <p:cNvPicPr>
            <a:picLocks noChangeAspect="1"/>
          </p:cNvPicPr>
          <p:nvPr/>
        </p:nvPicPr>
        <p:blipFill>
          <a:blip r:embed="rId3"/>
          <a:stretch>
            <a:fillRect/>
          </a:stretch>
        </p:blipFill>
        <p:spPr>
          <a:xfrm>
            <a:off x="712214" y="2043405"/>
            <a:ext cx="5996497" cy="3389324"/>
          </a:xfrm>
          <a:prstGeom prst="rect">
            <a:avLst/>
          </a:prstGeom>
        </p:spPr>
      </p:pic>
      <p:sp>
        <p:nvSpPr>
          <p:cNvPr id="10" name="Text 7"/>
          <p:cNvSpPr/>
          <p:nvPr/>
        </p:nvSpPr>
        <p:spPr>
          <a:xfrm>
            <a:off x="7211631" y="1828800"/>
            <a:ext cx="3383280" cy="352044"/>
          </a:xfrm>
          <a:prstGeom prst="rect">
            <a:avLst/>
          </a:prstGeom>
          <a:noFill/>
          <a:ln/>
        </p:spPr>
        <p:txBody>
          <a:bodyPr wrap="square" lIns="127" tIns="127" rIns="127" bIns="127" rtlCol="0" anchor="t">
            <a:noAutofit/>
          </a:bodyPr>
          <a:lstStyle/>
          <a:p>
            <a:pPr marL="0" indent="0" algn="l">
              <a:buNone/>
            </a:pPr>
            <a:r>
              <a:rPr lang="en-US" sz="3200" b="1" dirty="0">
                <a:solidFill>
                  <a:srgbClr val="00A6A6"/>
                </a:solidFill>
                <a:latin typeface="Aptos Display" pitchFamily="34" charset="0"/>
                <a:ea typeface="Aptos Display" pitchFamily="34" charset="-122"/>
                <a:cs typeface="Aptos Display" pitchFamily="34" charset="-120"/>
              </a:rPr>
              <a:t>15.4M</a:t>
            </a:r>
            <a:endParaRPr lang="en-US" sz="3200" dirty="0"/>
          </a:p>
        </p:txBody>
      </p:sp>
      <p:sp>
        <p:nvSpPr>
          <p:cNvPr id="11" name="Text 8"/>
          <p:cNvSpPr/>
          <p:nvPr/>
        </p:nvSpPr>
        <p:spPr>
          <a:xfrm>
            <a:off x="7211631" y="2211019"/>
            <a:ext cx="3383280" cy="241402"/>
          </a:xfrm>
          <a:prstGeom prst="rect">
            <a:avLst/>
          </a:prstGeom>
          <a:noFill/>
          <a:ln/>
        </p:spPr>
        <p:txBody>
          <a:bodyPr wrap="square" lIns="127" tIns="127" rIns="127" bIns="127" rtlCol="0" anchor="t">
            <a:noAutofit/>
          </a:bodyPr>
          <a:lstStyle/>
          <a:p>
            <a:pPr marL="0" indent="0" algn="l">
              <a:buNone/>
            </a:pPr>
            <a:r>
              <a:rPr lang="en-US" sz="1600" b="1" dirty="0">
                <a:solidFill>
                  <a:srgbClr val="0B1F3A"/>
                </a:solidFill>
                <a:latin typeface="Aptos" pitchFamily="34" charset="0"/>
                <a:ea typeface="Aptos" pitchFamily="34" charset="-122"/>
                <a:cs typeface="Aptos" pitchFamily="34" charset="-120"/>
              </a:rPr>
              <a:t>2019 peak season</a:t>
            </a:r>
            <a:endParaRPr lang="en-US" sz="1600" dirty="0"/>
          </a:p>
        </p:txBody>
      </p:sp>
      <p:sp>
        <p:nvSpPr>
          <p:cNvPr id="12" name="Text 9"/>
          <p:cNvSpPr/>
          <p:nvPr/>
        </p:nvSpPr>
        <p:spPr>
          <a:xfrm>
            <a:off x="7211631" y="2492654"/>
            <a:ext cx="3383280" cy="301752"/>
          </a:xfrm>
          <a:prstGeom prst="rect">
            <a:avLst/>
          </a:prstGeom>
          <a:noFill/>
          <a:ln/>
        </p:spPr>
        <p:txBody>
          <a:bodyPr wrap="square" lIns="127" tIns="127" rIns="127" bIns="127" rtlCol="0" anchor="t">
            <a:normAutofit/>
          </a:bodyPr>
          <a:lstStyle/>
          <a:p>
            <a:pPr marL="0" indent="0" algn="l">
              <a:buNone/>
            </a:pPr>
            <a:r>
              <a:rPr lang="en-US" sz="1100" dirty="0">
                <a:solidFill>
                  <a:srgbClr val="5B6770"/>
                </a:solidFill>
                <a:latin typeface="Aptos" pitchFamily="34" charset="0"/>
                <a:ea typeface="Aptos" pitchFamily="34" charset="-122"/>
                <a:cs typeface="Aptos" pitchFamily="34" charset="-120"/>
              </a:rPr>
              <a:t>Weeks 45–53 plus following weeks 1–3</a:t>
            </a:r>
            <a:endParaRPr lang="en-US" sz="1100" dirty="0"/>
          </a:p>
        </p:txBody>
      </p:sp>
      <p:sp>
        <p:nvSpPr>
          <p:cNvPr id="13" name="Text 10"/>
          <p:cNvSpPr/>
          <p:nvPr/>
        </p:nvSpPr>
        <p:spPr>
          <a:xfrm>
            <a:off x="7211631" y="3090672"/>
            <a:ext cx="3383280" cy="352044"/>
          </a:xfrm>
          <a:prstGeom prst="rect">
            <a:avLst/>
          </a:prstGeom>
          <a:noFill/>
          <a:ln/>
        </p:spPr>
        <p:txBody>
          <a:bodyPr wrap="square" lIns="127" tIns="127" rIns="127" bIns="127" rtlCol="0" anchor="t">
            <a:noAutofit/>
          </a:bodyPr>
          <a:lstStyle/>
          <a:p>
            <a:pPr marL="0" indent="0" algn="l">
              <a:buNone/>
            </a:pPr>
            <a:r>
              <a:rPr lang="en-US" sz="3200" b="1" dirty="0">
                <a:solidFill>
                  <a:srgbClr val="145DA0"/>
                </a:solidFill>
                <a:latin typeface="Aptos Display" pitchFamily="34" charset="0"/>
                <a:ea typeface="Aptos Display" pitchFamily="34" charset="-122"/>
                <a:cs typeface="Aptos Display" pitchFamily="34" charset="-120"/>
              </a:rPr>
              <a:t>19.4M</a:t>
            </a:r>
            <a:endParaRPr lang="en-US" sz="3200" dirty="0"/>
          </a:p>
        </p:txBody>
      </p:sp>
      <p:sp>
        <p:nvSpPr>
          <p:cNvPr id="14" name="Text 11"/>
          <p:cNvSpPr/>
          <p:nvPr/>
        </p:nvSpPr>
        <p:spPr>
          <a:xfrm>
            <a:off x="7211631" y="3472891"/>
            <a:ext cx="3383280" cy="241402"/>
          </a:xfrm>
          <a:prstGeom prst="rect">
            <a:avLst/>
          </a:prstGeom>
          <a:noFill/>
          <a:ln/>
        </p:spPr>
        <p:txBody>
          <a:bodyPr wrap="square" lIns="127" tIns="127" rIns="127" bIns="127" rtlCol="0" anchor="t">
            <a:noAutofit/>
          </a:bodyPr>
          <a:lstStyle/>
          <a:p>
            <a:pPr marL="0" indent="0" algn="l">
              <a:buNone/>
            </a:pPr>
            <a:r>
              <a:rPr lang="en-US" sz="1600" b="1" dirty="0">
                <a:solidFill>
                  <a:srgbClr val="0B1F3A"/>
                </a:solidFill>
                <a:latin typeface="Aptos" pitchFamily="34" charset="0"/>
                <a:ea typeface="Aptos" pitchFamily="34" charset="-122"/>
                <a:cs typeface="Aptos" pitchFamily="34" charset="-120"/>
              </a:rPr>
              <a:t>2020 peak season</a:t>
            </a:r>
            <a:endParaRPr lang="en-US" sz="1600" dirty="0"/>
          </a:p>
        </p:txBody>
      </p:sp>
      <p:sp>
        <p:nvSpPr>
          <p:cNvPr id="15" name="Text 12"/>
          <p:cNvSpPr/>
          <p:nvPr/>
        </p:nvSpPr>
        <p:spPr>
          <a:xfrm>
            <a:off x="7211631" y="3754526"/>
            <a:ext cx="3383280" cy="301752"/>
          </a:xfrm>
          <a:prstGeom prst="rect">
            <a:avLst/>
          </a:prstGeom>
          <a:noFill/>
          <a:ln/>
        </p:spPr>
        <p:txBody>
          <a:bodyPr wrap="square" lIns="127" tIns="127" rIns="127" bIns="127" rtlCol="0" anchor="t">
            <a:normAutofit/>
          </a:bodyPr>
          <a:lstStyle/>
          <a:p>
            <a:pPr marL="0" indent="0" algn="l">
              <a:buNone/>
            </a:pPr>
            <a:r>
              <a:rPr lang="en-US" sz="1100" dirty="0">
                <a:solidFill>
                  <a:srgbClr val="5B6770"/>
                </a:solidFill>
                <a:latin typeface="Aptos" pitchFamily="34" charset="0"/>
                <a:ea typeface="Aptos" pitchFamily="34" charset="-122"/>
                <a:cs typeface="Aptos" pitchFamily="34" charset="-120"/>
              </a:rPr>
              <a:t>Same cross-year peak-window definition</a:t>
            </a:r>
            <a:endParaRPr lang="en-US" sz="1100" dirty="0"/>
          </a:p>
        </p:txBody>
      </p:sp>
      <p:sp>
        <p:nvSpPr>
          <p:cNvPr id="16" name="Text 13"/>
          <p:cNvSpPr/>
          <p:nvPr/>
        </p:nvSpPr>
        <p:spPr>
          <a:xfrm>
            <a:off x="7211631" y="4352544"/>
            <a:ext cx="3383280" cy="352044"/>
          </a:xfrm>
          <a:prstGeom prst="rect">
            <a:avLst/>
          </a:prstGeom>
          <a:noFill/>
          <a:ln/>
        </p:spPr>
        <p:txBody>
          <a:bodyPr wrap="square" lIns="127" tIns="127" rIns="127" bIns="127" rtlCol="0" anchor="t">
            <a:noAutofit/>
          </a:bodyPr>
          <a:lstStyle/>
          <a:p>
            <a:pPr marL="0" indent="0" algn="l">
              <a:buNone/>
            </a:pPr>
            <a:r>
              <a:rPr lang="en-US" sz="3200" b="1" dirty="0">
                <a:solidFill>
                  <a:srgbClr val="F28C28"/>
                </a:solidFill>
                <a:latin typeface="Aptos Display" pitchFamily="34" charset="0"/>
                <a:ea typeface="Aptos Display" pitchFamily="34" charset="-122"/>
                <a:cs typeface="Aptos Display" pitchFamily="34" charset="-120"/>
              </a:rPr>
              <a:t>+26.5%</a:t>
            </a:r>
            <a:endParaRPr lang="en-US" sz="3200" dirty="0"/>
          </a:p>
        </p:txBody>
      </p:sp>
      <p:sp>
        <p:nvSpPr>
          <p:cNvPr id="17" name="Text 14"/>
          <p:cNvSpPr/>
          <p:nvPr/>
        </p:nvSpPr>
        <p:spPr>
          <a:xfrm>
            <a:off x="7211631" y="4734763"/>
            <a:ext cx="3383280" cy="241402"/>
          </a:xfrm>
          <a:prstGeom prst="rect">
            <a:avLst/>
          </a:prstGeom>
          <a:noFill/>
          <a:ln/>
        </p:spPr>
        <p:txBody>
          <a:bodyPr wrap="square" lIns="127" tIns="127" rIns="127" bIns="127" rtlCol="0" anchor="t">
            <a:noAutofit/>
          </a:bodyPr>
          <a:lstStyle/>
          <a:p>
            <a:pPr marL="0" indent="0" algn="l">
              <a:buNone/>
            </a:pPr>
            <a:r>
              <a:rPr lang="en-US" sz="1600" b="1" dirty="0">
                <a:solidFill>
                  <a:srgbClr val="0B1F3A"/>
                </a:solidFill>
                <a:latin typeface="Aptos" pitchFamily="34" charset="0"/>
                <a:ea typeface="Aptos" pitchFamily="34" charset="-122"/>
                <a:cs typeface="Aptos" pitchFamily="34" charset="-120"/>
              </a:rPr>
              <a:t>Peak season change</a:t>
            </a:r>
            <a:endParaRPr lang="en-US" sz="1600" dirty="0"/>
          </a:p>
        </p:txBody>
      </p:sp>
      <p:sp>
        <p:nvSpPr>
          <p:cNvPr id="18" name="Text 15"/>
          <p:cNvSpPr/>
          <p:nvPr/>
        </p:nvSpPr>
        <p:spPr>
          <a:xfrm>
            <a:off x="7211631" y="5016398"/>
            <a:ext cx="3383280" cy="301752"/>
          </a:xfrm>
          <a:prstGeom prst="rect">
            <a:avLst/>
          </a:prstGeom>
          <a:noFill/>
          <a:ln/>
        </p:spPr>
        <p:txBody>
          <a:bodyPr wrap="square" lIns="127" tIns="127" rIns="127" bIns="127" rtlCol="0" anchor="t">
            <a:normAutofit/>
          </a:bodyPr>
          <a:lstStyle/>
          <a:p>
            <a:pPr marL="0" indent="0" algn="l">
              <a:buNone/>
            </a:pPr>
            <a:r>
              <a:rPr lang="en-US" sz="1100" dirty="0">
                <a:solidFill>
                  <a:srgbClr val="5B6770"/>
                </a:solidFill>
                <a:latin typeface="Aptos" pitchFamily="34" charset="0"/>
                <a:ea typeface="Aptos" pitchFamily="34" charset="-122"/>
                <a:cs typeface="Aptos" pitchFamily="34" charset="-120"/>
              </a:rPr>
              <a:t>Extra 4.1M parcels vs 2019 peak</a:t>
            </a:r>
            <a:endParaRPr lang="en-US" sz="1100" dirty="0"/>
          </a:p>
        </p:txBody>
      </p:sp>
      <p:sp>
        <p:nvSpPr>
          <p:cNvPr id="19" name="Text 16"/>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fontScale="85000" lnSpcReduction="10000"/>
          </a:bodyPr>
          <a:lstStyle/>
          <a:p>
            <a:pPr marL="0" indent="0">
              <a:buNone/>
            </a:pPr>
            <a:r>
              <a:rPr lang="en-US" sz="1600" b="1" dirty="0">
                <a:solidFill>
                  <a:srgbClr val="0B1F3A"/>
                </a:solidFill>
                <a:latin typeface="Aptos" pitchFamily="34" charset="0"/>
                <a:ea typeface="Aptos" pitchFamily="34" charset="-122"/>
                <a:cs typeface="Aptos" pitchFamily="34" charset="-120"/>
              </a:rPr>
              <a:t>Key takeaway: COVID amplified the already-critical peak season, creating higher operational pressure and capacity requirements.</a:t>
            </a:r>
            <a:endParaRPr lang="en-US" sz="1600" dirty="0"/>
          </a:p>
        </p:txBody>
      </p:sp>
      <p:sp>
        <p:nvSpPr>
          <p:cNvPr id="20" name="TextBox 19"/>
          <p:cNvSpPr txBox="1"/>
          <p:nvPr/>
        </p:nvSpPr>
        <p:spPr>
          <a:xfrm>
            <a:off x="10692000" y="6358000"/>
            <a:ext cx="1400000" cy="300000"/>
          </a:xfrm>
          <a:prstGeom prst="rect">
            <a:avLst/>
          </a:prstGeom>
          <a:noFill/>
        </p:spPr>
        <p:txBody>
          <a:bodyPr wrap="none">
            <a:spAutoFit/>
          </a:bodyPr>
          <a:lstStyle/>
          <a:p>
            <a:r>
              <a:t>7 / 16</a:t>
            </a:r>
          </a:p>
        </p:txBody>
      </p:sp>
      <p:cxnSp>
        <p:nvCxnSpPr>
          <p:cNvPr id="22" name="Straight Connector 21">
            <a:extLst>
              <a:ext uri="{FF2B5EF4-FFF2-40B4-BE49-F238E27FC236}">
                <a16:creationId xmlns:a16="http://schemas.microsoft.com/office/drawing/2014/main" id="{7955C8B2-7E97-555E-180C-852001DC09EB}"/>
              </a:ext>
            </a:extLst>
          </p:cNvPr>
          <p:cNvCxnSpPr/>
          <p:nvPr/>
        </p:nvCxnSpPr>
        <p:spPr>
          <a:xfrm>
            <a:off x="3536301" y="2883159"/>
            <a:ext cx="134360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68AC355-0FBA-AC1F-CEF0-894394B3ED1C}"/>
              </a:ext>
            </a:extLst>
          </p:cNvPr>
          <p:cNvCxnSpPr/>
          <p:nvPr/>
        </p:nvCxnSpPr>
        <p:spPr>
          <a:xfrm>
            <a:off x="2917369" y="3362131"/>
            <a:ext cx="134360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BA04790-6B6E-2888-CAB5-DF7641A25BCB}"/>
              </a:ext>
            </a:extLst>
          </p:cNvPr>
          <p:cNvCxnSpPr/>
          <p:nvPr/>
        </p:nvCxnSpPr>
        <p:spPr>
          <a:xfrm>
            <a:off x="3900196" y="2883159"/>
            <a:ext cx="0" cy="478972"/>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 9">
            <a:extLst>
              <a:ext uri="{FF2B5EF4-FFF2-40B4-BE49-F238E27FC236}">
                <a16:creationId xmlns:a16="http://schemas.microsoft.com/office/drawing/2014/main" id="{5C3FB78D-5446-DDBA-19B0-2A0C35C847C5}"/>
              </a:ext>
            </a:extLst>
          </p:cNvPr>
          <p:cNvSpPr/>
          <p:nvPr/>
        </p:nvSpPr>
        <p:spPr>
          <a:xfrm>
            <a:off x="3710468" y="3017756"/>
            <a:ext cx="513185" cy="216733"/>
          </a:xfrm>
          <a:prstGeom prst="rect">
            <a:avLst/>
          </a:prstGeom>
          <a:solidFill>
            <a:schemeClr val="bg1"/>
          </a:solidFill>
          <a:ln/>
        </p:spPr>
        <p:txBody>
          <a:bodyPr wrap="square" lIns="127" tIns="127" rIns="127" bIns="127" rtlCol="0" anchor="t">
            <a:normAutofit/>
          </a:bodyPr>
          <a:lstStyle/>
          <a:p>
            <a:pPr marL="0" indent="0" algn="l">
              <a:buNone/>
            </a:pPr>
            <a:r>
              <a:rPr lang="en-US" sz="1400" dirty="0">
                <a:solidFill>
                  <a:srgbClr val="5B6770"/>
                </a:solidFill>
                <a:latin typeface="Aptos" pitchFamily="34" charset="0"/>
                <a:ea typeface="Aptos" pitchFamily="34" charset="-122"/>
                <a:cs typeface="Aptos" pitchFamily="34" charset="-120"/>
              </a:rPr>
              <a:t>4.1M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8662"/>
            <a:ext cx="12191695" cy="6858000"/>
          </a:xfrm>
          <a:prstGeom prst="rect">
            <a:avLst/>
          </a:prstGeom>
          <a:solidFill>
            <a:srgbClr val="F6F8FB"/>
          </a:solidFill>
          <a:ln w="12700">
            <a:solidFill>
              <a:srgbClr val="FFFFFF">
                <a:alpha val="0"/>
              </a:srgbClr>
            </a:solidFill>
            <a:prstDash val="solid"/>
          </a:ln>
        </p:spPr>
        <p:txBody>
          <a:bodyPr/>
          <a:lstStyle/>
          <a:p>
            <a:endParaRPr lang="en-US" dirty="0"/>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618431"/>
            <a:ext cx="10189080" cy="438912"/>
          </a:xfrm>
          <a:prstGeom prst="rect">
            <a:avLst/>
          </a:prstGeom>
          <a:noFill/>
          <a:ln/>
        </p:spPr>
        <p:txBody>
          <a:bodyPr wrap="square" lIns="508" tIns="508" rIns="508" bIns="508" rtlCol="0" anchor="t">
            <a:noAutofit/>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Impact by customer group: Enterprise dominates volume</a:t>
            </a:r>
            <a:endParaRPr lang="en-US" sz="2900" dirty="0"/>
          </a:p>
        </p:txBody>
      </p:sp>
      <p:sp>
        <p:nvSpPr>
          <p:cNvPr id="6" name="Text 4"/>
          <p:cNvSpPr/>
          <p:nvPr/>
        </p:nvSpPr>
        <p:spPr>
          <a:xfrm>
            <a:off x="521208" y="1028976"/>
            <a:ext cx="8138160" cy="320040"/>
          </a:xfrm>
          <a:prstGeom prst="rect">
            <a:avLst/>
          </a:prstGeom>
          <a:noFill/>
          <a:ln/>
        </p:spPr>
        <p:txBody>
          <a:bodyPr wrap="square" lIns="508" tIns="508" rIns="508" bIns="508" rtlCol="0" anchor="t">
            <a:normAutofit/>
          </a:bodyPr>
          <a:lstStyle/>
          <a:p>
            <a:pPr marL="0" indent="0" algn="l">
              <a:buNone/>
            </a:pPr>
            <a:r>
              <a:rPr lang="en-US" sz="1350" dirty="0">
                <a:solidFill>
                  <a:srgbClr val="5B6770"/>
                </a:solidFill>
                <a:latin typeface="Aptos" pitchFamily="34" charset="0"/>
                <a:ea typeface="Aptos" pitchFamily="34" charset="-122"/>
                <a:cs typeface="Aptos" pitchFamily="34" charset="-120"/>
              </a:rPr>
              <a:t>All groups increased in 2020, but the volume base remains concentrated.</a:t>
            </a: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1000" dirty="0">
                <a:solidFill>
                  <a:srgbClr val="6B7280"/>
                </a:solidFill>
                <a:latin typeface="Aptos" pitchFamily="34" charset="0"/>
                <a:ea typeface="Aptos" pitchFamily="34" charset="-122"/>
                <a:cs typeface="Aptos" pitchFamily="34" charset="-120"/>
              </a:rPr>
              <a:t>Impact of COVID-19 on ABC Company Parcel Business</a:t>
            </a:r>
            <a:endParaRPr lang="en-US" sz="100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sp>
        <p:nvSpPr>
          <p:cNvPr id="10" name="Text 7"/>
          <p:cNvSpPr/>
          <p:nvPr/>
        </p:nvSpPr>
        <p:spPr>
          <a:xfrm>
            <a:off x="7726680" y="1783080"/>
            <a:ext cx="3108960" cy="256032"/>
          </a:xfrm>
          <a:prstGeom prst="rect">
            <a:avLst/>
          </a:prstGeom>
          <a:noFill/>
          <a:ln/>
        </p:spPr>
        <p:txBody>
          <a:bodyPr wrap="square" lIns="508" tIns="508" rIns="508" bIns="508" rtlCol="0" anchor="t">
            <a:noAutofit/>
          </a:bodyPr>
          <a:lstStyle/>
          <a:p>
            <a:pPr marL="0" indent="0" algn="l">
              <a:buNone/>
            </a:pPr>
            <a:r>
              <a:rPr lang="en-US" sz="2000" b="1" dirty="0">
                <a:solidFill>
                  <a:srgbClr val="0B1F3A"/>
                </a:solidFill>
                <a:latin typeface="Aptos" pitchFamily="34" charset="0"/>
                <a:ea typeface="Aptos" pitchFamily="34" charset="-122"/>
                <a:cs typeface="Aptos" pitchFamily="34" charset="-120"/>
              </a:rPr>
              <a:t>Segment interpretation</a:t>
            </a:r>
            <a:endParaRPr lang="en-US" sz="2000" dirty="0"/>
          </a:p>
        </p:txBody>
      </p:sp>
      <p:sp>
        <p:nvSpPr>
          <p:cNvPr id="11" name="Text 8"/>
          <p:cNvSpPr/>
          <p:nvPr/>
        </p:nvSpPr>
        <p:spPr>
          <a:xfrm>
            <a:off x="7818120" y="2240280"/>
            <a:ext cx="1005840" cy="246888"/>
          </a:xfrm>
          <a:prstGeom prst="rect">
            <a:avLst/>
          </a:prstGeom>
          <a:noFill/>
          <a:ln/>
        </p:spPr>
        <p:txBody>
          <a:bodyPr wrap="square" lIns="508" tIns="508" rIns="508" bIns="508" rtlCol="0" anchor="t">
            <a:normAutofit/>
          </a:bodyPr>
          <a:lstStyle/>
          <a:p>
            <a:pPr marL="0" indent="0" algn="l">
              <a:buNone/>
            </a:pPr>
            <a:r>
              <a:rPr lang="en-US" sz="1600" b="1" dirty="0">
                <a:solidFill>
                  <a:srgbClr val="F28C28"/>
                </a:solidFill>
                <a:latin typeface="Aptos" pitchFamily="34" charset="0"/>
                <a:ea typeface="Aptos" pitchFamily="34" charset="-122"/>
                <a:cs typeface="Aptos" pitchFamily="34" charset="-120"/>
              </a:rPr>
              <a:t>Enterprise</a:t>
            </a:r>
            <a:endParaRPr lang="en-US" sz="1600" dirty="0"/>
          </a:p>
        </p:txBody>
      </p:sp>
      <p:sp>
        <p:nvSpPr>
          <p:cNvPr id="12" name="Text 9"/>
          <p:cNvSpPr/>
          <p:nvPr/>
        </p:nvSpPr>
        <p:spPr>
          <a:xfrm>
            <a:off x="9098280" y="2240280"/>
            <a:ext cx="2011680" cy="384048"/>
          </a:xfrm>
          <a:prstGeom prst="rect">
            <a:avLst/>
          </a:prstGeom>
          <a:noFill/>
          <a:ln/>
        </p:spPr>
        <p:txBody>
          <a:bodyPr wrap="square" lIns="508" tIns="508" rIns="508" bIns="508" rtlCol="0" anchor="t">
            <a:normAutofit/>
          </a:bodyPr>
          <a:lstStyle/>
          <a:p>
            <a:pPr marL="0" indent="0" algn="l">
              <a:buNone/>
            </a:pPr>
            <a:r>
              <a:rPr lang="en-US" sz="1200" dirty="0">
                <a:solidFill>
                  <a:srgbClr val="5B6770"/>
                </a:solidFill>
                <a:latin typeface="Aptos" pitchFamily="34" charset="0"/>
                <a:ea typeface="Aptos" pitchFamily="34" charset="-122"/>
                <a:cs typeface="Aptos" pitchFamily="34" charset="-120"/>
              </a:rPr>
              <a:t>Largest total volume and the biggest absolute swing.</a:t>
            </a:r>
            <a:endParaRPr lang="en-US" sz="1200" dirty="0"/>
          </a:p>
        </p:txBody>
      </p:sp>
      <p:sp>
        <p:nvSpPr>
          <p:cNvPr id="13" name="Text 10"/>
          <p:cNvSpPr/>
          <p:nvPr/>
        </p:nvSpPr>
        <p:spPr>
          <a:xfrm>
            <a:off x="7818120" y="2935224"/>
            <a:ext cx="1005840" cy="246888"/>
          </a:xfrm>
          <a:prstGeom prst="rect">
            <a:avLst/>
          </a:prstGeom>
          <a:noFill/>
          <a:ln/>
        </p:spPr>
        <p:txBody>
          <a:bodyPr wrap="square" lIns="508" tIns="508" rIns="508" bIns="508" rtlCol="0" anchor="t">
            <a:normAutofit/>
          </a:bodyPr>
          <a:lstStyle/>
          <a:p>
            <a:pPr marL="0" indent="0" algn="l">
              <a:buNone/>
            </a:pPr>
            <a:r>
              <a:rPr lang="en-US" sz="1600" b="1" dirty="0">
                <a:solidFill>
                  <a:srgbClr val="145DA0"/>
                </a:solidFill>
                <a:latin typeface="Aptos" pitchFamily="34" charset="0"/>
                <a:ea typeface="Aptos" pitchFamily="34" charset="-122"/>
                <a:cs typeface="Aptos" pitchFamily="34" charset="-120"/>
              </a:rPr>
              <a:t>Large</a:t>
            </a:r>
            <a:endParaRPr lang="en-US" sz="1600" dirty="0"/>
          </a:p>
        </p:txBody>
      </p:sp>
      <p:sp>
        <p:nvSpPr>
          <p:cNvPr id="14" name="Text 11"/>
          <p:cNvSpPr/>
          <p:nvPr/>
        </p:nvSpPr>
        <p:spPr>
          <a:xfrm>
            <a:off x="9098280" y="2935224"/>
            <a:ext cx="2011680" cy="384048"/>
          </a:xfrm>
          <a:prstGeom prst="rect">
            <a:avLst/>
          </a:prstGeom>
          <a:noFill/>
          <a:ln/>
        </p:spPr>
        <p:txBody>
          <a:bodyPr wrap="square" lIns="508" tIns="508" rIns="508" bIns="508" rtlCol="0" anchor="t">
            <a:normAutofit/>
          </a:bodyPr>
          <a:lstStyle/>
          <a:p>
            <a:pPr marL="0" indent="0" algn="l">
              <a:buNone/>
            </a:pPr>
            <a:r>
              <a:rPr lang="en-US" sz="1200" dirty="0">
                <a:solidFill>
                  <a:srgbClr val="5B6770"/>
                </a:solidFill>
                <a:latin typeface="Aptos" pitchFamily="34" charset="0"/>
                <a:ea typeface="Aptos" pitchFamily="34" charset="-122"/>
                <a:cs typeface="Aptos" pitchFamily="34" charset="-120"/>
              </a:rPr>
              <a:t>Small customer count, but important growth signal.</a:t>
            </a:r>
            <a:endParaRPr lang="en-US" sz="1200" dirty="0"/>
          </a:p>
        </p:txBody>
      </p:sp>
      <p:sp>
        <p:nvSpPr>
          <p:cNvPr id="15" name="Text 12"/>
          <p:cNvSpPr/>
          <p:nvPr/>
        </p:nvSpPr>
        <p:spPr>
          <a:xfrm>
            <a:off x="7818120" y="3630168"/>
            <a:ext cx="1005840" cy="246888"/>
          </a:xfrm>
          <a:prstGeom prst="rect">
            <a:avLst/>
          </a:prstGeom>
          <a:noFill/>
          <a:ln/>
        </p:spPr>
        <p:txBody>
          <a:bodyPr wrap="square" lIns="508" tIns="508" rIns="508" bIns="508" rtlCol="0" anchor="t">
            <a:normAutofit/>
          </a:bodyPr>
          <a:lstStyle/>
          <a:p>
            <a:pPr marL="0" indent="0" algn="l">
              <a:buNone/>
            </a:pPr>
            <a:r>
              <a:rPr lang="en-US" sz="1600" b="1" dirty="0">
                <a:solidFill>
                  <a:srgbClr val="145DA0"/>
                </a:solidFill>
                <a:latin typeface="Aptos" pitchFamily="34" charset="0"/>
                <a:ea typeface="Aptos" pitchFamily="34" charset="-122"/>
                <a:cs typeface="Aptos" pitchFamily="34" charset="-120"/>
              </a:rPr>
              <a:t>Medium</a:t>
            </a:r>
            <a:endParaRPr lang="en-US" sz="1600" dirty="0"/>
          </a:p>
        </p:txBody>
      </p:sp>
      <p:sp>
        <p:nvSpPr>
          <p:cNvPr id="16" name="Text 13"/>
          <p:cNvSpPr/>
          <p:nvPr/>
        </p:nvSpPr>
        <p:spPr>
          <a:xfrm>
            <a:off x="9098280" y="3630168"/>
            <a:ext cx="2011680" cy="384048"/>
          </a:xfrm>
          <a:prstGeom prst="rect">
            <a:avLst/>
          </a:prstGeom>
          <a:noFill/>
          <a:ln/>
        </p:spPr>
        <p:txBody>
          <a:bodyPr wrap="square" lIns="508" tIns="508" rIns="508" bIns="508" rtlCol="0" anchor="t">
            <a:normAutofit/>
          </a:bodyPr>
          <a:lstStyle/>
          <a:p>
            <a:pPr marL="0" indent="0" algn="l">
              <a:buNone/>
            </a:pPr>
            <a:r>
              <a:rPr lang="en-US" sz="1200" dirty="0">
                <a:solidFill>
                  <a:srgbClr val="5B6770"/>
                </a:solidFill>
                <a:latin typeface="Aptos" pitchFamily="34" charset="0"/>
                <a:ea typeface="Aptos" pitchFamily="34" charset="-122"/>
                <a:cs typeface="Aptos" pitchFamily="34" charset="-120"/>
              </a:rPr>
              <a:t>Meaningful contribution and a clear 2020 uplift.</a:t>
            </a:r>
            <a:endParaRPr lang="en-US" sz="1200" dirty="0"/>
          </a:p>
        </p:txBody>
      </p:sp>
      <p:sp>
        <p:nvSpPr>
          <p:cNvPr id="17" name="Text 14"/>
          <p:cNvSpPr/>
          <p:nvPr/>
        </p:nvSpPr>
        <p:spPr>
          <a:xfrm>
            <a:off x="7818120" y="4325112"/>
            <a:ext cx="1005840" cy="246888"/>
          </a:xfrm>
          <a:prstGeom prst="rect">
            <a:avLst/>
          </a:prstGeom>
          <a:noFill/>
          <a:ln/>
        </p:spPr>
        <p:txBody>
          <a:bodyPr wrap="square" lIns="508" tIns="508" rIns="508" bIns="508" rtlCol="0" anchor="t">
            <a:normAutofit/>
          </a:bodyPr>
          <a:lstStyle/>
          <a:p>
            <a:pPr marL="0" indent="0" algn="l">
              <a:buNone/>
            </a:pPr>
            <a:r>
              <a:rPr lang="en-US" sz="1600" b="1" dirty="0">
                <a:solidFill>
                  <a:srgbClr val="145DA0"/>
                </a:solidFill>
                <a:latin typeface="Aptos" pitchFamily="34" charset="0"/>
                <a:ea typeface="Aptos" pitchFamily="34" charset="-122"/>
                <a:cs typeface="Aptos" pitchFamily="34" charset="-120"/>
              </a:rPr>
              <a:t>Small</a:t>
            </a:r>
            <a:endParaRPr lang="en-US" sz="1600" dirty="0"/>
          </a:p>
        </p:txBody>
      </p:sp>
      <p:sp>
        <p:nvSpPr>
          <p:cNvPr id="18" name="Text 15"/>
          <p:cNvSpPr/>
          <p:nvPr/>
        </p:nvSpPr>
        <p:spPr>
          <a:xfrm>
            <a:off x="9098280" y="4325112"/>
            <a:ext cx="2011680" cy="384048"/>
          </a:xfrm>
          <a:prstGeom prst="rect">
            <a:avLst/>
          </a:prstGeom>
          <a:noFill/>
          <a:ln/>
        </p:spPr>
        <p:txBody>
          <a:bodyPr wrap="square" lIns="508" tIns="508" rIns="508" bIns="508" rtlCol="0" anchor="t">
            <a:normAutofit fontScale="92500"/>
          </a:bodyPr>
          <a:lstStyle/>
          <a:p>
            <a:pPr marL="0" indent="0" algn="l">
              <a:buNone/>
            </a:pPr>
            <a:r>
              <a:rPr lang="en-US" sz="1200" dirty="0">
                <a:solidFill>
                  <a:srgbClr val="5B6770"/>
                </a:solidFill>
                <a:latin typeface="Aptos" pitchFamily="34" charset="0"/>
                <a:ea typeface="Aptos" pitchFamily="34" charset="-122"/>
                <a:cs typeface="Aptos" pitchFamily="34" charset="-120"/>
              </a:rPr>
              <a:t>Lower volume individually, but broad base and high variability.</a:t>
            </a:r>
            <a:endParaRPr lang="en-US" sz="1200" dirty="0"/>
          </a:p>
        </p:txBody>
      </p:sp>
      <p:sp>
        <p:nvSpPr>
          <p:cNvPr id="19" name="Text 16"/>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sz="1600" b="1" dirty="0">
                <a:solidFill>
                  <a:srgbClr val="0B1F3A"/>
                </a:solidFill>
                <a:latin typeface="Aptos" pitchFamily="34" charset="0"/>
                <a:ea typeface="Aptos" pitchFamily="34" charset="-122"/>
                <a:cs typeface="Aptos" pitchFamily="34" charset="-120"/>
              </a:rPr>
              <a:t>Key takeaway: COVID created a broad uplift, but operational risk is concentrated in high-volume Enterprise accounts.</a:t>
            </a:r>
            <a:endParaRPr lang="en-US" sz="1600" dirty="0"/>
          </a:p>
        </p:txBody>
      </p:sp>
      <p:pic>
        <p:nvPicPr>
          <p:cNvPr id="21" name="Picture 20">
            <a:extLst>
              <a:ext uri="{FF2B5EF4-FFF2-40B4-BE49-F238E27FC236}">
                <a16:creationId xmlns:a16="http://schemas.microsoft.com/office/drawing/2014/main" id="{6C1521DB-4CC2-BBA9-D31D-2B2E317364BD}"/>
              </a:ext>
            </a:extLst>
          </p:cNvPr>
          <p:cNvPicPr>
            <a:picLocks noChangeAspect="1"/>
          </p:cNvPicPr>
          <p:nvPr/>
        </p:nvPicPr>
        <p:blipFill>
          <a:blip r:embed="rId3"/>
          <a:stretch>
            <a:fillRect/>
          </a:stretch>
        </p:blipFill>
        <p:spPr>
          <a:xfrm>
            <a:off x="459004" y="1462916"/>
            <a:ext cx="6931152" cy="4225154"/>
          </a:xfrm>
          <a:prstGeom prst="rect">
            <a:avLst/>
          </a:prstGeom>
        </p:spPr>
      </p:pic>
      <p:sp>
        <p:nvSpPr>
          <p:cNvPr id="22" name="TextBox 21"/>
          <p:cNvSpPr txBox="1"/>
          <p:nvPr/>
        </p:nvSpPr>
        <p:spPr>
          <a:xfrm>
            <a:off x="10692000" y="6358000"/>
            <a:ext cx="1400000" cy="300000"/>
          </a:xfrm>
          <a:prstGeom prst="rect">
            <a:avLst/>
          </a:prstGeom>
          <a:noFill/>
        </p:spPr>
        <p:txBody>
          <a:bodyPr wrap="none">
            <a:spAutoFit/>
          </a:bodyPr>
          <a:lstStyle/>
          <a:p>
            <a:r>
              <a:t>8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05" y="87242"/>
            <a:ext cx="12191695" cy="6858000"/>
          </a:xfrm>
          <a:prstGeom prst="rect">
            <a:avLst/>
          </a:prstGeom>
          <a:solidFill>
            <a:srgbClr val="F6F8FB"/>
          </a:solidFill>
          <a:ln w="12700">
            <a:solidFill>
              <a:srgbClr val="FFFFFF">
                <a:alpha val="0"/>
              </a:srgbClr>
            </a:solidFill>
            <a:prstDash val="solid"/>
          </a:ln>
        </p:spPr>
        <p:txBody>
          <a:bodyPr/>
          <a:lstStyle/>
          <a:p>
            <a:endParaRPr lang="en-US" dirty="0"/>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661547"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Customer segmentation 1: customer mix shifted in 2020</a:t>
            </a:r>
            <a:endParaRPr lang="en-US" sz="2900" dirty="0"/>
          </a:p>
        </p:txBody>
      </p:sp>
      <p:sp>
        <p:nvSpPr>
          <p:cNvPr id="6" name="Text 4"/>
          <p:cNvSpPr/>
          <p:nvPr/>
        </p:nvSpPr>
        <p:spPr>
          <a:xfrm>
            <a:off x="689166" y="1243584"/>
            <a:ext cx="8138160" cy="320040"/>
          </a:xfrm>
          <a:prstGeom prst="rect">
            <a:avLst/>
          </a:prstGeom>
          <a:noFill/>
          <a:ln/>
        </p:spPr>
        <p:txBody>
          <a:bodyPr wrap="square" lIns="508" tIns="508" rIns="508" bIns="508" rtlCol="0" anchor="t">
            <a:normAutofit/>
          </a:bodyPr>
          <a:lstStyle/>
          <a:p>
            <a:r>
              <a:rPr lang="en-US" sz="1400" dirty="0">
                <a:solidFill>
                  <a:srgbClr val="5B6770"/>
                </a:solidFill>
                <a:latin typeface="Aptos" pitchFamily="34" charset="0"/>
                <a:ea typeface="Aptos" pitchFamily="34" charset="-122"/>
                <a:cs typeface="Aptos" pitchFamily="34" charset="-120"/>
              </a:rPr>
              <a:t>Customers were classified as High Growth, Stable, Declining, or Lost during COVID.</a:t>
            </a:r>
            <a:endParaRPr lang="en-US" sz="1400" dirty="0"/>
          </a:p>
        </p:txBody>
      </p:sp>
      <p:sp>
        <p:nvSpPr>
          <p:cNvPr id="7" name="Text 5"/>
          <p:cNvSpPr/>
          <p:nvPr/>
        </p:nvSpPr>
        <p:spPr>
          <a:xfrm>
            <a:off x="398145" y="6986778"/>
            <a:ext cx="5303520" cy="201168"/>
          </a:xfrm>
          <a:prstGeom prst="rect">
            <a:avLst/>
          </a:prstGeom>
          <a:noFill/>
          <a:ln/>
        </p:spPr>
        <p:txBody>
          <a:bodyPr wrap="square" lIns="508" tIns="508" rIns="508" bIns="508" rtlCol="0" anchor="t">
            <a:normAutofit/>
          </a:bodyPr>
          <a:lstStyle/>
          <a:p>
            <a:pPr marL="0" indent="0" algn="l">
              <a:buNone/>
            </a:pP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sp>
        <p:nvSpPr>
          <p:cNvPr id="10" name="Text 7"/>
          <p:cNvSpPr/>
          <p:nvPr/>
        </p:nvSpPr>
        <p:spPr>
          <a:xfrm>
            <a:off x="7086600" y="1755648"/>
            <a:ext cx="3291840" cy="256032"/>
          </a:xfrm>
          <a:prstGeom prst="rect">
            <a:avLst/>
          </a:prstGeom>
          <a:noFill/>
          <a:ln/>
        </p:spPr>
        <p:txBody>
          <a:bodyPr wrap="square" lIns="508" tIns="508" rIns="508" bIns="508" rtlCol="0" anchor="t">
            <a:normAutofit/>
          </a:bodyPr>
          <a:lstStyle/>
          <a:p>
            <a:pPr marL="0" indent="0" algn="l">
              <a:buNone/>
            </a:pPr>
            <a:endParaRPr lang="en-US" sz="1600" dirty="0"/>
          </a:p>
        </p:txBody>
      </p:sp>
      <p:sp>
        <p:nvSpPr>
          <p:cNvPr id="11" name="Text 8"/>
          <p:cNvSpPr/>
          <p:nvPr/>
        </p:nvSpPr>
        <p:spPr>
          <a:xfrm>
            <a:off x="8210839" y="3622354"/>
            <a:ext cx="3749040" cy="402336"/>
          </a:xfrm>
          <a:prstGeom prst="rect">
            <a:avLst/>
          </a:prstGeom>
          <a:noFill/>
          <a:ln/>
        </p:spPr>
        <p:txBody>
          <a:bodyPr wrap="square" lIns="508" tIns="508" rIns="508" bIns="508" rtlCol="0" anchor="t">
            <a:normAutofit/>
          </a:bodyPr>
          <a:lstStyle/>
          <a:p>
            <a:pPr marL="0" indent="0" algn="l">
              <a:buNone/>
            </a:pPr>
            <a:endParaRPr lang="en-US" sz="1240" dirty="0"/>
          </a:p>
        </p:txBody>
      </p:sp>
      <p:sp>
        <p:nvSpPr>
          <p:cNvPr id="12" name="Text 9"/>
          <p:cNvSpPr/>
          <p:nvPr/>
        </p:nvSpPr>
        <p:spPr>
          <a:xfrm>
            <a:off x="8157754" y="4103557"/>
            <a:ext cx="3749040" cy="402336"/>
          </a:xfrm>
          <a:prstGeom prst="rect">
            <a:avLst/>
          </a:prstGeom>
          <a:noFill/>
          <a:ln/>
        </p:spPr>
        <p:txBody>
          <a:bodyPr wrap="square" lIns="508" tIns="508" rIns="508" bIns="508" rtlCol="0" anchor="t">
            <a:normAutofit/>
          </a:bodyPr>
          <a:lstStyle/>
          <a:p>
            <a:pPr marL="0" indent="0" algn="l">
              <a:buNone/>
            </a:pPr>
            <a:endParaRPr lang="en-US" sz="1240" dirty="0"/>
          </a:p>
        </p:txBody>
      </p:sp>
      <p:sp>
        <p:nvSpPr>
          <p:cNvPr id="13" name="Text 10"/>
          <p:cNvSpPr/>
          <p:nvPr/>
        </p:nvSpPr>
        <p:spPr>
          <a:xfrm>
            <a:off x="8157754" y="4663627"/>
            <a:ext cx="3749040" cy="402336"/>
          </a:xfrm>
          <a:prstGeom prst="rect">
            <a:avLst/>
          </a:prstGeom>
          <a:noFill/>
          <a:ln/>
        </p:spPr>
        <p:txBody>
          <a:bodyPr wrap="square" lIns="508" tIns="508" rIns="508" bIns="508" rtlCol="0" anchor="t">
            <a:normAutofit/>
          </a:bodyPr>
          <a:lstStyle/>
          <a:p>
            <a:pPr marL="0" indent="0" algn="l">
              <a:buNone/>
            </a:pPr>
            <a:endParaRPr lang="en-US" sz="1240" dirty="0"/>
          </a:p>
        </p:txBody>
      </p:sp>
      <p:sp>
        <p:nvSpPr>
          <p:cNvPr id="14" name="Text 11"/>
          <p:cNvSpPr/>
          <p:nvPr/>
        </p:nvSpPr>
        <p:spPr>
          <a:xfrm>
            <a:off x="8157754" y="5161788"/>
            <a:ext cx="3749040" cy="402336"/>
          </a:xfrm>
          <a:prstGeom prst="rect">
            <a:avLst/>
          </a:prstGeom>
          <a:noFill/>
          <a:ln/>
        </p:spPr>
        <p:txBody>
          <a:bodyPr wrap="square" lIns="508" tIns="508" rIns="508" bIns="508" rtlCol="0" anchor="t">
            <a:normAutofit/>
          </a:bodyPr>
          <a:lstStyle/>
          <a:p>
            <a:pPr marL="0" indent="0" algn="l">
              <a:buNone/>
            </a:pPr>
            <a:endParaRPr lang="en-US" sz="1240" dirty="0"/>
          </a:p>
        </p:txBody>
      </p:sp>
      <p:sp>
        <p:nvSpPr>
          <p:cNvPr id="15" name="Text 12"/>
          <p:cNvSpPr/>
          <p:nvPr/>
        </p:nvSpPr>
        <p:spPr>
          <a:xfrm>
            <a:off x="970151" y="6515055"/>
            <a:ext cx="8775254" cy="300639"/>
          </a:xfrm>
          <a:prstGeom prst="roundRect">
            <a:avLst>
              <a:gd name="adj" fmla="val 50000"/>
            </a:avLst>
          </a:prstGeom>
          <a:solidFill>
            <a:srgbClr val="EAF4FF"/>
          </a:solidFill>
          <a:ln>
            <a:solidFill>
              <a:srgbClr val="C9DDF4"/>
            </a:solidFill>
          </a:ln>
        </p:spPr>
        <p:txBody>
          <a:bodyPr wrap="square" lIns="1016" tIns="1016" rIns="1016" bIns="1016" rtlCol="0" anchor="ctr">
            <a:normAutofit fontScale="85000" lnSpcReduction="10000"/>
          </a:bodyPr>
          <a:lstStyle/>
          <a:p>
            <a:pPr marL="0" indent="0">
              <a:buNone/>
            </a:pPr>
            <a:r>
              <a:rPr lang="en-US" sz="1600" b="1" dirty="0">
                <a:solidFill>
                  <a:srgbClr val="0B1F3A"/>
                </a:solidFill>
                <a:latin typeface="Aptos" pitchFamily="34" charset="0"/>
                <a:ea typeface="Aptos" pitchFamily="34" charset="-122"/>
                <a:cs typeface="Aptos" pitchFamily="34" charset="-120"/>
              </a:rPr>
              <a:t>Key takeaway: COVID did not only increase volume; it changed the composition of the customer base.</a:t>
            </a:r>
            <a:endParaRPr lang="en-US" sz="1600" dirty="0"/>
          </a:p>
        </p:txBody>
      </p:sp>
      <p:pic>
        <p:nvPicPr>
          <p:cNvPr id="28" name="Picture 27">
            <a:extLst>
              <a:ext uri="{FF2B5EF4-FFF2-40B4-BE49-F238E27FC236}">
                <a16:creationId xmlns:a16="http://schemas.microsoft.com/office/drawing/2014/main" id="{247AA584-C0D5-06DB-9050-7B8436D8263E}"/>
              </a:ext>
            </a:extLst>
          </p:cNvPr>
          <p:cNvPicPr>
            <a:picLocks noChangeAspect="1"/>
          </p:cNvPicPr>
          <p:nvPr/>
        </p:nvPicPr>
        <p:blipFill>
          <a:blip r:embed="rId3"/>
          <a:stretch>
            <a:fillRect/>
          </a:stretch>
        </p:blipFill>
        <p:spPr>
          <a:xfrm>
            <a:off x="828307" y="1885493"/>
            <a:ext cx="4452820" cy="4393765"/>
          </a:xfrm>
          <a:prstGeom prst="rect">
            <a:avLst/>
          </a:prstGeom>
        </p:spPr>
      </p:pic>
      <p:pic>
        <p:nvPicPr>
          <p:cNvPr id="30" name="Picture 29">
            <a:extLst>
              <a:ext uri="{FF2B5EF4-FFF2-40B4-BE49-F238E27FC236}">
                <a16:creationId xmlns:a16="http://schemas.microsoft.com/office/drawing/2014/main" id="{71D0ADF8-40C8-A849-9620-2FA82D768446}"/>
              </a:ext>
            </a:extLst>
          </p:cNvPr>
          <p:cNvPicPr>
            <a:picLocks noChangeAspect="1"/>
          </p:cNvPicPr>
          <p:nvPr/>
        </p:nvPicPr>
        <p:blipFill>
          <a:blip r:embed="rId4"/>
          <a:stretch>
            <a:fillRect/>
          </a:stretch>
        </p:blipFill>
        <p:spPr>
          <a:xfrm>
            <a:off x="5382327" y="1896803"/>
            <a:ext cx="4508121" cy="4382456"/>
          </a:xfrm>
          <a:prstGeom prst="rect">
            <a:avLst/>
          </a:prstGeom>
        </p:spPr>
      </p:pic>
      <p:sp>
        <p:nvSpPr>
          <p:cNvPr id="31" name="TextBox 30"/>
          <p:cNvSpPr txBox="1"/>
          <p:nvPr/>
        </p:nvSpPr>
        <p:spPr>
          <a:xfrm>
            <a:off x="10692000" y="6358000"/>
            <a:ext cx="1400000" cy="300000"/>
          </a:xfrm>
          <a:prstGeom prst="rect">
            <a:avLst/>
          </a:prstGeom>
          <a:noFill/>
        </p:spPr>
        <p:txBody>
          <a:bodyPr wrap="none">
            <a:spAutoFit/>
          </a:bodyPr>
          <a:lstStyle/>
          <a:p>
            <a:r>
              <a:t>9 /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89408" y="-21323"/>
            <a:ext cx="12191695" cy="6858000"/>
          </a:xfrm>
          <a:prstGeom prst="rect">
            <a:avLst/>
          </a:prstGeom>
          <a:solidFill>
            <a:srgbClr val="F6F8FB"/>
          </a:solidFill>
          <a:ln w="12700">
            <a:solidFill>
              <a:srgbClr val="FFFFFF">
                <a:alpha val="0"/>
              </a:srgbClr>
            </a:solidFill>
            <a:prstDash val="solid"/>
          </a:ln>
        </p:spPr>
        <p:txBody>
          <a:bodyPr/>
          <a:lstStyle/>
          <a:p>
            <a:endParaRPr lang="en-US" dirty="0"/>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627762"/>
            <a:ext cx="10332720" cy="438912"/>
          </a:xfrm>
          <a:prstGeom prst="rect">
            <a:avLst/>
          </a:prstGeom>
          <a:noFill/>
          <a:ln/>
        </p:spPr>
        <p:txBody>
          <a:bodyPr wrap="square" lIns="508" tIns="508" rIns="508" bIns="508" rtlCol="0" anchor="t">
            <a:noAutofit/>
          </a:bodyPr>
          <a:lstStyle/>
          <a:p>
            <a:r>
              <a:rPr lang="en-US" sz="2900" b="1" dirty="0">
                <a:solidFill>
                  <a:srgbClr val="0B1F3A"/>
                </a:solidFill>
                <a:latin typeface="Aptos Display" pitchFamily="34" charset="0"/>
                <a:ea typeface="Aptos Display" pitchFamily="34" charset="-122"/>
                <a:cs typeface="Aptos Display" pitchFamily="34" charset="-120"/>
              </a:rPr>
              <a:t>Customer segmentation 2: high growth was the dominant pattern</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endParaRPr lang="en-US" sz="135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sp>
        <p:nvSpPr>
          <p:cNvPr id="10" name="Text 7"/>
          <p:cNvSpPr/>
          <p:nvPr/>
        </p:nvSpPr>
        <p:spPr>
          <a:xfrm>
            <a:off x="7726680" y="1783080"/>
            <a:ext cx="3108960" cy="256032"/>
          </a:xfrm>
          <a:prstGeom prst="rect">
            <a:avLst/>
          </a:prstGeom>
          <a:noFill/>
          <a:ln/>
        </p:spPr>
        <p:txBody>
          <a:bodyPr wrap="square" lIns="508" tIns="508" rIns="508" bIns="508" rtlCol="0" anchor="t">
            <a:normAutofit/>
          </a:bodyPr>
          <a:lstStyle/>
          <a:p>
            <a:pPr marL="0" indent="0" algn="l">
              <a:buNone/>
            </a:pPr>
            <a:endParaRPr lang="en-US" sz="1600" dirty="0"/>
          </a:p>
        </p:txBody>
      </p:sp>
      <p:sp>
        <p:nvSpPr>
          <p:cNvPr id="11" name="Text 8"/>
          <p:cNvSpPr/>
          <p:nvPr/>
        </p:nvSpPr>
        <p:spPr>
          <a:xfrm>
            <a:off x="7772400" y="2176272"/>
            <a:ext cx="3108960" cy="1078992"/>
          </a:xfrm>
          <a:prstGeom prst="rect">
            <a:avLst/>
          </a:prstGeom>
          <a:noFill/>
          <a:ln/>
        </p:spPr>
        <p:txBody>
          <a:bodyPr wrap="square" lIns="508" tIns="508" rIns="508" bIns="508" rtlCol="0" anchor="t">
            <a:normAutofit/>
          </a:bodyPr>
          <a:lstStyle/>
          <a:p>
            <a:pPr marL="0" indent="0" algn="l">
              <a:buNone/>
            </a:pPr>
            <a:endParaRPr lang="en-US" sz="1210" dirty="0"/>
          </a:p>
        </p:txBody>
      </p:sp>
      <p:sp>
        <p:nvSpPr>
          <p:cNvPr id="12" name="Text 9"/>
          <p:cNvSpPr/>
          <p:nvPr/>
        </p:nvSpPr>
        <p:spPr>
          <a:xfrm>
            <a:off x="7818120" y="3456432"/>
            <a:ext cx="2651760" cy="256032"/>
          </a:xfrm>
          <a:prstGeom prst="rect">
            <a:avLst/>
          </a:prstGeom>
          <a:noFill/>
          <a:ln/>
        </p:spPr>
        <p:txBody>
          <a:bodyPr wrap="square" lIns="127" tIns="127" rIns="127" bIns="127" rtlCol="0" anchor="t">
            <a:normAutofit/>
          </a:bodyPr>
          <a:lstStyle/>
          <a:p>
            <a:pPr marL="0" indent="0" algn="l">
              <a:buNone/>
            </a:pPr>
            <a:endParaRPr lang="en-US" sz="1440" dirty="0"/>
          </a:p>
        </p:txBody>
      </p:sp>
      <p:sp>
        <p:nvSpPr>
          <p:cNvPr id="13" name="Text 10"/>
          <p:cNvSpPr/>
          <p:nvPr/>
        </p:nvSpPr>
        <p:spPr>
          <a:xfrm>
            <a:off x="7818120" y="3734410"/>
            <a:ext cx="2651760" cy="175565"/>
          </a:xfrm>
          <a:prstGeom prst="rect">
            <a:avLst/>
          </a:prstGeom>
          <a:noFill/>
          <a:ln/>
        </p:spPr>
        <p:txBody>
          <a:bodyPr wrap="square" lIns="127" tIns="127" rIns="127" bIns="127" rtlCol="0" anchor="t">
            <a:normAutofit/>
          </a:bodyPr>
          <a:lstStyle/>
          <a:p>
            <a:pPr marL="0" indent="0" algn="l">
              <a:buNone/>
            </a:pPr>
            <a:endParaRPr lang="en-US" sz="1080" dirty="0"/>
          </a:p>
        </p:txBody>
      </p:sp>
      <p:sp>
        <p:nvSpPr>
          <p:cNvPr id="14" name="Text 11"/>
          <p:cNvSpPr/>
          <p:nvPr/>
        </p:nvSpPr>
        <p:spPr>
          <a:xfrm>
            <a:off x="7818120" y="3939235"/>
            <a:ext cx="2651760" cy="219456"/>
          </a:xfrm>
          <a:prstGeom prst="rect">
            <a:avLst/>
          </a:prstGeom>
          <a:noFill/>
          <a:ln/>
        </p:spPr>
        <p:txBody>
          <a:bodyPr wrap="square" lIns="127" tIns="127" rIns="127" bIns="127" rtlCol="0" anchor="t">
            <a:normAutofit/>
          </a:bodyPr>
          <a:lstStyle/>
          <a:p>
            <a:pPr marL="0" indent="0" algn="l">
              <a:buNone/>
            </a:pPr>
            <a:endParaRPr lang="en-US" sz="870" dirty="0"/>
          </a:p>
        </p:txBody>
      </p:sp>
      <p:sp>
        <p:nvSpPr>
          <p:cNvPr id="15" name="Text 12"/>
          <p:cNvSpPr/>
          <p:nvPr/>
        </p:nvSpPr>
        <p:spPr>
          <a:xfrm>
            <a:off x="7818120" y="4407408"/>
            <a:ext cx="2651760" cy="256032"/>
          </a:xfrm>
          <a:prstGeom prst="rect">
            <a:avLst/>
          </a:prstGeom>
          <a:noFill/>
          <a:ln/>
        </p:spPr>
        <p:txBody>
          <a:bodyPr wrap="square" lIns="127" tIns="127" rIns="127" bIns="127" rtlCol="0" anchor="t">
            <a:normAutofit/>
          </a:bodyPr>
          <a:lstStyle/>
          <a:p>
            <a:pPr marL="0" indent="0" algn="l">
              <a:buNone/>
            </a:pPr>
            <a:endParaRPr lang="en-US" sz="1440" dirty="0"/>
          </a:p>
        </p:txBody>
      </p:sp>
      <p:sp>
        <p:nvSpPr>
          <p:cNvPr id="16" name="Text 13"/>
          <p:cNvSpPr/>
          <p:nvPr/>
        </p:nvSpPr>
        <p:spPr>
          <a:xfrm>
            <a:off x="7818120" y="4685386"/>
            <a:ext cx="2651760" cy="175565"/>
          </a:xfrm>
          <a:prstGeom prst="rect">
            <a:avLst/>
          </a:prstGeom>
          <a:noFill/>
          <a:ln/>
        </p:spPr>
        <p:txBody>
          <a:bodyPr wrap="square" lIns="127" tIns="127" rIns="127" bIns="127" rtlCol="0" anchor="t">
            <a:normAutofit/>
          </a:bodyPr>
          <a:lstStyle/>
          <a:p>
            <a:pPr marL="0" indent="0" algn="l">
              <a:buNone/>
            </a:pPr>
            <a:endParaRPr lang="en-US" sz="1080" dirty="0"/>
          </a:p>
        </p:txBody>
      </p:sp>
      <p:sp>
        <p:nvSpPr>
          <p:cNvPr id="17" name="Text 14"/>
          <p:cNvSpPr/>
          <p:nvPr/>
        </p:nvSpPr>
        <p:spPr>
          <a:xfrm>
            <a:off x="7818120" y="4890211"/>
            <a:ext cx="2651760" cy="219456"/>
          </a:xfrm>
          <a:prstGeom prst="rect">
            <a:avLst/>
          </a:prstGeom>
          <a:noFill/>
          <a:ln/>
        </p:spPr>
        <p:txBody>
          <a:bodyPr wrap="square" lIns="127" tIns="127" rIns="127" bIns="127" rtlCol="0" anchor="t">
            <a:normAutofit/>
          </a:bodyPr>
          <a:lstStyle/>
          <a:p>
            <a:pPr marL="0" indent="0" algn="l">
              <a:buNone/>
            </a:pPr>
            <a:endParaRPr lang="en-US" sz="870" dirty="0"/>
          </a:p>
        </p:txBody>
      </p:sp>
      <p:sp>
        <p:nvSpPr>
          <p:cNvPr id="18" name="Text 15"/>
          <p:cNvSpPr/>
          <p:nvPr/>
        </p:nvSpPr>
        <p:spPr>
          <a:xfrm>
            <a:off x="475864" y="5935578"/>
            <a:ext cx="11046698" cy="402336"/>
          </a:xfrm>
          <a:prstGeom prst="roundRect">
            <a:avLst/>
          </a:prstGeom>
          <a:solidFill>
            <a:srgbClr val="EAF4FF"/>
          </a:solidFill>
          <a:ln>
            <a:solidFill>
              <a:srgbClr val="C9DDF4"/>
            </a:solidFill>
          </a:ln>
        </p:spPr>
        <p:txBody>
          <a:bodyPr wrap="square" lIns="1016" tIns="1016" rIns="1016" bIns="1016" rtlCol="0" anchor="ctr">
            <a:normAutofit fontScale="92500"/>
          </a:bodyPr>
          <a:lstStyle/>
          <a:p>
            <a:pPr marL="0" indent="0">
              <a:buNone/>
            </a:pPr>
            <a:r>
              <a:rPr lang="en-US" sz="1400" b="1" dirty="0">
                <a:solidFill>
                  <a:srgbClr val="0B1F3A"/>
                </a:solidFill>
                <a:latin typeface="Aptos" pitchFamily="34" charset="0"/>
                <a:ea typeface="Aptos" pitchFamily="34" charset="-122"/>
                <a:cs typeface="Aptos" pitchFamily="34" charset="-120"/>
              </a:rPr>
              <a:t>Key takeaway: Every segment had a majority or near-majority of customers in High Growth, but declining customers still require targeted retention.</a:t>
            </a:r>
            <a:endParaRPr lang="en-US" sz="1400" dirty="0"/>
          </a:p>
        </p:txBody>
      </p:sp>
      <p:pic>
        <p:nvPicPr>
          <p:cNvPr id="32" name="Picture 31">
            <a:extLst>
              <a:ext uri="{FF2B5EF4-FFF2-40B4-BE49-F238E27FC236}">
                <a16:creationId xmlns:a16="http://schemas.microsoft.com/office/drawing/2014/main" id="{6F663DE4-5B25-D20F-78CD-34F82A73DDA0}"/>
              </a:ext>
            </a:extLst>
          </p:cNvPr>
          <p:cNvPicPr>
            <a:picLocks noChangeAspect="1"/>
          </p:cNvPicPr>
          <p:nvPr/>
        </p:nvPicPr>
        <p:blipFill>
          <a:blip r:embed="rId3"/>
          <a:stretch>
            <a:fillRect/>
          </a:stretch>
        </p:blipFill>
        <p:spPr>
          <a:xfrm>
            <a:off x="1127008" y="1384373"/>
            <a:ext cx="4327866" cy="4318086"/>
          </a:xfrm>
          <a:prstGeom prst="rect">
            <a:avLst/>
          </a:prstGeom>
        </p:spPr>
      </p:pic>
      <p:pic>
        <p:nvPicPr>
          <p:cNvPr id="34" name="Picture 33">
            <a:extLst>
              <a:ext uri="{FF2B5EF4-FFF2-40B4-BE49-F238E27FC236}">
                <a16:creationId xmlns:a16="http://schemas.microsoft.com/office/drawing/2014/main" id="{7DEBB708-C397-77F3-C1F3-C7C0D40D3431}"/>
              </a:ext>
            </a:extLst>
          </p:cNvPr>
          <p:cNvPicPr>
            <a:picLocks noChangeAspect="1"/>
          </p:cNvPicPr>
          <p:nvPr/>
        </p:nvPicPr>
        <p:blipFill>
          <a:blip r:embed="rId4"/>
          <a:stretch>
            <a:fillRect/>
          </a:stretch>
        </p:blipFill>
        <p:spPr>
          <a:xfrm>
            <a:off x="5644586" y="1397910"/>
            <a:ext cx="4164188" cy="4304549"/>
          </a:xfrm>
          <a:prstGeom prst="rect">
            <a:avLst/>
          </a:prstGeom>
        </p:spPr>
      </p:pic>
      <p:sp>
        <p:nvSpPr>
          <p:cNvPr id="35" name="TextBox 34"/>
          <p:cNvSpPr txBox="1"/>
          <p:nvPr/>
        </p:nvSpPr>
        <p:spPr>
          <a:xfrm>
            <a:off x="10692000" y="6358000"/>
            <a:ext cx="1400000" cy="300000"/>
          </a:xfrm>
          <a:prstGeom prst="rect">
            <a:avLst/>
          </a:prstGeom>
          <a:noFill/>
        </p:spPr>
        <p:txBody>
          <a:bodyPr wrap="none">
            <a:spAutoFit/>
          </a:bodyPr>
          <a:lstStyle/>
          <a:p>
            <a:r>
              <a:t>10 /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0286-041E-DBE7-41E3-D11B7350835B}"/>
              </a:ext>
            </a:extLst>
          </p:cNvPr>
          <p:cNvSpPr>
            <a:spLocks noGrp="1"/>
          </p:cNvSpPr>
          <p:nvPr>
            <p:ph type="title"/>
          </p:nvPr>
        </p:nvSpPr>
        <p:spPr/>
        <p:txBody>
          <a:bodyPr>
            <a:normAutofit/>
          </a:bodyPr>
          <a:lstStyle/>
          <a:p>
            <a:r>
              <a:rPr lang="en-US" sz="2900" b="1" cap="none" dirty="0">
                <a:latin typeface="Aptos Display" panose="020B0004020202020204" pitchFamily="34" charset="0"/>
              </a:rPr>
              <a:t> Percentage of new and lost customers</a:t>
            </a:r>
          </a:p>
        </p:txBody>
      </p:sp>
      <p:pic>
        <p:nvPicPr>
          <p:cNvPr id="6" name="Content Placeholder 5">
            <a:extLst>
              <a:ext uri="{FF2B5EF4-FFF2-40B4-BE49-F238E27FC236}">
                <a16:creationId xmlns:a16="http://schemas.microsoft.com/office/drawing/2014/main" id="{97192B20-B44B-C93C-4E66-47875221481C}"/>
              </a:ext>
            </a:extLst>
          </p:cNvPr>
          <p:cNvPicPr>
            <a:picLocks noGrp="1" noChangeAspect="1"/>
          </p:cNvPicPr>
          <p:nvPr>
            <p:ph idx="1"/>
          </p:nvPr>
        </p:nvPicPr>
        <p:blipFill>
          <a:blip r:embed="rId2"/>
          <a:stretch>
            <a:fillRect/>
          </a:stretch>
        </p:blipFill>
        <p:spPr>
          <a:xfrm>
            <a:off x="2010746" y="1878116"/>
            <a:ext cx="7837713" cy="4660405"/>
          </a:xfrm>
          <a:prstGeom prst="rect">
            <a:avLst/>
          </a:prstGeom>
        </p:spPr>
      </p:pic>
      <p:sp>
        <p:nvSpPr>
          <p:cNvPr id="7" name="TextBox 6"/>
          <p:cNvSpPr txBox="1"/>
          <p:nvPr/>
        </p:nvSpPr>
        <p:spPr>
          <a:xfrm>
            <a:off x="10692000" y="6358000"/>
            <a:ext cx="1400000" cy="300000"/>
          </a:xfrm>
          <a:prstGeom prst="rect">
            <a:avLst/>
          </a:prstGeom>
          <a:noFill/>
        </p:spPr>
        <p:txBody>
          <a:bodyPr wrap="none">
            <a:spAutoFit/>
          </a:bodyPr>
          <a:lstStyle/>
          <a:p>
            <a:r>
              <a:t>11 / 16</a:t>
            </a:r>
          </a:p>
        </p:txBody>
      </p:sp>
      <p:sp>
        <p:nvSpPr>
          <p:cNvPr id="3" name="Text 5">
            <a:extLst>
              <a:ext uri="{FF2B5EF4-FFF2-40B4-BE49-F238E27FC236}">
                <a16:creationId xmlns:a16="http://schemas.microsoft.com/office/drawing/2014/main" id="{FC5C68AC-461C-9D36-875E-41028C707EBA}"/>
              </a:ext>
            </a:extLst>
          </p:cNvPr>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Tree>
    <p:extLst>
      <p:ext uri="{BB962C8B-B14F-4D97-AF65-F5344CB8AC3E}">
        <p14:creationId xmlns:p14="http://schemas.microsoft.com/office/powerpoint/2010/main" val="2368284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900" b="1" cap="none" dirty="0">
                <a:latin typeface="Aptos Display" panose="020B0004020202020204" pitchFamily="34" charset="0"/>
              </a:rPr>
              <a:t>Impact of COVID on volume by customer group</a:t>
            </a:r>
          </a:p>
        </p:txBody>
      </p:sp>
      <p:graphicFrame>
        <p:nvGraphicFramePr>
          <p:cNvPr id="3" name="Chart 2"/>
          <p:cNvGraphicFramePr>
            <a:graphicFrameLocks noGrp="1"/>
          </p:cNvGraphicFramePr>
          <p:nvPr>
            <p:extLst>
              <p:ext uri="{D42A27DB-BD31-4B8C-83A1-F6EECF244321}">
                <p14:modId xmlns:p14="http://schemas.microsoft.com/office/powerpoint/2010/main" val="651086330"/>
              </p:ext>
            </p:extLst>
          </p:nvPr>
        </p:nvGraphicFramePr>
        <p:xfrm>
          <a:off x="429208" y="1912776"/>
          <a:ext cx="10262792"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10692000" y="6358000"/>
            <a:ext cx="1400000" cy="300000"/>
          </a:xfrm>
          <a:prstGeom prst="rect">
            <a:avLst/>
          </a:prstGeom>
          <a:noFill/>
        </p:spPr>
        <p:txBody>
          <a:bodyPr wrap="none">
            <a:spAutoFit/>
          </a:bodyPr>
          <a:lstStyle/>
          <a:p>
            <a:r>
              <a:t>12 / 16</a:t>
            </a:r>
          </a:p>
        </p:txBody>
      </p:sp>
      <p:sp>
        <p:nvSpPr>
          <p:cNvPr id="5" name="Text 5">
            <a:extLst>
              <a:ext uri="{FF2B5EF4-FFF2-40B4-BE49-F238E27FC236}">
                <a16:creationId xmlns:a16="http://schemas.microsoft.com/office/drawing/2014/main" id="{B6B9CA4E-3C2E-7427-2D29-FA8D49960980}"/>
              </a:ext>
            </a:extLst>
          </p:cNvPr>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DC031B-91FD-7C3C-035B-18861F578D5C}"/>
              </a:ext>
            </a:extLst>
          </p:cNvPr>
          <p:cNvSpPr>
            <a:spLocks noGrp="1"/>
          </p:cNvSpPr>
          <p:nvPr>
            <p:ph type="title"/>
          </p:nvPr>
        </p:nvSpPr>
        <p:spPr/>
        <p:txBody>
          <a:bodyPr>
            <a:normAutofit/>
          </a:bodyPr>
          <a:lstStyle/>
          <a:p>
            <a:r>
              <a:rPr lang="en-CA" sz="2900" b="1" cap="none" dirty="0">
                <a:latin typeface="Aptos Display" panose="020B0004020202020204" pitchFamily="34" charset="0"/>
              </a:rPr>
              <a:t>Overall impact of COVID on revenue by customer group</a:t>
            </a:r>
            <a:endParaRPr lang="en-US" sz="2900" b="1" cap="none" dirty="0">
              <a:latin typeface="Aptos Display" panose="020B0004020202020204" pitchFamily="34" charset="0"/>
            </a:endParaRPr>
          </a:p>
        </p:txBody>
      </p:sp>
      <p:sp>
        <p:nvSpPr>
          <p:cNvPr id="7" name="TextBox 6"/>
          <p:cNvSpPr txBox="1"/>
          <p:nvPr/>
        </p:nvSpPr>
        <p:spPr>
          <a:xfrm>
            <a:off x="10692000" y="6358000"/>
            <a:ext cx="1400000" cy="300000"/>
          </a:xfrm>
          <a:prstGeom prst="rect">
            <a:avLst/>
          </a:prstGeom>
          <a:noFill/>
        </p:spPr>
        <p:txBody>
          <a:bodyPr wrap="none">
            <a:spAutoFit/>
          </a:bodyPr>
          <a:lstStyle/>
          <a:p>
            <a:r>
              <a:t>13 / 16</a:t>
            </a:r>
          </a:p>
        </p:txBody>
      </p:sp>
      <p:sp>
        <p:nvSpPr>
          <p:cNvPr id="2" name="Text 5">
            <a:extLst>
              <a:ext uri="{FF2B5EF4-FFF2-40B4-BE49-F238E27FC236}">
                <a16:creationId xmlns:a16="http://schemas.microsoft.com/office/drawing/2014/main" id="{5C828D7C-DD40-987B-F0E2-D12AD0E25396}"/>
              </a:ext>
            </a:extLst>
          </p:cNvPr>
          <p:cNvSpPr/>
          <p:nvPr/>
        </p:nvSpPr>
        <p:spPr>
          <a:xfrm>
            <a:off x="346165" y="6611112"/>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pic>
        <p:nvPicPr>
          <p:cNvPr id="5" name="Picture 4">
            <a:extLst>
              <a:ext uri="{FF2B5EF4-FFF2-40B4-BE49-F238E27FC236}">
                <a16:creationId xmlns:a16="http://schemas.microsoft.com/office/drawing/2014/main" id="{35C6E15F-7FDC-1EE7-6B44-199A70807ABB}"/>
              </a:ext>
            </a:extLst>
          </p:cNvPr>
          <p:cNvPicPr>
            <a:picLocks noChangeAspect="1"/>
          </p:cNvPicPr>
          <p:nvPr/>
        </p:nvPicPr>
        <p:blipFill>
          <a:blip r:embed="rId2"/>
          <a:stretch>
            <a:fillRect/>
          </a:stretch>
        </p:blipFill>
        <p:spPr>
          <a:xfrm>
            <a:off x="1268485" y="1883046"/>
            <a:ext cx="8724605" cy="4774953"/>
          </a:xfrm>
          <a:prstGeom prst="rect">
            <a:avLst/>
          </a:prstGeom>
        </p:spPr>
      </p:pic>
    </p:spTree>
    <p:extLst>
      <p:ext uri="{BB962C8B-B14F-4D97-AF65-F5344CB8AC3E}">
        <p14:creationId xmlns:p14="http://schemas.microsoft.com/office/powerpoint/2010/main" val="461881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972" y="0"/>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Build the normal-growth baseline: ISGR = 11.4%</a:t>
            </a:r>
            <a:endParaRPr lang="en-US" sz="2900" dirty="0"/>
          </a:p>
        </p:txBody>
      </p:sp>
      <p:sp>
        <p:nvSpPr>
          <p:cNvPr id="6" name="Text 4"/>
          <p:cNvSpPr/>
          <p:nvPr/>
        </p:nvSpPr>
        <p:spPr>
          <a:xfrm>
            <a:off x="521208" y="1243584"/>
            <a:ext cx="8138160" cy="320040"/>
          </a:xfrm>
          <a:prstGeom prst="rect">
            <a:avLst/>
          </a:prstGeom>
          <a:noFill/>
          <a:ln/>
        </p:spPr>
        <p:txBody>
          <a:bodyPr wrap="square" lIns="508" tIns="508" rIns="508" bIns="508" rtlCol="0" anchor="t">
            <a:normAutofit/>
          </a:bodyPr>
          <a:lstStyle/>
          <a:p>
            <a:pPr marL="0" indent="0" algn="l">
              <a:buNone/>
            </a:pPr>
            <a:r>
              <a:rPr lang="en-US" sz="1600" dirty="0">
                <a:solidFill>
                  <a:srgbClr val="5B6770"/>
                </a:solidFill>
                <a:latin typeface="Aptos" pitchFamily="34" charset="0"/>
                <a:ea typeface="Aptos" pitchFamily="34" charset="-122"/>
                <a:cs typeface="Aptos" pitchFamily="34" charset="-120"/>
              </a:rPr>
              <a:t>Early 2019 vs early 2020 is used as the pre-COVID benchmark.</a:t>
            </a:r>
            <a:endParaRPr lang="en-US" sz="160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graphicFrame>
        <p:nvGraphicFramePr>
          <p:cNvPr id="9" name="Chart 0"/>
          <p:cNvGraphicFramePr/>
          <p:nvPr>
            <p:extLst>
              <p:ext uri="{D42A27DB-BD31-4B8C-83A1-F6EECF244321}">
                <p14:modId xmlns:p14="http://schemas.microsoft.com/office/powerpoint/2010/main" val="510726072"/>
              </p:ext>
            </p:extLst>
          </p:nvPr>
        </p:nvGraphicFramePr>
        <p:xfrm>
          <a:off x="749808" y="192024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6924710" y="1621662"/>
            <a:ext cx="3566160" cy="432054"/>
          </a:xfrm>
          <a:prstGeom prst="rect">
            <a:avLst/>
          </a:prstGeom>
          <a:noFill/>
          <a:ln/>
        </p:spPr>
        <p:txBody>
          <a:bodyPr wrap="square" lIns="127" tIns="127" rIns="127" bIns="127" rtlCol="0" anchor="t">
            <a:noAutofit/>
          </a:bodyPr>
          <a:lstStyle/>
          <a:p>
            <a:pPr marL="0" indent="0" algn="l">
              <a:buNone/>
            </a:pPr>
            <a:r>
              <a:rPr lang="en-US" sz="5400" b="1" dirty="0">
                <a:solidFill>
                  <a:srgbClr val="F28C28"/>
                </a:solidFill>
                <a:latin typeface="Aptos Display" pitchFamily="34" charset="0"/>
                <a:ea typeface="Aptos Display" pitchFamily="34" charset="-122"/>
                <a:cs typeface="Aptos Display" pitchFamily="34" charset="-120"/>
              </a:rPr>
              <a:t>11.4%</a:t>
            </a:r>
            <a:endParaRPr lang="en-US" sz="5400" dirty="0"/>
          </a:p>
        </p:txBody>
      </p:sp>
      <p:sp>
        <p:nvSpPr>
          <p:cNvPr id="11" name="Text 8"/>
          <p:cNvSpPr/>
          <p:nvPr/>
        </p:nvSpPr>
        <p:spPr>
          <a:xfrm>
            <a:off x="6995160" y="2389327"/>
            <a:ext cx="3566160" cy="296266"/>
          </a:xfrm>
          <a:prstGeom prst="rect">
            <a:avLst/>
          </a:prstGeom>
          <a:noFill/>
          <a:ln/>
        </p:spPr>
        <p:txBody>
          <a:bodyPr wrap="square" lIns="127" tIns="127" rIns="127" bIns="127" rtlCol="0" anchor="t">
            <a:noAutofit/>
          </a:bodyPr>
          <a:lstStyle/>
          <a:p>
            <a:pPr marL="0" indent="0" algn="l">
              <a:buNone/>
            </a:pPr>
            <a:r>
              <a:rPr lang="en-US" sz="2400" b="1" dirty="0">
                <a:solidFill>
                  <a:srgbClr val="0B1F3A"/>
                </a:solidFill>
                <a:latin typeface="Aptos" pitchFamily="34" charset="0"/>
                <a:ea typeface="Aptos" pitchFamily="34" charset="-122"/>
                <a:cs typeface="Aptos" pitchFamily="34" charset="-120"/>
              </a:rPr>
              <a:t>Baseline growth rate</a:t>
            </a:r>
            <a:endParaRPr lang="en-US" sz="2400" dirty="0"/>
          </a:p>
        </p:txBody>
      </p:sp>
      <p:sp>
        <p:nvSpPr>
          <p:cNvPr id="12" name="Text 9"/>
          <p:cNvSpPr/>
          <p:nvPr/>
        </p:nvSpPr>
        <p:spPr>
          <a:xfrm>
            <a:off x="6995160" y="2734970"/>
            <a:ext cx="3566160" cy="370332"/>
          </a:xfrm>
          <a:prstGeom prst="rect">
            <a:avLst/>
          </a:prstGeom>
          <a:noFill/>
          <a:ln/>
        </p:spPr>
        <p:txBody>
          <a:bodyPr wrap="square" lIns="127" tIns="127" rIns="127" bIns="127" rtlCol="0" anchor="t">
            <a:normAutofit/>
          </a:bodyPr>
          <a:lstStyle/>
          <a:p>
            <a:pPr marL="0" indent="0" algn="l">
              <a:buNone/>
            </a:pPr>
            <a:r>
              <a:rPr lang="en-US" sz="1600" dirty="0">
                <a:solidFill>
                  <a:srgbClr val="5B6770"/>
                </a:solidFill>
                <a:latin typeface="Aptos" pitchFamily="34" charset="0"/>
                <a:ea typeface="Aptos" pitchFamily="34" charset="-122"/>
                <a:cs typeface="Aptos" pitchFamily="34" charset="-120"/>
              </a:rPr>
              <a:t>Industry Standard Growth Rate</a:t>
            </a:r>
            <a:endParaRPr lang="en-US" sz="1600" dirty="0"/>
          </a:p>
        </p:txBody>
      </p:sp>
      <p:sp>
        <p:nvSpPr>
          <p:cNvPr id="13" name="Text 10"/>
          <p:cNvSpPr/>
          <p:nvPr/>
        </p:nvSpPr>
        <p:spPr>
          <a:xfrm>
            <a:off x="7086600" y="3520440"/>
            <a:ext cx="3474720" cy="292608"/>
          </a:xfrm>
          <a:prstGeom prst="rect">
            <a:avLst/>
          </a:prstGeom>
          <a:noFill/>
          <a:ln/>
        </p:spPr>
        <p:txBody>
          <a:bodyPr wrap="square" lIns="508" tIns="508" rIns="508" bIns="508" rtlCol="0" anchor="t">
            <a:noAutofit/>
          </a:bodyPr>
          <a:lstStyle/>
          <a:p>
            <a:pPr marL="0" indent="0" algn="l">
              <a:buNone/>
            </a:pPr>
            <a:r>
              <a:rPr lang="en-US" sz="2400" b="1" dirty="0">
                <a:solidFill>
                  <a:srgbClr val="0B1F3A"/>
                </a:solidFill>
                <a:latin typeface="Aptos" pitchFamily="34" charset="0"/>
                <a:ea typeface="Aptos" pitchFamily="34" charset="-122"/>
                <a:cs typeface="Aptos" pitchFamily="34" charset="-120"/>
              </a:rPr>
              <a:t>Why this matters</a:t>
            </a:r>
            <a:endParaRPr lang="en-US" sz="2400" dirty="0"/>
          </a:p>
        </p:txBody>
      </p:sp>
      <p:sp>
        <p:nvSpPr>
          <p:cNvPr id="14" name="Text 11"/>
          <p:cNvSpPr/>
          <p:nvPr/>
        </p:nvSpPr>
        <p:spPr>
          <a:xfrm>
            <a:off x="7086600" y="3886200"/>
            <a:ext cx="3429000" cy="896112"/>
          </a:xfrm>
          <a:prstGeom prst="rect">
            <a:avLst/>
          </a:prstGeom>
          <a:noFill/>
          <a:ln/>
        </p:spPr>
        <p:txBody>
          <a:bodyPr wrap="square" lIns="508" tIns="508" rIns="508" bIns="508" rtlCol="0" anchor="t">
            <a:normAutofit fontScale="92500" lnSpcReduction="10000"/>
          </a:bodyPr>
          <a:lstStyle/>
          <a:p>
            <a:pPr marL="0" indent="0" algn="l">
              <a:buNone/>
            </a:pPr>
            <a:r>
              <a:rPr lang="en-US" sz="1600" dirty="0">
                <a:solidFill>
                  <a:srgbClr val="5B6770"/>
                </a:solidFill>
                <a:latin typeface="Aptos" pitchFamily="34" charset="0"/>
                <a:ea typeface="Aptos" pitchFamily="34" charset="-122"/>
                <a:cs typeface="Aptos" pitchFamily="34" charset="-120"/>
              </a:rPr>
              <a:t>Any customer or segment growing above 11.4% during COVID is treated as likely having pandemic-driven demand beyond normal business expansion.</a:t>
            </a:r>
            <a:endParaRPr lang="en-US" sz="1600" dirty="0"/>
          </a:p>
        </p:txBody>
      </p:sp>
      <p:sp>
        <p:nvSpPr>
          <p:cNvPr id="15" name="Text 12"/>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b="1" dirty="0">
                <a:solidFill>
                  <a:srgbClr val="0B1F3A"/>
                </a:solidFill>
                <a:latin typeface="Aptos" pitchFamily="34" charset="0"/>
                <a:ea typeface="Aptos" pitchFamily="34" charset="-122"/>
                <a:cs typeface="Aptos" pitchFamily="34" charset="-120"/>
              </a:rPr>
              <a:t>Key takeaway: The baseline prevents over-attributing normal business growth to COVID.</a:t>
            </a:r>
            <a:endParaRPr lang="en-US" dirty="0"/>
          </a:p>
        </p:txBody>
      </p:sp>
      <p:sp>
        <p:nvSpPr>
          <p:cNvPr id="16" name="TextBox 15"/>
          <p:cNvSpPr txBox="1"/>
          <p:nvPr/>
        </p:nvSpPr>
        <p:spPr>
          <a:xfrm>
            <a:off x="10692000" y="6358000"/>
            <a:ext cx="1400000" cy="300000"/>
          </a:xfrm>
          <a:prstGeom prst="rect">
            <a:avLst/>
          </a:prstGeom>
          <a:noFill/>
        </p:spPr>
        <p:txBody>
          <a:bodyPr wrap="none">
            <a:spAutoFit/>
          </a:bodyPr>
          <a:lstStyle/>
          <a:p>
            <a:r>
              <a:t>14 /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013800"/>
          </a:xfrm>
        </p:spPr>
        <p:txBody>
          <a:bodyPr>
            <a:normAutofit/>
          </a:bodyPr>
          <a:lstStyle/>
          <a:p>
            <a:r>
              <a:rPr lang="en-US" sz="2900" b="1" cap="none" dirty="0">
                <a:latin typeface="Aptos Display" panose="020B0004020202020204" pitchFamily="34" charset="0"/>
              </a:rPr>
              <a:t>Business answers</a:t>
            </a:r>
          </a:p>
        </p:txBody>
      </p:sp>
      <p:sp>
        <p:nvSpPr>
          <p:cNvPr id="3" name="Content Placeholder 2"/>
          <p:cNvSpPr>
            <a:spLocks noGrp="1"/>
          </p:cNvSpPr>
          <p:nvPr>
            <p:ph idx="1"/>
          </p:nvPr>
        </p:nvSpPr>
        <p:spPr>
          <a:xfrm>
            <a:off x="581191" y="2171621"/>
            <a:ext cx="11029615" cy="2350489"/>
          </a:xfrm>
        </p:spPr>
        <p:txBody>
          <a:bodyPr/>
          <a:lstStyle/>
          <a:p>
            <a:r>
              <a:rPr lang="en-US" dirty="0"/>
              <a:t>COVID impact began around Week 12 (March 2020)</a:t>
            </a:r>
          </a:p>
          <a:p>
            <a:r>
              <a:rPr lang="en-US" dirty="0"/>
              <a:t>Driven by lockdowns and e-commerce growth</a:t>
            </a:r>
          </a:p>
          <a:p>
            <a:r>
              <a:rPr lang="en-US" dirty="0"/>
              <a:t>Peak season increased by 26.5%</a:t>
            </a:r>
          </a:p>
          <a:p>
            <a:r>
              <a:rPr lang="en-US" dirty="0"/>
              <a:t>Majority of customers experienced high growth</a:t>
            </a:r>
          </a:p>
          <a:p>
            <a:r>
              <a:rPr lang="en-US" dirty="0"/>
              <a:t>Revenue increased due to higher parcel volume</a:t>
            </a:r>
          </a:p>
        </p:txBody>
      </p:sp>
      <p:sp>
        <p:nvSpPr>
          <p:cNvPr id="4" name="TextBox 3"/>
          <p:cNvSpPr txBox="1"/>
          <p:nvPr/>
        </p:nvSpPr>
        <p:spPr>
          <a:xfrm>
            <a:off x="10692000" y="6358000"/>
            <a:ext cx="1400000" cy="300000"/>
          </a:xfrm>
          <a:prstGeom prst="rect">
            <a:avLst/>
          </a:prstGeom>
          <a:noFill/>
        </p:spPr>
        <p:txBody>
          <a:bodyPr wrap="none">
            <a:spAutoFit/>
          </a:bodyPr>
          <a:lstStyle/>
          <a:p>
            <a:r>
              <a:t>15 / 16</a:t>
            </a:r>
          </a:p>
        </p:txBody>
      </p:sp>
      <p:sp>
        <p:nvSpPr>
          <p:cNvPr id="5" name="Text 5">
            <a:extLst>
              <a:ext uri="{FF2B5EF4-FFF2-40B4-BE49-F238E27FC236}">
                <a16:creationId xmlns:a16="http://schemas.microsoft.com/office/drawing/2014/main" id="{2BFB4112-7C05-D26D-7FF0-7B828BDCEC6B}"/>
              </a:ext>
            </a:extLst>
          </p:cNvPr>
          <p:cNvSpPr/>
          <p:nvPr/>
        </p:nvSpPr>
        <p:spPr>
          <a:xfrm>
            <a:off x="502920" y="6510528"/>
            <a:ext cx="5303520" cy="201168"/>
          </a:xfrm>
          <a:prstGeom prst="rect">
            <a:avLst/>
          </a:prstGeom>
          <a:noFill/>
          <a:ln/>
        </p:spPr>
        <p:txBody>
          <a:bodyPr wrap="square" lIns="508" tIns="508" rIns="508" bIns="508" rtlCol="0" anchor="t">
            <a:normAutofit/>
          </a:bodyPr>
          <a:lstStyle/>
          <a:p>
            <a:r>
              <a:rPr lang="en-US" sz="850" dirty="0">
                <a:solidFill>
                  <a:srgbClr val="6B7280"/>
                </a:solidFill>
                <a:latin typeface="Aptos" pitchFamily="34" charset="0"/>
              </a:rPr>
              <a:t>Impact of COVID-19 on ABC Company Parcel Business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9331"/>
            <a:ext cx="12191695" cy="6858000"/>
          </a:xfrm>
          <a:prstGeom prst="rect">
            <a:avLst/>
          </a:prstGeom>
          <a:solidFill>
            <a:srgbClr val="F6F8FB"/>
          </a:solidFill>
          <a:ln w="12700">
            <a:solidFill>
              <a:srgbClr val="FFFFFF">
                <a:alpha val="0"/>
              </a:srgbClr>
            </a:solidFill>
            <a:prstDash val="solid"/>
          </a:ln>
        </p:spPr>
        <p:txBody>
          <a:bodyPr/>
          <a:lstStyle/>
          <a:p>
            <a:endParaRPr lang="en-US"/>
          </a:p>
        </p:txBody>
      </p:sp>
      <p:sp>
        <p:nvSpPr>
          <p:cNvPr id="3" name="Shape 1"/>
          <p:cNvSpPr/>
          <p:nvPr/>
        </p:nvSpPr>
        <p:spPr>
          <a:xfrm>
            <a:off x="0" y="0"/>
            <a:ext cx="12191695" cy="137160"/>
          </a:xfrm>
          <a:prstGeom prst="rect">
            <a:avLst/>
          </a:prstGeom>
          <a:solidFill>
            <a:srgbClr val="0B1F3A"/>
          </a:solidFill>
          <a:ln w="12700">
            <a:solidFill>
              <a:srgbClr val="FFFFFF">
                <a:alpha val="0"/>
              </a:srgbClr>
            </a:solidFill>
            <a:prstDash val="solid"/>
          </a:ln>
        </p:spPr>
        <p:txBody>
          <a:bodyPr/>
          <a:lstStyle/>
          <a:p>
            <a:endParaRPr lang="en-US"/>
          </a:p>
        </p:txBody>
      </p:sp>
      <p:sp>
        <p:nvSpPr>
          <p:cNvPr id="5" name="Text 3"/>
          <p:cNvSpPr/>
          <p:nvPr/>
        </p:nvSpPr>
        <p:spPr>
          <a:xfrm>
            <a:off x="502920" y="786384"/>
            <a:ext cx="8778240" cy="438912"/>
          </a:xfrm>
          <a:prstGeom prst="rect">
            <a:avLst/>
          </a:prstGeom>
          <a:noFill/>
          <a:ln/>
        </p:spPr>
        <p:txBody>
          <a:bodyPr wrap="square" lIns="508" tIns="508" rIns="508" bIns="508" rtlCol="0" anchor="t">
            <a:normAutofit lnSpcReduction="10000"/>
          </a:bodyPr>
          <a:lstStyle/>
          <a:p>
            <a:pPr marL="0" indent="0" algn="l">
              <a:buNone/>
            </a:pPr>
            <a:r>
              <a:rPr lang="en-US" sz="2900" b="1" dirty="0">
                <a:solidFill>
                  <a:srgbClr val="0B1F3A"/>
                </a:solidFill>
                <a:latin typeface="Aptos Display" pitchFamily="34" charset="0"/>
                <a:ea typeface="Aptos Display" pitchFamily="34" charset="-122"/>
                <a:cs typeface="Aptos Display" pitchFamily="34" charset="-120"/>
              </a:rPr>
              <a:t>Conclusion: COVID created a structural demand shock</a:t>
            </a:r>
            <a:endParaRPr lang="en-US" sz="2900" dirty="0"/>
          </a:p>
        </p:txBody>
      </p:sp>
      <p:sp>
        <p:nvSpPr>
          <p:cNvPr id="6" name="Text 4"/>
          <p:cNvSpPr/>
          <p:nvPr/>
        </p:nvSpPr>
        <p:spPr>
          <a:xfrm>
            <a:off x="521208" y="1150274"/>
            <a:ext cx="8138160" cy="320040"/>
          </a:xfrm>
          <a:prstGeom prst="rect">
            <a:avLst/>
          </a:prstGeom>
          <a:noFill/>
          <a:ln/>
        </p:spPr>
        <p:txBody>
          <a:bodyPr wrap="square" lIns="508" tIns="508" rIns="508" bIns="508" rtlCol="0" anchor="t">
            <a:normAutofit fontScale="92500"/>
          </a:bodyPr>
          <a:lstStyle/>
          <a:p>
            <a:pPr marL="0" indent="0" algn="l">
              <a:buNone/>
            </a:pPr>
            <a:r>
              <a:rPr lang="en-US" sz="1600" dirty="0">
                <a:solidFill>
                  <a:srgbClr val="5B6770"/>
                </a:solidFill>
                <a:latin typeface="Aptos" pitchFamily="34" charset="0"/>
                <a:ea typeface="Aptos" pitchFamily="34" charset="-122"/>
                <a:cs typeface="Aptos" pitchFamily="34" charset="-120"/>
              </a:rPr>
              <a:t>The evidence is consistent across annual volume, weekly onset, peak season, and customer status.</a:t>
            </a:r>
            <a:endParaRPr lang="en-US" sz="1600" dirty="0"/>
          </a:p>
        </p:txBody>
      </p:sp>
      <p:sp>
        <p:nvSpPr>
          <p:cNvPr id="7" name="Text 5"/>
          <p:cNvSpPr/>
          <p:nvPr/>
        </p:nvSpPr>
        <p:spPr>
          <a:xfrm>
            <a:off x="502920" y="6510528"/>
            <a:ext cx="5303520" cy="201168"/>
          </a:xfrm>
          <a:prstGeom prst="rect">
            <a:avLst/>
          </a:prstGeom>
          <a:noFill/>
          <a:ln/>
        </p:spPr>
        <p:txBody>
          <a:bodyPr wrap="square" lIns="508" tIns="508" rIns="508" bIns="508" rtlCol="0" anchor="t">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Impact of COVID-19 on ABC Company Parcel Business</a:t>
            </a:r>
            <a:endParaRPr lang="en-US" sz="850" dirty="0"/>
          </a:p>
        </p:txBody>
      </p:sp>
      <p:sp>
        <p:nvSpPr>
          <p:cNvPr id="8" name="Text 6"/>
          <p:cNvSpPr/>
          <p:nvPr/>
        </p:nvSpPr>
        <p:spPr>
          <a:xfrm>
            <a:off x="11384280" y="6510528"/>
            <a:ext cx="320040" cy="201168"/>
          </a:xfrm>
          <a:prstGeom prst="rect">
            <a:avLst/>
          </a:prstGeom>
          <a:noFill/>
          <a:ln/>
        </p:spPr>
        <p:txBody>
          <a:bodyPr wrap="square" lIns="508" tIns="508" rIns="508" bIns="508" rtlCol="0" anchor="t">
            <a:normAutofit/>
          </a:bodyPr>
          <a:lstStyle/>
          <a:p>
            <a:pPr marL="0" indent="0" algn="r">
              <a:buNone/>
            </a:pPr>
            <a:endParaRPr lang="en-US" sz="850" dirty="0"/>
          </a:p>
        </p:txBody>
      </p:sp>
      <p:sp>
        <p:nvSpPr>
          <p:cNvPr id="9" name="Text 7"/>
          <p:cNvSpPr/>
          <p:nvPr/>
        </p:nvSpPr>
        <p:spPr>
          <a:xfrm>
            <a:off x="822960" y="1737360"/>
            <a:ext cx="2926080" cy="274320"/>
          </a:xfrm>
          <a:prstGeom prst="rect">
            <a:avLst/>
          </a:prstGeom>
          <a:noFill/>
          <a:ln/>
        </p:spPr>
        <p:txBody>
          <a:bodyPr wrap="square" lIns="508" tIns="508" rIns="508" bIns="508" rtlCol="0" anchor="t">
            <a:noAutofit/>
          </a:bodyPr>
          <a:lstStyle/>
          <a:p>
            <a:pPr marL="0" indent="0" algn="l">
              <a:buNone/>
            </a:pPr>
            <a:r>
              <a:rPr lang="en-US" sz="2800" b="1" dirty="0">
                <a:solidFill>
                  <a:srgbClr val="0B1F3A"/>
                </a:solidFill>
                <a:latin typeface="Aptos" pitchFamily="34" charset="0"/>
                <a:ea typeface="Aptos" pitchFamily="34" charset="-122"/>
                <a:cs typeface="Aptos" pitchFamily="34" charset="-120"/>
              </a:rPr>
              <a:t>Main findings:</a:t>
            </a:r>
            <a:endParaRPr lang="en-US" sz="2800" dirty="0"/>
          </a:p>
        </p:txBody>
      </p:sp>
      <p:sp>
        <p:nvSpPr>
          <p:cNvPr id="10" name="Text 8"/>
          <p:cNvSpPr/>
          <p:nvPr/>
        </p:nvSpPr>
        <p:spPr>
          <a:xfrm>
            <a:off x="868680" y="2189074"/>
            <a:ext cx="2423160" cy="358445"/>
          </a:xfrm>
          <a:prstGeom prst="rect">
            <a:avLst/>
          </a:prstGeom>
          <a:noFill/>
          <a:ln/>
        </p:spPr>
        <p:txBody>
          <a:bodyPr wrap="square" lIns="127" tIns="127" rIns="127" bIns="127" rtlCol="0" anchor="t">
            <a:noAutofit/>
          </a:bodyPr>
          <a:lstStyle/>
          <a:p>
            <a:pPr marL="0" indent="0" algn="l">
              <a:buNone/>
            </a:pPr>
            <a:r>
              <a:rPr lang="en-US" sz="3200" b="1" dirty="0">
                <a:solidFill>
                  <a:srgbClr val="F28C28"/>
                </a:solidFill>
                <a:latin typeface="Aptos Display" pitchFamily="34" charset="0"/>
                <a:ea typeface="Aptos Display" pitchFamily="34" charset="-122"/>
                <a:cs typeface="Aptos Display" pitchFamily="34" charset="-120"/>
              </a:rPr>
              <a:t>+39.1%</a:t>
            </a:r>
            <a:endParaRPr lang="en-US" sz="3200" dirty="0"/>
          </a:p>
        </p:txBody>
      </p:sp>
      <p:sp>
        <p:nvSpPr>
          <p:cNvPr id="11" name="Text 9"/>
          <p:cNvSpPr/>
          <p:nvPr/>
        </p:nvSpPr>
        <p:spPr>
          <a:xfrm>
            <a:off x="868680" y="2629449"/>
            <a:ext cx="2423160" cy="245791"/>
          </a:xfrm>
          <a:prstGeom prst="rect">
            <a:avLst/>
          </a:prstGeom>
          <a:noFill/>
          <a:ln/>
        </p:spPr>
        <p:txBody>
          <a:bodyPr wrap="square" lIns="127" tIns="127" rIns="127" bIns="127" rtlCol="0" anchor="t">
            <a:normAutofit/>
          </a:bodyPr>
          <a:lstStyle/>
          <a:p>
            <a:pPr marL="0" indent="0" algn="l">
              <a:buNone/>
            </a:pPr>
            <a:r>
              <a:rPr lang="en-US" sz="1400" b="1" dirty="0">
                <a:solidFill>
                  <a:srgbClr val="0B1F3A"/>
                </a:solidFill>
                <a:latin typeface="Aptos" pitchFamily="34" charset="0"/>
                <a:ea typeface="Aptos" pitchFamily="34" charset="-122"/>
                <a:cs typeface="Aptos" pitchFamily="34" charset="-120"/>
              </a:rPr>
              <a:t>2020 volume growth vs 2019</a:t>
            </a:r>
            <a:endParaRPr lang="en-US" sz="1400" dirty="0"/>
          </a:p>
        </p:txBody>
      </p:sp>
      <p:sp>
        <p:nvSpPr>
          <p:cNvPr id="12" name="Text 10"/>
          <p:cNvSpPr/>
          <p:nvPr/>
        </p:nvSpPr>
        <p:spPr>
          <a:xfrm>
            <a:off x="3900383" y="2201313"/>
            <a:ext cx="2423160" cy="358445"/>
          </a:xfrm>
          <a:prstGeom prst="rect">
            <a:avLst/>
          </a:prstGeom>
          <a:noFill/>
          <a:ln/>
        </p:spPr>
        <p:txBody>
          <a:bodyPr wrap="square" lIns="127" tIns="127" rIns="127" bIns="127" rtlCol="0" anchor="t">
            <a:noAutofit/>
          </a:bodyPr>
          <a:lstStyle/>
          <a:p>
            <a:pPr marL="0" indent="0" algn="l">
              <a:buNone/>
            </a:pPr>
            <a:r>
              <a:rPr lang="en-US" sz="3200" b="1" dirty="0">
                <a:solidFill>
                  <a:srgbClr val="00A6A6"/>
                </a:solidFill>
                <a:latin typeface="Aptos Display" pitchFamily="34" charset="0"/>
                <a:ea typeface="Aptos Display" pitchFamily="34" charset="-122"/>
                <a:cs typeface="Aptos Display" pitchFamily="34" charset="-120"/>
              </a:rPr>
              <a:t>Week 12</a:t>
            </a:r>
            <a:endParaRPr lang="en-US" sz="3200" dirty="0"/>
          </a:p>
        </p:txBody>
      </p:sp>
      <p:sp>
        <p:nvSpPr>
          <p:cNvPr id="13" name="Text 11"/>
          <p:cNvSpPr/>
          <p:nvPr/>
        </p:nvSpPr>
        <p:spPr>
          <a:xfrm>
            <a:off x="3955247" y="2629450"/>
            <a:ext cx="3005390" cy="166352"/>
          </a:xfrm>
          <a:prstGeom prst="rect">
            <a:avLst/>
          </a:prstGeom>
          <a:noFill/>
          <a:ln/>
        </p:spPr>
        <p:txBody>
          <a:bodyPr wrap="square" lIns="127" tIns="127" rIns="127" bIns="127" rtlCol="0" anchor="t">
            <a:noAutofit/>
          </a:bodyPr>
          <a:lstStyle/>
          <a:p>
            <a:pPr marL="0" indent="0" algn="l">
              <a:buNone/>
            </a:pPr>
            <a:r>
              <a:rPr lang="en-US" sz="1400" b="1" dirty="0">
                <a:solidFill>
                  <a:srgbClr val="0B1F3A"/>
                </a:solidFill>
                <a:latin typeface="Aptos" pitchFamily="34" charset="0"/>
                <a:ea typeface="Aptos" pitchFamily="34" charset="-122"/>
                <a:cs typeface="Aptos" pitchFamily="34" charset="-120"/>
              </a:rPr>
              <a:t>Timing of sustained divergence</a:t>
            </a:r>
            <a:endParaRPr lang="en-US" sz="1400" dirty="0"/>
          </a:p>
        </p:txBody>
      </p:sp>
      <p:sp>
        <p:nvSpPr>
          <p:cNvPr id="14" name="Text 12"/>
          <p:cNvSpPr/>
          <p:nvPr/>
        </p:nvSpPr>
        <p:spPr>
          <a:xfrm>
            <a:off x="868680" y="3583887"/>
            <a:ext cx="2423160" cy="358445"/>
          </a:xfrm>
          <a:prstGeom prst="rect">
            <a:avLst/>
          </a:prstGeom>
          <a:noFill/>
          <a:ln/>
        </p:spPr>
        <p:txBody>
          <a:bodyPr wrap="square" lIns="127" tIns="127" rIns="127" bIns="127" rtlCol="0" anchor="t">
            <a:noAutofit/>
          </a:bodyPr>
          <a:lstStyle/>
          <a:p>
            <a:pPr marL="0" indent="0" algn="l">
              <a:buNone/>
            </a:pPr>
            <a:r>
              <a:rPr lang="en-US" sz="3200" b="1" dirty="0">
                <a:solidFill>
                  <a:srgbClr val="145DA0"/>
                </a:solidFill>
                <a:latin typeface="Aptos Display" pitchFamily="34" charset="0"/>
                <a:ea typeface="Aptos Display" pitchFamily="34" charset="-122"/>
                <a:cs typeface="Aptos Display" pitchFamily="34" charset="-120"/>
              </a:rPr>
              <a:t>+26.5%</a:t>
            </a:r>
            <a:endParaRPr lang="en-US" sz="3200" dirty="0"/>
          </a:p>
        </p:txBody>
      </p:sp>
      <p:sp>
        <p:nvSpPr>
          <p:cNvPr id="15" name="Text 13"/>
          <p:cNvSpPr/>
          <p:nvPr/>
        </p:nvSpPr>
        <p:spPr>
          <a:xfrm>
            <a:off x="840687" y="4001049"/>
            <a:ext cx="1939835" cy="358445"/>
          </a:xfrm>
          <a:prstGeom prst="rect">
            <a:avLst/>
          </a:prstGeom>
          <a:noFill/>
          <a:ln/>
        </p:spPr>
        <p:txBody>
          <a:bodyPr wrap="square" lIns="127" tIns="127" rIns="127" bIns="127" rtlCol="0" anchor="t">
            <a:noAutofit/>
          </a:bodyPr>
          <a:lstStyle/>
          <a:p>
            <a:r>
              <a:rPr lang="en-US" sz="1400" b="1" dirty="0">
                <a:solidFill>
                  <a:srgbClr val="0B1F3A"/>
                </a:solidFill>
                <a:latin typeface="Aptos" pitchFamily="34" charset="0"/>
                <a:ea typeface="Aptos" pitchFamily="34" charset="-122"/>
                <a:cs typeface="Aptos" pitchFamily="34" charset="-120"/>
              </a:rPr>
              <a:t> week 45 Peak  season growth in 2020</a:t>
            </a:r>
            <a:endParaRPr lang="en-US" sz="1400" dirty="0"/>
          </a:p>
        </p:txBody>
      </p:sp>
      <p:sp>
        <p:nvSpPr>
          <p:cNvPr id="16" name="Text 14"/>
          <p:cNvSpPr/>
          <p:nvPr/>
        </p:nvSpPr>
        <p:spPr>
          <a:xfrm>
            <a:off x="3955247" y="3611880"/>
            <a:ext cx="2423160" cy="358445"/>
          </a:xfrm>
          <a:prstGeom prst="rect">
            <a:avLst/>
          </a:prstGeom>
          <a:noFill/>
          <a:ln/>
        </p:spPr>
        <p:txBody>
          <a:bodyPr wrap="square" lIns="127" tIns="127" rIns="127" bIns="127" rtlCol="0" anchor="t">
            <a:normAutofit fontScale="92500" lnSpcReduction="10000"/>
          </a:bodyPr>
          <a:lstStyle/>
          <a:p>
            <a:pPr marL="0" indent="0" algn="l">
              <a:buNone/>
            </a:pPr>
            <a:r>
              <a:rPr lang="en-US" sz="2800" b="1" dirty="0">
                <a:solidFill>
                  <a:srgbClr val="1F4E79"/>
                </a:solidFill>
                <a:latin typeface="Aptos Display" pitchFamily="34" charset="0"/>
                <a:ea typeface="Aptos Display" pitchFamily="34" charset="-122"/>
                <a:cs typeface="Aptos Display" pitchFamily="34" charset="-120"/>
              </a:rPr>
              <a:t>High Growth</a:t>
            </a:r>
            <a:endParaRPr lang="en-US" sz="2800" dirty="0"/>
          </a:p>
        </p:txBody>
      </p:sp>
      <p:sp>
        <p:nvSpPr>
          <p:cNvPr id="17" name="Text 15"/>
          <p:cNvSpPr/>
          <p:nvPr/>
        </p:nvSpPr>
        <p:spPr>
          <a:xfrm>
            <a:off x="3955247" y="4001049"/>
            <a:ext cx="2423160" cy="245791"/>
          </a:xfrm>
          <a:prstGeom prst="rect">
            <a:avLst/>
          </a:prstGeom>
          <a:noFill/>
          <a:ln/>
        </p:spPr>
        <p:txBody>
          <a:bodyPr wrap="square" lIns="127" tIns="127" rIns="127" bIns="127" rtlCol="0" anchor="t">
            <a:noAutofit/>
          </a:bodyPr>
          <a:lstStyle/>
          <a:p>
            <a:pPr marL="0" indent="0" algn="l">
              <a:buNone/>
            </a:pPr>
            <a:r>
              <a:rPr lang="en-US" sz="1400" b="1" dirty="0">
                <a:solidFill>
                  <a:srgbClr val="0B1F3A"/>
                </a:solidFill>
                <a:latin typeface="Aptos" pitchFamily="34" charset="0"/>
                <a:ea typeface="Aptos" pitchFamily="34" charset="-122"/>
                <a:cs typeface="Aptos" pitchFamily="34" charset="-120"/>
              </a:rPr>
              <a:t>Dominant status across customer segments</a:t>
            </a:r>
            <a:endParaRPr lang="en-US" sz="1400" dirty="0"/>
          </a:p>
        </p:txBody>
      </p:sp>
      <p:sp>
        <p:nvSpPr>
          <p:cNvPr id="18" name="Text 16"/>
          <p:cNvSpPr/>
          <p:nvPr/>
        </p:nvSpPr>
        <p:spPr>
          <a:xfrm>
            <a:off x="7366520" y="2118049"/>
            <a:ext cx="3383280" cy="320040"/>
          </a:xfrm>
          <a:prstGeom prst="rect">
            <a:avLst/>
          </a:prstGeom>
          <a:noFill/>
          <a:ln/>
        </p:spPr>
        <p:txBody>
          <a:bodyPr wrap="square" lIns="508" tIns="508" rIns="508" bIns="508" rtlCol="0" anchor="t">
            <a:normAutofit fontScale="92500" lnSpcReduction="10000"/>
          </a:bodyPr>
          <a:lstStyle/>
          <a:p>
            <a:pPr marL="0" indent="0" algn="l">
              <a:buNone/>
            </a:pPr>
            <a:r>
              <a:rPr lang="en-US" sz="2400" b="1" dirty="0">
                <a:solidFill>
                  <a:srgbClr val="0B1F3A"/>
                </a:solidFill>
                <a:latin typeface="Aptos" pitchFamily="34" charset="0"/>
                <a:ea typeface="Aptos" pitchFamily="34" charset="-122"/>
                <a:cs typeface="Aptos" pitchFamily="34" charset="-120"/>
              </a:rPr>
              <a:t>Bottom line</a:t>
            </a:r>
            <a:endParaRPr lang="en-US" sz="2400" dirty="0"/>
          </a:p>
        </p:txBody>
      </p:sp>
      <p:sp>
        <p:nvSpPr>
          <p:cNvPr id="19" name="Text 17"/>
          <p:cNvSpPr/>
          <p:nvPr/>
        </p:nvSpPr>
        <p:spPr>
          <a:xfrm>
            <a:off x="7366520" y="2620969"/>
            <a:ext cx="3886200" cy="1325880"/>
          </a:xfrm>
          <a:prstGeom prst="rect">
            <a:avLst/>
          </a:prstGeom>
          <a:noFill/>
          <a:ln/>
        </p:spPr>
        <p:txBody>
          <a:bodyPr wrap="square" lIns="508" tIns="508" rIns="508" bIns="508" rtlCol="0" anchor="t">
            <a:normAutofit lnSpcReduction="10000"/>
          </a:bodyPr>
          <a:lstStyle/>
          <a:p>
            <a:pPr marL="0" indent="0" algn="l">
              <a:buNone/>
            </a:pPr>
            <a:r>
              <a:rPr lang="en-US" sz="1600" dirty="0">
                <a:solidFill>
                  <a:srgbClr val="5B6770"/>
                </a:solidFill>
                <a:latin typeface="Aptos" pitchFamily="34" charset="0"/>
                <a:ea typeface="Aptos" pitchFamily="34" charset="-122"/>
                <a:cs typeface="Aptos" pitchFamily="34" charset="-120"/>
              </a:rPr>
              <a:t>ABC Company should treat the 2020 surge as more than a temporary spike: it reveals customer behavior changes, capacity stress points, and account-level growth opportunities that can guide future planning.</a:t>
            </a:r>
            <a:endParaRPr lang="en-US" sz="1600" dirty="0"/>
          </a:p>
        </p:txBody>
      </p:sp>
      <p:sp>
        <p:nvSpPr>
          <p:cNvPr id="20" name="Text 18"/>
          <p:cNvSpPr/>
          <p:nvPr/>
        </p:nvSpPr>
        <p:spPr>
          <a:xfrm>
            <a:off x="3996302" y="5030961"/>
            <a:ext cx="3657600" cy="411480"/>
          </a:xfrm>
          <a:prstGeom prst="rect">
            <a:avLst/>
          </a:prstGeom>
          <a:noFill/>
          <a:ln/>
        </p:spPr>
        <p:txBody>
          <a:bodyPr wrap="square" lIns="508" tIns="508" rIns="508" bIns="508" rtlCol="0" anchor="t">
            <a:normAutofit fontScale="92500" lnSpcReduction="20000"/>
          </a:bodyPr>
          <a:lstStyle/>
          <a:p>
            <a:pPr marL="0" indent="0" algn="l">
              <a:buNone/>
            </a:pPr>
            <a:r>
              <a:rPr lang="en-US" sz="3200" b="1" dirty="0">
                <a:solidFill>
                  <a:srgbClr val="00A6A6"/>
                </a:solidFill>
                <a:latin typeface="Aptos Display" pitchFamily="34" charset="0"/>
                <a:ea typeface="Aptos Display" pitchFamily="34" charset="-122"/>
                <a:cs typeface="Aptos Display" pitchFamily="34" charset="-120"/>
              </a:rPr>
              <a:t>Thank you</a:t>
            </a:r>
            <a:endParaRPr lang="en-US" sz="3200" dirty="0"/>
          </a:p>
        </p:txBody>
      </p:sp>
      <p:sp>
        <p:nvSpPr>
          <p:cNvPr id="21" name="Text 19"/>
          <p:cNvSpPr/>
          <p:nvPr/>
        </p:nvSpPr>
        <p:spPr>
          <a:xfrm>
            <a:off x="676656" y="5879592"/>
            <a:ext cx="10789920" cy="402336"/>
          </a:xfrm>
          <a:prstGeom prst="roundRect">
            <a:avLst/>
          </a:prstGeom>
          <a:solidFill>
            <a:srgbClr val="EAF4FF"/>
          </a:solidFill>
          <a:ln>
            <a:solidFill>
              <a:srgbClr val="C9DDF4"/>
            </a:solidFill>
          </a:ln>
        </p:spPr>
        <p:txBody>
          <a:bodyPr wrap="square" lIns="1016" tIns="1016" rIns="1016" bIns="1016" rtlCol="0" anchor="ctr">
            <a:normAutofit/>
          </a:bodyPr>
          <a:lstStyle/>
          <a:p>
            <a:pPr marL="0" indent="0">
              <a:buNone/>
            </a:pPr>
            <a:r>
              <a:rPr lang="en-US" b="1" dirty="0">
                <a:solidFill>
                  <a:srgbClr val="0B1F3A"/>
                </a:solidFill>
                <a:latin typeface="Aptos" pitchFamily="34" charset="0"/>
                <a:ea typeface="Aptos" pitchFamily="34" charset="-122"/>
                <a:cs typeface="Aptos" pitchFamily="34" charset="-120"/>
              </a:rPr>
              <a:t>Key takeaway: Strong volume growth is the headline; customer segmentation is the path to action.</a:t>
            </a:r>
            <a:endParaRPr lang="en-US" dirty="0"/>
          </a:p>
        </p:txBody>
      </p:sp>
      <p:sp>
        <p:nvSpPr>
          <p:cNvPr id="22" name="TextBox 21"/>
          <p:cNvSpPr txBox="1"/>
          <p:nvPr/>
        </p:nvSpPr>
        <p:spPr>
          <a:xfrm>
            <a:off x="10692000" y="6358000"/>
            <a:ext cx="1400000" cy="300000"/>
          </a:xfrm>
          <a:prstGeom prst="rect">
            <a:avLst/>
          </a:prstGeom>
          <a:noFill/>
        </p:spPr>
        <p:txBody>
          <a:bodyPr wrap="none">
            <a:spAutoFit/>
          </a:bodyPr>
          <a:lstStyle/>
          <a:p>
            <a:r>
              <a:t>16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35175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965</TotalTime>
  <Words>1614</Words>
  <Application>Microsoft Office PowerPoint</Application>
  <PresentationFormat>Widescreen</PresentationFormat>
  <Paragraphs>245</Paragraphs>
  <Slides>17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Gill Sans MT</vt:lpstr>
      <vt:lpstr>Wingdings 2</vt:lpstr>
      <vt:lpstr>Dividend</vt:lpstr>
      <vt:lpstr>PowerPoint Presentation</vt:lpstr>
      <vt:lpstr>PowerPoint Presentation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Percentage of new and lost customers</vt:lpstr>
      <vt:lpstr>Impact of COVID on volume by customer group</vt:lpstr>
      <vt:lpstr>Overall impact of COVID on revenue by customer group</vt:lpstr>
      <vt:lpstr>PowerPoint Presentation</vt:lpstr>
      <vt:lpstr>Business answers</vt:lpstr>
      <vt:lpstr>PowerPoint Presentation</vt:lpstr>
      <vt:lpstr>PowerPoint Presentation</vt:lpstr>
    </vt:vector>
  </TitlesOfParts>
  <Company>ABC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COVID-19 on ABC Company Parcel Business</dc:title>
  <dc:subject>Impact of COVID-19 on ABC Company Parcel Business</dc:subject>
  <dc:creator>OpenAI</dc:creator>
  <cp:lastModifiedBy>Essien, Samuel</cp:lastModifiedBy>
  <cp:revision>34</cp:revision>
  <dcterms:created xsi:type="dcterms:W3CDTF">2026-04-24T01:54:44Z</dcterms:created>
  <dcterms:modified xsi:type="dcterms:W3CDTF">2026-04-25T06:53:10Z</dcterms:modified>
</cp:coreProperties>
</file>